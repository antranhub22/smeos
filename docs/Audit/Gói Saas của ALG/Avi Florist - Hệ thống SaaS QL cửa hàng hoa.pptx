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Be Vietnam Pro" pitchFamily="34"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nền tảng SaaS cho cửa hàng hoa, đồng thời là đầu nhận đơn từ hệ thống điện hoa của Avi. Nội dung gồm vấn đề, giải pháp, kiến trúc, kế hoạch giai đoạn 1 và phương án hợp tác.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nỗi đau: shop quản lý rời rạc; đơn điện hoa không chuẩn hóa nên khó giữ chất lượng dịch vụ; định giá theo cảm tính. Phía Avi thiếu một kênh chuẩn để điều phối mạng lưới.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trụ cột. Nhận đơn Avi là điểm khác biệt mà phần mềm bán lẻ chung không có. Shop đơn lẻ và chuỗi dùng cùng một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tính năng chính. AI định giá và chia đơn có SLA khó sao chép nhất. Thẻ sản phẩm, đặt hoa theo yêu cầu và thanh toán giúp shop dùng hệ thống mỗi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Lõi khác biệt. Mỗi mốc có SLA và cảnh báo qua app, Telegram, email. Hoa hồng do hệ thống Avi tính và trả về theo đơn; nền tảng ghi nhận vào ví của tổ chức.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shop chọn một hoặc nhiều cách thanh toán. Tiền đi thẳng vào tài khoản của shop qua SePay; Avi không giữ tiền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lại AI định giá: khách tự gửi yêu cầu, shop chỉ cần kiểm tra và gửi báo giá. Mô tả của khách luôn được ưu tiên hơn kết quả AI đếm từ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Doanh thu chính là thuê bao tính theo chi nhánh, bắt đầu sau thí điểm. Các nguồn còn lại gắn với giao dịch. Giá trị dài hạn nhất là Avi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Vòng quay: thu hút shop bằng phần mềm, chuyển họ thành thành viên mạng lưới, rồi bán nguyên liệu. Ví hoa hồng khép kín vòng quay khi shop dùng tiền hoa hồng mua hàng của Avi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từ trên xuống. Các ô viền xanh là đường đi của một đơn Avi: từ hệ thống điện hoa, qua Integration Gateway, vào phân hệ chia đơn và SLA, qua inbox chống trùng, lưu vào PostgreSQL. Lớp lõi viền vàng gồm các module nghiệp vụ tách rời trên Node.js với NestJS. Dịch vụ ngoài chỉ kết nối qua Integration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số là giả định để định cỡ. Với 200 shop, ngày lễ khoảng 0,7 đơn mỗi giây; máy chủ 8 vCPU, 16 GB RAM còn dư nhiều. Telegram giới hạn khoảng 30 tin mỗi giây cho bot, nên tin nhắn đi qua hàng đợi.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Bên trái: tăng dần mức sẵn sàng theo rủi ro, chưa làm HA đầy đủ cho bản thí điểm. Bên phải: mọi sự kiện tiền và đơn được lưu nguyên bản trước khi xử lý, chống trùng, gửi lại khi lỗi, và có thể chạy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Mốc 1 sau 15 ngày là bản thí điểm, chỉ gồm các tích hợp chủ động được. Mốc 2 hoàn thiện phần còn lại. Mọi yêu cầu thuộc cột thứ ba là yêu cầu thay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lý do giai đoạn 1 cần khoảng 6 tuần và mức phí 175–200 triệu. Phương án trọn gói cao hơn 25 triệu vì bên phát triển chịu rủi ro tích hợp mà không có phí tháng bù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Shop không đổi bố cục để giữ chất lượng hiển thị; chỉ chọn bảng màu mặc định và mức bo góc. Giai đoạn 1 có một template cho mỗi phong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Mốc 1 ở ngày 15: bản thí điểm với luồng đơn Avi chạy đầu cuối. Mốc 2 ở tuần 6: đủ phạm vi giai đoạn 1, đã kiểm thử tải và diễn tập khôi phục. Lịch giả định dev làm đủ thời gian trong giai đoạn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Đội gọn: một BA Lead senior trực tiếp làm, hai dev từ middle đến senior, một tester. Sau giai đoạn 1, phương án 1 và 2 giữ 1 dev và 1 BA; phương án 3 giữ đủ 4 người.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Máy chủ Avi đã thuê nên không tính vào chi phí hợp tác. Các dịch vụ ngoài do Avi hoặc từng shop trả trực tiếp cho nhà cung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dòng tô màu là rủi ro kỹ thuật lớn nhất của giai đoạn 1, đều có biện pháp ngay trong thiết kế. Giữ Windows hay chuyển Linux sẽ chốt khi gia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mức cam kết: trọn gói ít ràng buộc nhất; đồng hành giữ sản phẩm tiếp tục phát triển với chi phí đều; đội riêng phù hợp khi Avi có lộ trình nhiều hệ thống như điện hoa và Avi Supply. Phương án 1 cao hơn 25 triệu vì bên phát triển chịu rủi ro tích hợp mà không có phí tháng bù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các nguyên tắc để hai bên làm việc lâu dài, và ba việc cần làm ngay sau buổi trao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E3F6FD"/>
        </a:solidFill>
      </p:bgPr>
    </p:bg>
    <p:spTree>
      <p:nvGrpSpPr>
        <p:cNvPr id="1" name=""/>
        <p:cNvGrpSpPr/>
        <p:nvPr/>
      </p:nvGrpSpPr>
      <p:grpSpPr>
        <a:xfrm>
          <a:off x="0" y="0"/>
          <a:ext cx="0" cy="0"/>
          <a:chOff x="0" y="0"/>
          <a:chExt cx="0" cy="0"/>
        </a:xfrm>
      </p:grpSpPr>
      <p:sp>
        <p:nvSpPr>
          <p:cNvPr id="2" name="Title Placeholder 1"/>
          <p:cNvSpPr/>
          <p:nvPr>
            <p:ph type="title"/>
          </p:nvPr>
        </p:nvSpPr>
        <p:spPr>
          <a:xfrm>
            <a:off x="762000" y="968942"/>
            <a:ext cx="10668001" cy="405351"/>
          </a:xfrm>
          <a:prstGeom prst="rect">
            <a:avLst/>
          </a:prstGeom>
          <a:noFill/>
          <a:ln/>
        </p:spPr>
        <p:txBody>
          <a:bodyPr wrap="square" lIns="0" tIns="0" rIns="0" bIns="0" rtlCol="0" anchor="t"/>
          <a:lstStyle>
            <a:lvl1pPr algn="l" indent="0" marL="0">
              <a:lnSpc>
                <a:spcPct val="115000"/>
              </a:lnSpc>
              <a:buNone/>
              <a:defRPr lang="en-US" sz="2850" dirty="0">
                <a:solidFill>
                  <a:srgbClr val="0D2636"/>
                </a:solidFill>
                <a:latin typeface="Playfair Display" pitchFamily="34" charset="0"/>
                <a:ea typeface="Playfair Display" pitchFamily="34" charset="-122"/>
                <a:cs typeface="Playfair Display" pitchFamily="34" charset="-120"/>
              </a:defRPr>
            </a:lvl1pPr>
          </a:lstStyle>
          <a:p>
            <a:pPr algn="l" indent="0" marL="0">
              <a:lnSpc>
                <a:spcPct val="115000"/>
              </a:lnSpc>
              <a:buNone/>
            </a:pPr>
            <a:endParaRPr lang="en-US" sz="2850" dirty="0"/>
          </a:p>
        </p:txBody>
      </p:sp>
      <p:sp>
        <p:nvSpPr>
          <p:cNvPr id="3" name="Text Placeholder 2"/>
          <p:cNvSpPr/>
          <p:nvPr>
            <p:ph idx="101" type="body"/>
          </p:nvPr>
        </p:nvSpPr>
        <p:spPr>
          <a:xfrm>
            <a:off x="762000" y="1679093"/>
            <a:ext cx="10617200" cy="4366107"/>
          </a:xfrm>
          <a:prstGeom prst="rect">
            <a:avLst/>
          </a:prstGeom>
          <a:noFill/>
          <a:ln/>
        </p:spPr>
        <p:txBody>
          <a:bodyPr wrap="square" lIns="0" tIns="0" rIns="0" bIns="0" rtlCol="0" anchor="t"/>
          <a:lstStyle>
            <a:lvl1pPr algn="l" indent="0" marL="0">
              <a:lnSpc>
                <a:spcPct val="140000"/>
              </a:lnSpc>
              <a:buNone/>
              <a:defRPr lang="en-US" sz="1600" dirty="0">
                <a:solidFill>
                  <a:srgbClr val="0D2636"/>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762000" y="968942"/>
            <a:ext cx="10668001" cy="405351"/>
          </a:xfrm>
          <a:prstGeom prst="rect">
            <a:avLst/>
          </a:prstGeom>
          <a:noFill/>
          <a:ln/>
        </p:spPr>
        <p:txBody>
          <a:bodyPr wrap="square" lIns="0" tIns="0" rIns="0" bIns="0" rtlCol="0" anchor="t"/>
          <a:lstStyle>
            <a:lvl1pPr algn="l" indent="0" marL="0">
              <a:lnSpc>
                <a:spcPct val="115000"/>
              </a:lnSpc>
              <a:buNone/>
              <a:defRPr lang="en-US" sz="2850" dirty="0">
                <a:solidFill>
                  <a:srgbClr val="0D2636"/>
                </a:solidFill>
                <a:latin typeface="Playfair Display" pitchFamily="34" charset="0"/>
                <a:ea typeface="Playfair Display" pitchFamily="34" charset="-122"/>
                <a:cs typeface="Playfair Display" pitchFamily="34" charset="-120"/>
              </a:defRPr>
            </a:lvl1pPr>
          </a:lstStyle>
          <a:p>
            <a:pPr algn="l" indent="0" marL="0">
              <a:lnSpc>
                <a:spcPct val="115000"/>
              </a:lnSpc>
              <a:buNone/>
            </a:pPr>
            <a:endParaRPr lang="en-US" sz="2850" dirty="0"/>
          </a:p>
        </p:txBody>
      </p:sp>
      <p:sp>
        <p:nvSpPr>
          <p:cNvPr id="3" name="Text Placeholder 2"/>
          <p:cNvSpPr/>
          <p:nvPr>
            <p:ph idx="101" type="body"/>
          </p:nvPr>
        </p:nvSpPr>
        <p:spPr>
          <a:xfrm>
            <a:off x="762000" y="1679093"/>
            <a:ext cx="10617200" cy="4366107"/>
          </a:xfrm>
          <a:prstGeom prst="rect">
            <a:avLst/>
          </a:prstGeom>
          <a:noFill/>
          <a:ln/>
        </p:spPr>
        <p:txBody>
          <a:bodyPr wrap="square" lIns="0" tIns="0" rIns="0" bIns="0" rtlCol="0" anchor="t"/>
          <a:lstStyle>
            <a:lvl1pPr algn="l" indent="0" marL="0">
              <a:lnSpc>
                <a:spcPct val="140000"/>
              </a:lnSpc>
              <a:buNone/>
              <a:defRPr lang="en-US" sz="1600" dirty="0">
                <a:solidFill>
                  <a:srgbClr val="0D2636"/>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762000" y="968942"/>
            <a:ext cx="10668001" cy="405351"/>
          </a:xfrm>
          <a:prstGeom prst="rect">
            <a:avLst/>
          </a:prstGeom>
          <a:noFill/>
          <a:ln/>
        </p:spPr>
        <p:txBody>
          <a:bodyPr wrap="square" lIns="0" tIns="0" rIns="0" bIns="0" rtlCol="0" anchor="t"/>
          <a:lstStyle>
            <a:lvl1pPr algn="l" indent="0" marL="0">
              <a:lnSpc>
                <a:spcPct val="115000"/>
              </a:lnSpc>
              <a:buNone/>
              <a:defRPr lang="en-US" sz="2850" dirty="0">
                <a:solidFill>
                  <a:srgbClr val="0D2636"/>
                </a:solidFill>
                <a:latin typeface="Playfair Display" pitchFamily="34" charset="0"/>
                <a:ea typeface="Playfair Display" pitchFamily="34" charset="-122"/>
                <a:cs typeface="Playfair Display" pitchFamily="34" charset="-120"/>
              </a:defRPr>
            </a:lvl1pPr>
          </a:lstStyle>
          <a:p>
            <a:pPr algn="l" indent="0" marL="0">
              <a:lnSpc>
                <a:spcPct val="115000"/>
              </a:lnSpc>
              <a:buNone/>
            </a:pPr>
            <a:endParaRPr lang="en-US" sz="2850" dirty="0"/>
          </a:p>
        </p:txBody>
      </p:sp>
      <p:sp>
        <p:nvSpPr>
          <p:cNvPr id="3" name="Text Placeholder 2"/>
          <p:cNvSpPr/>
          <p:nvPr>
            <p:ph idx="101" type="body"/>
          </p:nvPr>
        </p:nvSpPr>
        <p:spPr>
          <a:xfrm>
            <a:off x="762000" y="1679093"/>
            <a:ext cx="10617200" cy="4366107"/>
          </a:xfrm>
          <a:prstGeom prst="rect">
            <a:avLst/>
          </a:prstGeom>
          <a:noFill/>
          <a:ln/>
        </p:spPr>
        <p:txBody>
          <a:bodyPr wrap="square" lIns="0" tIns="0" rIns="0" bIns="0" rtlCol="0" anchor="t"/>
          <a:lstStyle>
            <a:lvl1pPr algn="l" indent="0" marL="0">
              <a:lnSpc>
                <a:spcPct val="140000"/>
              </a:lnSpc>
              <a:buNone/>
              <a:defRPr lang="en-US" sz="1600" dirty="0">
                <a:solidFill>
                  <a:srgbClr val="0D2636"/>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762000" y="968942"/>
            <a:ext cx="10668001" cy="405351"/>
          </a:xfrm>
          <a:prstGeom prst="rect">
            <a:avLst/>
          </a:prstGeom>
          <a:noFill/>
          <a:ln/>
        </p:spPr>
        <p:txBody>
          <a:bodyPr wrap="square" lIns="0" tIns="0" rIns="0" bIns="0" rtlCol="0" anchor="t"/>
          <a:lstStyle>
            <a:lvl1pPr algn="l" indent="0" marL="0">
              <a:lnSpc>
                <a:spcPct val="115000"/>
              </a:lnSpc>
              <a:buNone/>
              <a:defRPr lang="en-US" sz="2850" dirty="0">
                <a:solidFill>
                  <a:srgbClr val="0D2636"/>
                </a:solidFill>
                <a:latin typeface="Playfair Display" pitchFamily="34" charset="0"/>
                <a:ea typeface="Playfair Display" pitchFamily="34" charset="-122"/>
                <a:cs typeface="Playfair Display" pitchFamily="34" charset="-120"/>
              </a:defRPr>
            </a:lvl1pPr>
          </a:lstStyle>
          <a:p>
            <a:pPr algn="l" indent="0" marL="0">
              <a:lnSpc>
                <a:spcPct val="115000"/>
              </a:lnSpc>
              <a:buNone/>
            </a:pPr>
            <a:endParaRPr lang="en-US" sz="2850" dirty="0"/>
          </a:p>
        </p:txBody>
      </p:sp>
      <p:sp>
        <p:nvSpPr>
          <p:cNvPr id="3" name="Text Placeholder 2"/>
          <p:cNvSpPr/>
          <p:nvPr>
            <p:ph idx="101" type="body"/>
          </p:nvPr>
        </p:nvSpPr>
        <p:spPr>
          <a:xfrm>
            <a:off x="762000" y="1679093"/>
            <a:ext cx="10617200" cy="4366107"/>
          </a:xfrm>
          <a:prstGeom prst="rect">
            <a:avLst/>
          </a:prstGeom>
          <a:noFill/>
          <a:ln/>
        </p:spPr>
        <p:txBody>
          <a:bodyPr wrap="square" lIns="0" tIns="0" rIns="0" bIns="0" rtlCol="0" anchor="t"/>
          <a:lstStyle>
            <a:lvl1pPr algn="l" indent="0" marL="0">
              <a:lnSpc>
                <a:spcPct val="140000"/>
              </a:lnSpc>
              <a:buNone/>
              <a:defRPr lang="en-US" sz="1600" dirty="0">
                <a:solidFill>
                  <a:srgbClr val="0D2636"/>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3F6FD"/>
        </a:solidFill>
      </p:bgPr>
    </p:bg>
    <p:spTree>
      <p:nvGrpSpPr>
        <p:cNvPr id="1" name=""/>
        <p:cNvGrpSpPr/>
        <p:nvPr/>
      </p:nvGrpSpPr>
      <p:grpSpPr>
        <a:xfrm>
          <a:off x="0" y="0"/>
          <a:ext cx="0" cy="0"/>
          <a:chOff x="0" y="0"/>
          <a:chExt cx="0" cy="0"/>
        </a:xfrm>
      </p:grpSpPr>
      <p:sp>
        <p:nvSpPr>
          <p:cNvPr id="2" name="Title Placeholder 1"/>
          <p:cNvSpPr/>
          <p:nvPr>
            <p:ph type="title"/>
          </p:nvPr>
        </p:nvSpPr>
        <p:spPr>
          <a:xfrm>
            <a:off x="762000" y="968942"/>
            <a:ext cx="10668001" cy="405351"/>
          </a:xfrm>
          <a:prstGeom prst="rect">
            <a:avLst/>
          </a:prstGeom>
          <a:noFill/>
          <a:ln/>
        </p:spPr>
        <p:txBody>
          <a:bodyPr wrap="square" lIns="0" tIns="0" rIns="0" bIns="0" rtlCol="0" anchor="t"/>
          <a:lstStyle>
            <a:lvl1pPr algn="l" indent="0" marL="0">
              <a:lnSpc>
                <a:spcPct val="115000"/>
              </a:lnSpc>
              <a:buNone/>
              <a:defRPr lang="en-US" sz="2850" dirty="0">
                <a:solidFill>
                  <a:srgbClr val="0D2636"/>
                </a:solidFill>
                <a:latin typeface="Playfair Display" pitchFamily="34" charset="0"/>
                <a:ea typeface="Playfair Display" pitchFamily="34" charset="-122"/>
                <a:cs typeface="Playfair Display" pitchFamily="34" charset="-120"/>
              </a:defRPr>
            </a:lvl1pPr>
          </a:lstStyle>
          <a:p>
            <a:pPr algn="l" indent="0" marL="0">
              <a:lnSpc>
                <a:spcPct val="115000"/>
              </a:lnSpc>
              <a:buNone/>
            </a:pPr>
            <a:endParaRPr lang="en-US" sz="2850" dirty="0"/>
          </a:p>
        </p:txBody>
      </p:sp>
      <p:sp>
        <p:nvSpPr>
          <p:cNvPr id="3" name="Text Placeholder 2"/>
          <p:cNvSpPr/>
          <p:nvPr>
            <p:ph idx="101" type="body"/>
          </p:nvPr>
        </p:nvSpPr>
        <p:spPr>
          <a:xfrm>
            <a:off x="762000" y="1679093"/>
            <a:ext cx="10617200" cy="4366107"/>
          </a:xfrm>
          <a:prstGeom prst="rect">
            <a:avLst/>
          </a:prstGeom>
          <a:noFill/>
          <a:ln/>
        </p:spPr>
        <p:txBody>
          <a:bodyPr wrap="square" lIns="0" tIns="0" rIns="0" bIns="0" rtlCol="0" anchor="t"/>
          <a:lstStyle>
            <a:lvl1pPr algn="l" indent="0" marL="0">
              <a:lnSpc>
                <a:spcPct val="140000"/>
              </a:lnSpc>
              <a:buNone/>
              <a:defRPr lang="en-US" sz="1600" dirty="0">
                <a:solidFill>
                  <a:srgbClr val="0D2636"/>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C"/>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0B1F2C"/>
              </a:gs>
              <a:gs pos="55000">
                <a:srgbClr val="10344A"/>
              </a:gs>
              <a:gs pos="100000">
                <a:srgbClr val="0F5470"/>
              </a:gs>
            </a:gsLst>
            <a:lin ang="2700000" scaled="0"/>
          </a:gradFill>
          <a:ln/>
        </p:spPr>
      </p:sp>
      <p:sp>
        <p:nvSpPr>
          <p:cNvPr id="3" name="Shape 1"/>
          <p:cNvSpPr/>
          <p:nvPr/>
        </p:nvSpPr>
        <p:spPr>
          <a:xfrm rot="2700000">
            <a:off x="8635945" y="952500"/>
            <a:ext cx="952500" cy="952500"/>
          </a:xfrm>
          <a:prstGeom prst="roundRect">
            <a:avLst>
              <a:gd name="adj" fmla="val 14667"/>
            </a:avLst>
          </a:prstGeom>
          <a:gradFill rotWithShape="1">
            <a:gsLst>
              <a:gs pos="0">
                <a:srgbClr val="5ED6F8">
                  <a:alpha val="95000"/>
                </a:srgbClr>
              </a:gs>
              <a:gs pos="100000">
                <a:srgbClr val="0394C9">
                  <a:alpha val="95000"/>
                </a:srgbClr>
              </a:gs>
            </a:gsLst>
            <a:lin ang="2700000" scaled="0"/>
          </a:gradFill>
          <a:ln/>
        </p:spPr>
      </p:sp>
      <p:sp>
        <p:nvSpPr>
          <p:cNvPr id="4" name="Shape 2"/>
          <p:cNvSpPr/>
          <p:nvPr/>
        </p:nvSpPr>
        <p:spPr>
          <a:xfrm rot="2700000">
            <a:off x="7905751" y="1682695"/>
            <a:ext cx="952500" cy="952500"/>
          </a:xfrm>
          <a:prstGeom prst="roundRect">
            <a:avLst>
              <a:gd name="adj" fmla="val 14667"/>
            </a:avLst>
          </a:prstGeom>
          <a:gradFill rotWithShape="1">
            <a:gsLst>
              <a:gs pos="0">
                <a:srgbClr val="FFF6A0">
                  <a:alpha val="95000"/>
                </a:srgbClr>
              </a:gs>
              <a:gs pos="100000">
                <a:srgbClr val="F5D93A">
                  <a:alpha val="95000"/>
                </a:srgbClr>
              </a:gs>
            </a:gsLst>
            <a:lin ang="2700000" scaled="0"/>
          </a:gradFill>
          <a:ln/>
        </p:spPr>
      </p:sp>
      <p:sp>
        <p:nvSpPr>
          <p:cNvPr id="5" name="Shape 3"/>
          <p:cNvSpPr/>
          <p:nvPr/>
        </p:nvSpPr>
        <p:spPr>
          <a:xfrm rot="2700000">
            <a:off x="9366223" y="1682695"/>
            <a:ext cx="952500" cy="952500"/>
          </a:xfrm>
          <a:prstGeom prst="roundRect">
            <a:avLst>
              <a:gd name="adj" fmla="val 14667"/>
            </a:avLst>
          </a:prstGeom>
          <a:gradFill rotWithShape="1">
            <a:gsLst>
              <a:gs pos="0">
                <a:srgbClr val="F6E0BE">
                  <a:alpha val="95000"/>
                </a:srgbClr>
              </a:gs>
              <a:gs pos="100000">
                <a:srgbClr val="DDB277">
                  <a:alpha val="95000"/>
                </a:srgbClr>
              </a:gs>
            </a:gsLst>
            <a:lin ang="2700000" scaled="0"/>
          </a:gradFill>
          <a:ln/>
        </p:spPr>
      </p:sp>
      <p:sp>
        <p:nvSpPr>
          <p:cNvPr id="6" name="Shape 4"/>
          <p:cNvSpPr/>
          <p:nvPr/>
        </p:nvSpPr>
        <p:spPr>
          <a:xfrm rot="2700000">
            <a:off x="7175473" y="2412973"/>
            <a:ext cx="952500" cy="952500"/>
          </a:xfrm>
          <a:prstGeom prst="roundRect">
            <a:avLst>
              <a:gd name="adj" fmla="val 14667"/>
            </a:avLst>
          </a:prstGeom>
          <a:gradFill rotWithShape="1">
            <a:gsLst>
              <a:gs pos="0">
                <a:srgbClr val="F6E0BE">
                  <a:alpha val="95000"/>
                </a:srgbClr>
              </a:gs>
              <a:gs pos="100000">
                <a:srgbClr val="DDB277">
                  <a:alpha val="95000"/>
                </a:srgbClr>
              </a:gs>
            </a:gsLst>
            <a:lin ang="2700000" scaled="0"/>
          </a:gradFill>
          <a:ln/>
        </p:spPr>
      </p:sp>
      <p:sp>
        <p:nvSpPr>
          <p:cNvPr id="7" name="Shape 5"/>
          <p:cNvSpPr/>
          <p:nvPr/>
        </p:nvSpPr>
        <p:spPr>
          <a:xfrm rot="2700000">
            <a:off x="8635945" y="2412973"/>
            <a:ext cx="952500" cy="952500"/>
          </a:xfrm>
          <a:prstGeom prst="roundRect">
            <a:avLst>
              <a:gd name="adj" fmla="val 14667"/>
            </a:avLst>
          </a:prstGeom>
          <a:gradFill rotWithShape="1">
            <a:gsLst>
              <a:gs pos="0">
                <a:srgbClr val="5ED6F8">
                  <a:alpha val="95000"/>
                </a:srgbClr>
              </a:gs>
              <a:gs pos="100000">
                <a:srgbClr val="0394C9">
                  <a:alpha val="95000"/>
                </a:srgbClr>
              </a:gs>
            </a:gsLst>
            <a:lin ang="2700000" scaled="0"/>
          </a:gradFill>
          <a:ln/>
        </p:spPr>
      </p:sp>
      <p:sp>
        <p:nvSpPr>
          <p:cNvPr id="8" name="Shape 6"/>
          <p:cNvSpPr/>
          <p:nvPr/>
        </p:nvSpPr>
        <p:spPr>
          <a:xfrm rot="2700000">
            <a:off x="10096418" y="2412973"/>
            <a:ext cx="952500" cy="952500"/>
          </a:xfrm>
          <a:prstGeom prst="roundRect">
            <a:avLst>
              <a:gd name="adj" fmla="val 14667"/>
            </a:avLst>
          </a:prstGeom>
          <a:gradFill rotWithShape="1">
            <a:gsLst>
              <a:gs pos="0">
                <a:srgbClr val="FFF6A0">
                  <a:alpha val="95000"/>
                </a:srgbClr>
              </a:gs>
              <a:gs pos="100000">
                <a:srgbClr val="F5D93A">
                  <a:alpha val="95000"/>
                </a:srgbClr>
              </a:gs>
            </a:gsLst>
            <a:lin ang="2700000" scaled="0"/>
          </a:gradFill>
          <a:ln/>
        </p:spPr>
      </p:sp>
      <p:sp>
        <p:nvSpPr>
          <p:cNvPr id="9" name="Shape 7"/>
          <p:cNvSpPr/>
          <p:nvPr/>
        </p:nvSpPr>
        <p:spPr>
          <a:xfrm>
            <a:off x="762000" y="762000"/>
            <a:ext cx="990600" cy="634862"/>
          </a:xfrm>
          <a:prstGeom prst="roundRect">
            <a:avLst>
              <a:gd name="adj" fmla="val 16003"/>
            </a:avLst>
          </a:prstGeom>
          <a:solidFill>
            <a:srgbClr val="FFFFFF"/>
          </a:solidFill>
          <a:ln/>
        </p:spPr>
      </p:sp>
      <p:pic>
        <p:nvPicPr>
          <p:cNvPr id="10" name="Image 0" descr="AVI Group">    </p:cNvPr>
          <p:cNvPicPr>
            <a:picLocks noChangeAspect="1"/>
          </p:cNvPicPr>
          <p:nvPr/>
        </p:nvPicPr>
        <p:blipFill>
          <a:blip r:embed="rId1"/>
          <a:srcRect l="-3" r="-3" t="0" b="0"/>
          <a:stretch/>
        </p:blipFill>
        <p:spPr>
          <a:xfrm>
            <a:off x="876300" y="825445"/>
            <a:ext cx="762000" cy="507972"/>
          </a:xfrm>
          <a:prstGeom prst="rect">
            <a:avLst/>
          </a:prstGeom>
        </p:spPr>
      </p:pic>
      <p:sp>
        <p:nvSpPr>
          <p:cNvPr id="11" name="Text 8"/>
          <p:cNvSpPr/>
          <p:nvPr/>
        </p:nvSpPr>
        <p:spPr>
          <a:xfrm>
            <a:off x="1905000" y="972710"/>
            <a:ext cx="2278943" cy="238760"/>
          </a:xfrm>
          <a:prstGeom prst="rect">
            <a:avLst/>
          </a:prstGeom>
          <a:noFill/>
          <a:ln/>
        </p:spPr>
        <p:txBody>
          <a:bodyPr wrap="square" lIns="0" tIns="0" rIns="0" bIns="0" rtlCol="0" anchor="t">
            <a:normAutofit/>
          </a:bodyPr>
          <a:lstStyle/>
          <a:p>
            <a:pPr algn="l" indent="0" marL="0">
              <a:lnSpc>
                <a:spcPts val="1680"/>
              </a:lnSpc>
              <a:buNone/>
            </a:pPr>
            <a:r>
              <a:rPr lang="en-US" sz="1200" b="1" spc="250" kern="0" dirty="0">
                <a:solidFill>
                  <a:srgbClr val="EDC68E"/>
                </a:solidFill>
                <a:latin typeface="Be Vietnam Pro" pitchFamily="34" charset="0"/>
                <a:ea typeface="Be Vietnam Pro" pitchFamily="34" charset="-122"/>
                <a:cs typeface="Be Vietnam Pro" pitchFamily="34" charset="-120"/>
              </a:rPr>
              <a:t>ĐỀ XUẤT HỢP TÁC</a:t>
            </a:r>
            <a:endParaRPr lang="en-US" sz="1200" dirty="0"/>
          </a:p>
        </p:txBody>
      </p:sp>
      <p:sp>
        <p:nvSpPr>
          <p:cNvPr id="12" name="Shape 9"/>
          <p:cNvSpPr/>
          <p:nvPr/>
        </p:nvSpPr>
        <p:spPr>
          <a:xfrm>
            <a:off x="762000" y="2515843"/>
            <a:ext cx="762000" cy="38100"/>
          </a:xfrm>
          <a:prstGeom prst="roundRect">
            <a:avLst>
              <a:gd name="adj" fmla="val 50000"/>
            </a:avLst>
          </a:prstGeom>
          <a:gradFill rotWithShape="1">
            <a:gsLst>
              <a:gs pos="0">
                <a:srgbClr val="FEEF2E"/>
              </a:gs>
              <a:gs pos="100000">
                <a:srgbClr val="EDC68E"/>
              </a:gs>
            </a:gsLst>
            <a:lin ang="0" scaled="0"/>
          </a:gradFill>
          <a:ln/>
        </p:spPr>
      </p:sp>
      <p:sp>
        <p:nvSpPr>
          <p:cNvPr id="13" name="Text 10"/>
          <p:cNvSpPr/>
          <p:nvPr>
            <p:ph type="title"/>
          </p:nvPr>
        </p:nvSpPr>
        <p:spPr>
          <a:xfrm>
            <a:off x="762000" y="2757115"/>
            <a:ext cx="6540444" cy="711200"/>
          </a:xfrm>
          <a:prstGeom prst="rect">
            <a:avLst/>
          </a:prstGeom>
          <a:noFill/>
          <a:ln/>
        </p:spPr>
        <p:txBody>
          <a:bodyPr wrap="square" lIns="0" tIns="0" rIns="0" bIns="0" rtlCol="0" anchor="t">
            <a:normAutofit/>
          </a:bodyPr>
          <a:lstStyle/>
          <a:p>
            <a:pPr algn="l" indent="0" marL="0">
              <a:lnSpc>
                <a:spcPts val="5400"/>
              </a:lnSpc>
              <a:buNone/>
            </a:pPr>
            <a:r>
              <a:rPr lang="en-US" sz="5000" b="1" i="0" dirty="0">
                <a:solidFill>
                  <a:srgbClr val="F7F3EA"/>
                </a:solidFill>
                <a:latin typeface="Playfair Display" pitchFamily="18" charset="0"/>
                <a:ea typeface="Playfair Display" pitchFamily="18" charset="-122"/>
                <a:cs typeface="Playfair Display" pitchFamily="18" charset="-120"/>
              </a:rPr>
              <a:t>Avi Florist SaaS</a:t>
            </a:r>
            <a:endParaRPr lang="en-US" sz="5000" dirty="0"/>
          </a:p>
        </p:txBody>
      </p:sp>
      <p:sp>
        <p:nvSpPr>
          <p:cNvPr id="14" name="Text 11"/>
          <p:cNvSpPr/>
          <p:nvPr/>
        </p:nvSpPr>
        <p:spPr>
          <a:xfrm>
            <a:off x="762000" y="3646088"/>
            <a:ext cx="6540444"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F7F3EA"/>
                </a:solidFill>
                <a:latin typeface="Be Vietnam Pro" pitchFamily="34" charset="0"/>
                <a:ea typeface="Be Vietnam Pro" pitchFamily="34" charset="-122"/>
                <a:cs typeface="Be Vietnam Pro" pitchFamily="34" charset="-120"/>
              </a:rPr>
              <a:t>Nền tảng vận hành cho cửa hàng hoa</a:t>
            </a:r>
            <a:endParaRPr lang="en-US" sz="2000" dirty="0"/>
          </a:p>
        </p:txBody>
      </p:sp>
      <p:sp>
        <p:nvSpPr>
          <p:cNvPr id="15" name="Text 12"/>
          <p:cNvSpPr/>
          <p:nvPr/>
        </p:nvSpPr>
        <p:spPr>
          <a:xfrm>
            <a:off x="762000" y="4192160"/>
            <a:ext cx="6540444"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B9CCD6"/>
                </a:solidFill>
                <a:latin typeface="Be Vietnam Pro" pitchFamily="34" charset="0"/>
                <a:ea typeface="Be Vietnam Pro" pitchFamily="34" charset="-122"/>
                <a:cs typeface="Be Vietnam Pro" pitchFamily="34" charset="-120"/>
              </a:rPr>
              <a:t>Quản lý shop, nhận đơn điện hoa có SLA, định giá bằng AI và kênh bán hàng — trên một ứng dụng cài được vào điện thoại.</a:t>
            </a:r>
            <a:endParaRPr lang="en-US" sz="1500" dirty="0"/>
          </a:p>
        </p:txBody>
      </p:sp>
      <p:sp>
        <p:nvSpPr>
          <p:cNvPr id="16" name="Text 13"/>
          <p:cNvSpPr/>
          <p:nvPr/>
        </p:nvSpPr>
        <p:spPr>
          <a:xfrm>
            <a:off x="762000" y="5882641"/>
            <a:ext cx="109880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Tháng 10/2026 · Kế hoạch sản phẩm và phương án hợp tác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VẤN ĐỀ</a:t>
            </a:r>
            <a:endParaRPr lang="en-US" sz="1200" dirty="0"/>
          </a:p>
        </p:txBody>
      </p:sp>
      <p:sp>
        <p:nvSpPr>
          <p:cNvPr id="3" name="Text 1"/>
          <p:cNvSpPr/>
          <p:nvPr>
            <p:ph type="title"/>
          </p:nvPr>
        </p:nvSpPr>
        <p:spPr>
          <a:xfrm>
            <a:off x="762000" y="1026049"/>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D2636"/>
                </a:solidFill>
                <a:latin typeface="Playfair Display" pitchFamily="18" charset="0"/>
                <a:ea typeface="Playfair Display" pitchFamily="18" charset="-122"/>
                <a:cs typeface="Playfair Display" pitchFamily="18" charset="-120"/>
              </a:rPr>
              <a:t>Shop hoa vẫn vận hành bằng sổ, Excel và Zalo</a:t>
            </a:r>
            <a:endParaRPr lang="en-US" sz="3000" dirty="0"/>
          </a:p>
        </p:txBody>
      </p:sp>
      <p:sp>
        <p:nvSpPr>
          <p:cNvPr id="4" name="Shape 2"/>
          <p:cNvSpPr/>
          <p:nvPr/>
        </p:nvSpPr>
        <p:spPr>
          <a:xfrm>
            <a:off x="762000" y="1554314"/>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1925734"/>
            <a:ext cx="3414202" cy="2612611"/>
          </a:xfrm>
          <a:prstGeom prst="roundRect">
            <a:avLst>
              <a:gd name="adj" fmla="val 5226"/>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6" name="Shape 4"/>
          <p:cNvSpPr/>
          <p:nvPr/>
        </p:nvSpPr>
        <p:spPr>
          <a:xfrm>
            <a:off x="1046673" y="2207232"/>
            <a:ext cx="482545" cy="482545"/>
          </a:xfrm>
          <a:prstGeom prst="roundRect">
            <a:avLst>
              <a:gd name="adj" fmla="val 28951"/>
            </a:avLst>
          </a:prstGeom>
          <a:gradFill rotWithShape="1">
            <a:gsLst>
              <a:gs pos="0">
                <a:srgbClr val="E1F6FD"/>
              </a:gs>
              <a:gs pos="100000">
                <a:srgbClr val="BDEBFA"/>
              </a:gs>
            </a:gsLst>
            <a:lin ang="2700000" scaled="0"/>
          </a:gradFill>
          <a:ln/>
        </p:spPr>
      </p:sp>
      <p:pic>
        <p:nvPicPr>
          <p:cNvPr id="7" name="Image 0" descr="Book">    </p:cNvPr>
          <p:cNvPicPr>
            <a:picLocks noChangeAspect="1"/>
          </p:cNvPicPr>
          <p:nvPr/>
        </p:nvPicPr>
        <p:blipFill>
          <a:blip r:embed="rId1"/>
          <a:srcRect l="0" r="0" t="0" b="0"/>
          <a:stretch/>
        </p:blipFill>
        <p:spPr>
          <a:xfrm>
            <a:off x="1160973" y="2321532"/>
            <a:ext cx="253945" cy="253945"/>
          </a:xfrm>
          <a:prstGeom prst="rect">
            <a:avLst/>
          </a:prstGeom>
        </p:spPr>
      </p:pic>
      <p:sp>
        <p:nvSpPr>
          <p:cNvPr id="8" name="Text 5"/>
          <p:cNvSpPr/>
          <p:nvPr/>
        </p:nvSpPr>
        <p:spPr>
          <a:xfrm>
            <a:off x="1046673" y="2829422"/>
            <a:ext cx="293674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D2636"/>
                </a:solidFill>
                <a:latin typeface="Be Vietnam Pro" pitchFamily="34" charset="0"/>
                <a:ea typeface="Be Vietnam Pro" pitchFamily="34" charset="-122"/>
                <a:cs typeface="Be Vietnam Pro" pitchFamily="34" charset="-120"/>
              </a:rPr>
              <a:t>Quản lý thủ công</a:t>
            </a:r>
            <a:endParaRPr lang="en-US" sz="1700" dirty="0"/>
          </a:p>
        </p:txBody>
      </p:sp>
      <p:sp>
        <p:nvSpPr>
          <p:cNvPr id="9" name="Text 6"/>
          <p:cNvSpPr/>
          <p:nvPr/>
        </p:nvSpPr>
        <p:spPr>
          <a:xfrm>
            <a:off x="1046673" y="3228146"/>
            <a:ext cx="2936742" cy="1054100"/>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4A5B66"/>
                </a:solidFill>
                <a:latin typeface="Be Vietnam Pro" pitchFamily="34" charset="0"/>
                <a:ea typeface="Be Vietnam Pro" pitchFamily="34" charset="-122"/>
                <a:cs typeface="Be Vietnam Pro" pitchFamily="34" charset="-120"/>
              </a:rPr>
              <a:t>Đơn, kho, khách hàng nằm rải rác. Phần mềm bán lẻ chung không hiểu công thức bó hoa và hao hụt hoa tươi.</a:t>
            </a:r>
            <a:endParaRPr lang="en-US" sz="1350" dirty="0"/>
          </a:p>
        </p:txBody>
      </p:sp>
      <p:sp>
        <p:nvSpPr>
          <p:cNvPr id="10" name="Shape 7"/>
          <p:cNvSpPr/>
          <p:nvPr/>
        </p:nvSpPr>
        <p:spPr>
          <a:xfrm>
            <a:off x="4388900" y="1925734"/>
            <a:ext cx="3414202" cy="2612611"/>
          </a:xfrm>
          <a:prstGeom prst="roundRect">
            <a:avLst>
              <a:gd name="adj" fmla="val 5226"/>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11" name="Shape 8"/>
          <p:cNvSpPr/>
          <p:nvPr/>
        </p:nvSpPr>
        <p:spPr>
          <a:xfrm>
            <a:off x="4670398" y="2207232"/>
            <a:ext cx="482545" cy="482545"/>
          </a:xfrm>
          <a:prstGeom prst="roundRect">
            <a:avLst>
              <a:gd name="adj" fmla="val 28951"/>
            </a:avLst>
          </a:prstGeom>
          <a:gradFill rotWithShape="1">
            <a:gsLst>
              <a:gs pos="0">
                <a:srgbClr val="FFF8D6"/>
              </a:gs>
              <a:gs pos="100000">
                <a:srgbClr val="F6E2BD"/>
              </a:gs>
            </a:gsLst>
            <a:lin ang="2700000" scaled="0"/>
          </a:gradFill>
          <a:ln/>
        </p:spPr>
      </p:sp>
      <p:pic>
        <p:nvPicPr>
          <p:cNvPr id="12" name="Image 1" descr="Clock">    </p:cNvPr>
          <p:cNvPicPr>
            <a:picLocks noChangeAspect="1"/>
          </p:cNvPicPr>
          <p:nvPr/>
        </p:nvPicPr>
        <p:blipFill>
          <a:blip r:embed="rId2"/>
          <a:srcRect l="0" r="0" t="0" b="0"/>
          <a:stretch/>
        </p:blipFill>
        <p:spPr>
          <a:xfrm>
            <a:off x="4784698" y="2321532"/>
            <a:ext cx="253945" cy="253945"/>
          </a:xfrm>
          <a:prstGeom prst="rect">
            <a:avLst/>
          </a:prstGeom>
        </p:spPr>
      </p:pic>
      <p:sp>
        <p:nvSpPr>
          <p:cNvPr id="13" name="Text 9"/>
          <p:cNvSpPr/>
          <p:nvPr/>
        </p:nvSpPr>
        <p:spPr>
          <a:xfrm>
            <a:off x="4670398" y="2829422"/>
            <a:ext cx="293674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D2636"/>
                </a:solidFill>
                <a:latin typeface="Be Vietnam Pro" pitchFamily="34" charset="0"/>
                <a:ea typeface="Be Vietnam Pro" pitchFamily="34" charset="-122"/>
                <a:cs typeface="Be Vietnam Pro" pitchFamily="34" charset="-120"/>
              </a:rPr>
              <a:t>Đơn điện hoa rời rạc</a:t>
            </a:r>
            <a:endParaRPr lang="en-US" sz="1700" dirty="0"/>
          </a:p>
        </p:txBody>
      </p:sp>
      <p:sp>
        <p:nvSpPr>
          <p:cNvPr id="14" name="Text 10"/>
          <p:cNvSpPr/>
          <p:nvPr/>
        </p:nvSpPr>
        <p:spPr>
          <a:xfrm>
            <a:off x="4670398" y="3228146"/>
            <a:ext cx="2936742" cy="79692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4A5B66"/>
                </a:solidFill>
                <a:latin typeface="Be Vietnam Pro" pitchFamily="34" charset="0"/>
                <a:ea typeface="Be Vietnam Pro" pitchFamily="34" charset="-122"/>
                <a:cs typeface="Be Vietnam Pro" pitchFamily="34" charset="-120"/>
              </a:rPr>
              <a:t>Nhận đơn qua điện thoại, không có hạn xác nhận, khó theo dõi SLA, đối soát hoa hồng làm tay.</a:t>
            </a:r>
            <a:endParaRPr lang="en-US" sz="1350" dirty="0"/>
          </a:p>
        </p:txBody>
      </p:sp>
      <p:sp>
        <p:nvSpPr>
          <p:cNvPr id="15" name="Shape 11"/>
          <p:cNvSpPr/>
          <p:nvPr/>
        </p:nvSpPr>
        <p:spPr>
          <a:xfrm>
            <a:off x="8012624" y="1925734"/>
            <a:ext cx="3414202" cy="2612611"/>
          </a:xfrm>
          <a:prstGeom prst="roundRect">
            <a:avLst>
              <a:gd name="adj" fmla="val 5226"/>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16" name="Shape 12"/>
          <p:cNvSpPr/>
          <p:nvPr/>
        </p:nvSpPr>
        <p:spPr>
          <a:xfrm>
            <a:off x="8294122" y="2207232"/>
            <a:ext cx="482545" cy="482545"/>
          </a:xfrm>
          <a:prstGeom prst="roundRect">
            <a:avLst>
              <a:gd name="adj" fmla="val 28951"/>
            </a:avLst>
          </a:prstGeom>
          <a:gradFill rotWithShape="1">
            <a:gsLst>
              <a:gs pos="0">
                <a:srgbClr val="E1F6FD"/>
              </a:gs>
              <a:gs pos="100000">
                <a:srgbClr val="BDEBFA"/>
              </a:gs>
            </a:gsLst>
            <a:lin ang="2700000" scaled="0"/>
          </a:gradFill>
          <a:ln/>
        </p:spPr>
      </p:sp>
      <p:pic>
        <p:nvPicPr>
          <p:cNvPr id="17" name="Image 2" descr="Chart">    </p:cNvPr>
          <p:cNvPicPr>
            <a:picLocks noChangeAspect="1"/>
          </p:cNvPicPr>
          <p:nvPr/>
        </p:nvPicPr>
        <p:blipFill>
          <a:blip r:embed="rId3"/>
          <a:srcRect l="0" r="0" t="0" b="0"/>
          <a:stretch/>
        </p:blipFill>
        <p:spPr>
          <a:xfrm>
            <a:off x="8408422" y="2321532"/>
            <a:ext cx="253945" cy="253945"/>
          </a:xfrm>
          <a:prstGeom prst="rect">
            <a:avLst/>
          </a:prstGeom>
        </p:spPr>
      </p:pic>
      <p:sp>
        <p:nvSpPr>
          <p:cNvPr id="18" name="Text 13"/>
          <p:cNvSpPr/>
          <p:nvPr/>
        </p:nvSpPr>
        <p:spPr>
          <a:xfrm>
            <a:off x="8294122" y="2829422"/>
            <a:ext cx="293674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D2636"/>
                </a:solidFill>
                <a:latin typeface="Be Vietnam Pro" pitchFamily="34" charset="0"/>
                <a:ea typeface="Be Vietnam Pro" pitchFamily="34" charset="-122"/>
                <a:cs typeface="Be Vietnam Pro" pitchFamily="34" charset="-120"/>
              </a:rPr>
              <a:t>Định giá cảm tính</a:t>
            </a:r>
            <a:endParaRPr lang="en-US" sz="1700" dirty="0"/>
          </a:p>
        </p:txBody>
      </p:sp>
      <p:sp>
        <p:nvSpPr>
          <p:cNvPr id="19" name="Text 14"/>
          <p:cNvSpPr/>
          <p:nvPr/>
        </p:nvSpPr>
        <p:spPr>
          <a:xfrm>
            <a:off x="8294122" y="3228146"/>
            <a:ext cx="2936742" cy="796925"/>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4A5B66"/>
                </a:solidFill>
                <a:latin typeface="Be Vietnam Pro" pitchFamily="34" charset="0"/>
                <a:ea typeface="Be Vietnam Pro" pitchFamily="34" charset="-122"/>
                <a:cs typeface="Be Vietnam Pro" pitchFamily="34" charset="-120"/>
              </a:rPr>
              <a:t>Giá hoa nhập biến động theo mùa lễ; giá bán thường ước lượng bằng kinh nghiệm, dễ hụt lợi nhuận.</a:t>
            </a:r>
            <a:endParaRPr lang="en-US" sz="1350" dirty="0"/>
          </a:p>
        </p:txBody>
      </p:sp>
      <p:sp>
        <p:nvSpPr>
          <p:cNvPr id="20" name="Shape 15"/>
          <p:cNvSpPr/>
          <p:nvPr/>
        </p:nvSpPr>
        <p:spPr>
          <a:xfrm>
            <a:off x="762000" y="4871665"/>
            <a:ext cx="10668001" cy="647700"/>
          </a:xfrm>
          <a:prstGeom prst="roundRect">
            <a:avLst>
              <a:gd name="adj" fmla="val 19608"/>
            </a:avLst>
          </a:prstGeom>
          <a:gradFill rotWithShape="1">
            <a:gsLst>
              <a:gs pos="0">
                <a:srgbClr val="0D2636"/>
              </a:gs>
              <a:gs pos="100000">
                <a:srgbClr val="135A79"/>
              </a:gs>
            </a:gsLst>
            <a:lin ang="0" scaled="0"/>
          </a:gradFill>
          <a:ln/>
        </p:spPr>
      </p:sp>
      <p:sp>
        <p:nvSpPr>
          <p:cNvPr id="21" name="Shape 16"/>
          <p:cNvSpPr/>
          <p:nvPr/>
        </p:nvSpPr>
        <p:spPr>
          <a:xfrm>
            <a:off x="1015945" y="5151038"/>
            <a:ext cx="88872" cy="88872"/>
          </a:xfrm>
          <a:prstGeom prst="roundRect">
            <a:avLst>
              <a:gd name="adj" fmla="val 50000"/>
            </a:avLst>
          </a:prstGeom>
          <a:solidFill>
            <a:srgbClr val="FEEF2E"/>
          </a:solidFill>
          <a:ln/>
        </p:spPr>
      </p:sp>
      <p:sp>
        <p:nvSpPr>
          <p:cNvPr id="22" name="Text 17"/>
          <p:cNvSpPr/>
          <p:nvPr/>
        </p:nvSpPr>
        <p:spPr>
          <a:xfrm>
            <a:off x="1282562" y="5062165"/>
            <a:ext cx="896479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3EA"/>
                </a:solidFill>
                <a:latin typeface="Be Vietnam Pro" pitchFamily="34" charset="0"/>
                <a:ea typeface="Be Vietnam Pro" pitchFamily="34" charset="-122"/>
                <a:cs typeface="Be Vietnam Pro" pitchFamily="34" charset="-120"/>
              </a:rPr>
              <a:t>Avi cần một kênh chuẩn để đẩy đơn, theo dõi SLA và chi trả cho mạng lưới shop.</a:t>
            </a:r>
            <a:endParaRPr lang="en-US" sz="1500" dirty="0"/>
          </a:p>
        </p:txBody>
      </p:sp>
      <p:pic>
        <p:nvPicPr>
          <p:cNvPr id="23" name="Image 3" descr="AVI Group">    </p:cNvPr>
          <p:cNvPicPr>
            <a:picLocks noChangeAspect="1"/>
          </p:cNvPicPr>
          <p:nvPr/>
        </p:nvPicPr>
        <p:blipFill>
          <a:blip r:embed="rId4"/>
          <a:srcRect l="-5" r="-5" t="0" b="0"/>
          <a:stretch/>
        </p:blipFill>
        <p:spPr>
          <a:xfrm>
            <a:off x="762000" y="6324683"/>
            <a:ext cx="419100" cy="279372"/>
          </a:xfrm>
          <a:prstGeom prst="rect">
            <a:avLst/>
          </a:prstGeom>
        </p:spPr>
      </p:pic>
      <p:sp>
        <p:nvSpPr>
          <p:cNvPr id="24" name="Text 18"/>
          <p:cNvSpPr/>
          <p:nvPr/>
        </p:nvSpPr>
        <p:spPr>
          <a:xfrm>
            <a:off x="1269972" y="6339840"/>
            <a:ext cx="6540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Florist SaaS · Đề xuất hợp tác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GIẢI PHÁP</a:t>
            </a:r>
            <a:endParaRPr lang="en-US" sz="1200" dirty="0"/>
          </a:p>
        </p:txBody>
      </p:sp>
      <p:sp>
        <p:nvSpPr>
          <p:cNvPr id="3" name="Text 1"/>
          <p:cNvSpPr/>
          <p:nvPr>
            <p:ph type="title"/>
          </p:nvPr>
        </p:nvSpPr>
        <p:spPr>
          <a:xfrm>
            <a:off x="762000" y="1026049"/>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D2636"/>
                </a:solidFill>
                <a:latin typeface="Playfair Display" pitchFamily="18" charset="0"/>
                <a:ea typeface="Playfair Display" pitchFamily="18" charset="-122"/>
                <a:cs typeface="Playfair Display" pitchFamily="18" charset="-120"/>
              </a:rPr>
              <a:t>Một nền tảng, bốn trụ cột</a:t>
            </a:r>
            <a:endParaRPr lang="en-US" sz="3000" dirty="0"/>
          </a:p>
        </p:txBody>
      </p:sp>
      <p:sp>
        <p:nvSpPr>
          <p:cNvPr id="4" name="Shape 2"/>
          <p:cNvSpPr/>
          <p:nvPr/>
        </p:nvSpPr>
        <p:spPr>
          <a:xfrm>
            <a:off x="762000" y="1554314"/>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1925734"/>
            <a:ext cx="2529951" cy="2457312"/>
          </a:xfrm>
          <a:prstGeom prst="roundRect">
            <a:avLst>
              <a:gd name="adj" fmla="val 5556"/>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6" name="Shape 4"/>
          <p:cNvSpPr/>
          <p:nvPr/>
        </p:nvSpPr>
        <p:spPr>
          <a:xfrm>
            <a:off x="1021246" y="2181805"/>
            <a:ext cx="457200" cy="457200"/>
          </a:xfrm>
          <a:prstGeom prst="roundRect">
            <a:avLst>
              <a:gd name="adj" fmla="val 27778"/>
            </a:avLst>
          </a:prstGeom>
          <a:gradFill rotWithShape="1">
            <a:gsLst>
              <a:gs pos="0">
                <a:srgbClr val="E1F6FD"/>
              </a:gs>
              <a:gs pos="100000">
                <a:srgbClr val="BDEBFA"/>
              </a:gs>
            </a:gsLst>
            <a:lin ang="2700000" scaled="0"/>
          </a:gradFill>
          <a:ln/>
        </p:spPr>
      </p:sp>
      <p:pic>
        <p:nvPicPr>
          <p:cNvPr id="7" name="Image 0" descr="Home">    </p:cNvPr>
          <p:cNvPicPr>
            <a:picLocks noChangeAspect="1"/>
          </p:cNvPicPr>
          <p:nvPr/>
        </p:nvPicPr>
        <p:blipFill>
          <a:blip r:embed="rId1"/>
          <a:srcRect l="0" r="0" t="0" b="0"/>
          <a:stretch/>
        </p:blipFill>
        <p:spPr>
          <a:xfrm>
            <a:off x="1129168" y="2289727"/>
            <a:ext cx="241272" cy="241272"/>
          </a:xfrm>
          <a:prstGeom prst="rect">
            <a:avLst/>
          </a:prstGeom>
        </p:spPr>
      </p:pic>
      <p:sp>
        <p:nvSpPr>
          <p:cNvPr id="8" name="Text 5"/>
          <p:cNvSpPr/>
          <p:nvPr/>
        </p:nvSpPr>
        <p:spPr>
          <a:xfrm>
            <a:off x="1021246" y="2765977"/>
            <a:ext cx="2078343"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636"/>
                </a:solidFill>
                <a:latin typeface="Be Vietnam Pro" pitchFamily="34" charset="0"/>
                <a:ea typeface="Be Vietnam Pro" pitchFamily="34" charset="-122"/>
                <a:cs typeface="Be Vietnam Pro" pitchFamily="34" charset="-120"/>
              </a:rPr>
              <a:t>Vận hành shop</a:t>
            </a:r>
            <a:endParaRPr lang="en-US" sz="1600" dirty="0"/>
          </a:p>
        </p:txBody>
      </p:sp>
      <p:sp>
        <p:nvSpPr>
          <p:cNvPr id="9" name="Text 6"/>
          <p:cNvSpPr/>
          <p:nvPr/>
        </p:nvSpPr>
        <p:spPr>
          <a:xfrm>
            <a:off x="1021246" y="3136706"/>
            <a:ext cx="2078343" cy="1015669"/>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B66"/>
                </a:solidFill>
                <a:latin typeface="Be Vietnam Pro" pitchFamily="34" charset="0"/>
                <a:ea typeface="Be Vietnam Pro" pitchFamily="34" charset="-122"/>
                <a:cs typeface="Be Vietnam Pro" pitchFamily="34" charset="-120"/>
              </a:rPr>
              <a:t>Sản phẩm và công thức bó hoa, kho, đơn hàng, khách hàng, khuyến mại, báo cáo</a:t>
            </a:r>
            <a:endParaRPr lang="en-US" sz="1300" dirty="0"/>
          </a:p>
        </p:txBody>
      </p:sp>
      <p:sp>
        <p:nvSpPr>
          <p:cNvPr id="10" name="Shape 7"/>
          <p:cNvSpPr/>
          <p:nvPr/>
        </p:nvSpPr>
        <p:spPr>
          <a:xfrm>
            <a:off x="3476046" y="1922559"/>
            <a:ext cx="2525782" cy="2463662"/>
          </a:xfrm>
          <a:prstGeom prst="roundRect">
            <a:avLst>
              <a:gd name="adj" fmla="val 5670"/>
            </a:avLst>
          </a:prstGeom>
          <a:gradFill rotWithShape="1">
            <a:gsLst>
              <a:gs pos="0">
                <a:srgbClr val="0D2636"/>
              </a:gs>
              <a:gs pos="100000">
                <a:srgbClr val="135A79"/>
              </a:gs>
            </a:gsLst>
            <a:lin ang="3600000" scaled="0"/>
          </a:gradFill>
          <a:ln/>
          <a:effectLst>
            <a:outerShdw sx="100000" sy="100000" kx="0" ky="0" algn="bl" rotWithShape="0" blurRad="279400" dist="127000" dir="5400000">
              <a:srgbClr val="0D2636">
                <a:alpha val="22000"/>
              </a:srgbClr>
            </a:outerShdw>
          </a:effectLst>
        </p:spPr>
      </p:sp>
      <p:sp>
        <p:nvSpPr>
          <p:cNvPr id="11" name="Shape 8"/>
          <p:cNvSpPr/>
          <p:nvPr/>
        </p:nvSpPr>
        <p:spPr>
          <a:xfrm>
            <a:off x="3729990" y="2176503"/>
            <a:ext cx="457200" cy="457200"/>
          </a:xfrm>
          <a:prstGeom prst="roundRect">
            <a:avLst>
              <a:gd name="adj" fmla="val 27778"/>
            </a:avLst>
          </a:prstGeom>
          <a:gradFill rotWithShape="1">
            <a:gsLst>
              <a:gs pos="0">
                <a:srgbClr val="FEEF2E"/>
              </a:gs>
              <a:gs pos="100000">
                <a:srgbClr val="EDC68E"/>
              </a:gs>
            </a:gsLst>
            <a:lin ang="2700000" scaled="0"/>
          </a:gradFill>
          <a:ln/>
        </p:spPr>
      </p:sp>
      <p:pic>
        <p:nvPicPr>
          <p:cNvPr id="12" name="Image 1" descr="Lightning">    </p:cNvPr>
          <p:cNvPicPr>
            <a:picLocks noChangeAspect="1"/>
          </p:cNvPicPr>
          <p:nvPr/>
        </p:nvPicPr>
        <p:blipFill>
          <a:blip r:embed="rId2"/>
          <a:srcRect l="0" r="0" t="0" b="0"/>
          <a:stretch/>
        </p:blipFill>
        <p:spPr>
          <a:xfrm>
            <a:off x="3837913" y="2284426"/>
            <a:ext cx="241272" cy="241272"/>
          </a:xfrm>
          <a:prstGeom prst="rect">
            <a:avLst/>
          </a:prstGeom>
        </p:spPr>
      </p:pic>
      <p:sp>
        <p:nvSpPr>
          <p:cNvPr id="13" name="Text 9"/>
          <p:cNvSpPr/>
          <p:nvPr/>
        </p:nvSpPr>
        <p:spPr>
          <a:xfrm>
            <a:off x="3729990" y="2760676"/>
            <a:ext cx="2078429"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3EA"/>
                </a:solidFill>
                <a:latin typeface="Be Vietnam Pro" pitchFamily="34" charset="0"/>
                <a:ea typeface="Be Vietnam Pro" pitchFamily="34" charset="-122"/>
                <a:cs typeface="Be Vietnam Pro" pitchFamily="34" charset="-120"/>
              </a:rPr>
              <a:t>Nhận đơn Avi</a:t>
            </a:r>
            <a:endParaRPr lang="en-US" sz="1600" dirty="0"/>
          </a:p>
        </p:txBody>
      </p:sp>
      <p:sp>
        <p:nvSpPr>
          <p:cNvPr id="14" name="Text 10"/>
          <p:cNvSpPr/>
          <p:nvPr/>
        </p:nvSpPr>
        <p:spPr>
          <a:xfrm>
            <a:off x="3729990" y="3131406"/>
            <a:ext cx="2078429" cy="1015669"/>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AE3"/>
                </a:solidFill>
                <a:latin typeface="Be Vietnam Pro" pitchFamily="34" charset="0"/>
                <a:ea typeface="Be Vietnam Pro" pitchFamily="34" charset="-122"/>
                <a:cs typeface="Be Vietnam Pro" pitchFamily="34" charset="-120"/>
              </a:rPr>
              <a:t>Chia đơn theo khoảng cách, xác nhận có hạn trên app và Telegram, chuyển tiếp, hoa hồng</a:t>
            </a:r>
            <a:endParaRPr lang="en-US" sz="1300" dirty="0"/>
          </a:p>
        </p:txBody>
      </p:sp>
      <p:sp>
        <p:nvSpPr>
          <p:cNvPr id="15" name="Shape 11"/>
          <p:cNvSpPr/>
          <p:nvPr/>
        </p:nvSpPr>
        <p:spPr>
          <a:xfrm>
            <a:off x="6182747" y="1925734"/>
            <a:ext cx="2529951" cy="2457312"/>
          </a:xfrm>
          <a:prstGeom prst="roundRect">
            <a:avLst>
              <a:gd name="adj" fmla="val 5556"/>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16" name="Shape 12"/>
          <p:cNvSpPr/>
          <p:nvPr/>
        </p:nvSpPr>
        <p:spPr>
          <a:xfrm>
            <a:off x="6438817" y="2181805"/>
            <a:ext cx="457200" cy="457200"/>
          </a:xfrm>
          <a:prstGeom prst="roundRect">
            <a:avLst>
              <a:gd name="adj" fmla="val 27778"/>
            </a:avLst>
          </a:prstGeom>
          <a:gradFill rotWithShape="1">
            <a:gsLst>
              <a:gs pos="0">
                <a:srgbClr val="FFF8D6"/>
              </a:gs>
              <a:gs pos="100000">
                <a:srgbClr val="F6E2BD"/>
              </a:gs>
            </a:gsLst>
            <a:lin ang="2700000" scaled="0"/>
          </a:gradFill>
          <a:ln/>
        </p:spPr>
      </p:sp>
      <p:pic>
        <p:nvPicPr>
          <p:cNvPr id="17" name="Image 2" descr="Lightbulb">    </p:cNvPr>
          <p:cNvPicPr>
            <a:picLocks noChangeAspect="1"/>
          </p:cNvPicPr>
          <p:nvPr/>
        </p:nvPicPr>
        <p:blipFill>
          <a:blip r:embed="rId3"/>
          <a:srcRect l="0" r="0" t="0" b="0"/>
          <a:stretch/>
        </p:blipFill>
        <p:spPr>
          <a:xfrm>
            <a:off x="6546740" y="2289727"/>
            <a:ext cx="241272" cy="241272"/>
          </a:xfrm>
          <a:prstGeom prst="rect">
            <a:avLst/>
          </a:prstGeom>
        </p:spPr>
      </p:pic>
      <p:sp>
        <p:nvSpPr>
          <p:cNvPr id="18" name="Text 13"/>
          <p:cNvSpPr/>
          <p:nvPr/>
        </p:nvSpPr>
        <p:spPr>
          <a:xfrm>
            <a:off x="6438817" y="2765977"/>
            <a:ext cx="2078343"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636"/>
                </a:solidFill>
                <a:latin typeface="Be Vietnam Pro" pitchFamily="34" charset="0"/>
                <a:ea typeface="Be Vietnam Pro" pitchFamily="34" charset="-122"/>
                <a:cs typeface="Be Vietnam Pro" pitchFamily="34" charset="-120"/>
              </a:rPr>
              <a:t>AI bán hàng</a:t>
            </a:r>
            <a:endParaRPr lang="en-US" sz="1600" dirty="0"/>
          </a:p>
        </p:txBody>
      </p:sp>
      <p:sp>
        <p:nvSpPr>
          <p:cNvPr id="19" name="Text 14"/>
          <p:cNvSpPr/>
          <p:nvPr/>
        </p:nvSpPr>
        <p:spPr>
          <a:xfrm>
            <a:off x="6438817" y="3136706"/>
            <a:ext cx="2078343" cy="768102"/>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B66"/>
                </a:solidFill>
                <a:latin typeface="Be Vietnam Pro" pitchFamily="34" charset="0"/>
                <a:ea typeface="Be Vietnam Pro" pitchFamily="34" charset="-122"/>
                <a:cs typeface="Be Vietnam Pro" pitchFamily="34" charset="-120"/>
              </a:rPr>
              <a:t>Ảnh và mô tả ra thành phần, giá đề xuất, báo giá, content marketing</a:t>
            </a:r>
            <a:endParaRPr lang="en-US" sz="1300" dirty="0"/>
          </a:p>
        </p:txBody>
      </p:sp>
      <p:sp>
        <p:nvSpPr>
          <p:cNvPr id="20" name="Shape 15"/>
          <p:cNvSpPr/>
          <p:nvPr/>
        </p:nvSpPr>
        <p:spPr>
          <a:xfrm>
            <a:off x="8896793" y="1925734"/>
            <a:ext cx="2530033" cy="2457312"/>
          </a:xfrm>
          <a:prstGeom prst="roundRect">
            <a:avLst>
              <a:gd name="adj" fmla="val 5556"/>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21" name="Shape 16"/>
          <p:cNvSpPr/>
          <p:nvPr/>
        </p:nvSpPr>
        <p:spPr>
          <a:xfrm>
            <a:off x="9152863" y="2181805"/>
            <a:ext cx="457200" cy="457200"/>
          </a:xfrm>
          <a:prstGeom prst="roundRect">
            <a:avLst>
              <a:gd name="adj" fmla="val 27778"/>
            </a:avLst>
          </a:prstGeom>
          <a:gradFill rotWithShape="1">
            <a:gsLst>
              <a:gs pos="0">
                <a:srgbClr val="E1F6FD"/>
              </a:gs>
              <a:gs pos="100000">
                <a:srgbClr val="BDEBFA"/>
              </a:gs>
            </a:gsLst>
            <a:lin ang="2700000" scaled="0"/>
          </a:gradFill>
          <a:ln/>
        </p:spPr>
      </p:sp>
      <p:pic>
        <p:nvPicPr>
          <p:cNvPr id="22" name="Image 3" descr="Globe">    </p:cNvPr>
          <p:cNvPicPr>
            <a:picLocks noChangeAspect="1"/>
          </p:cNvPicPr>
          <p:nvPr/>
        </p:nvPicPr>
        <p:blipFill>
          <a:blip r:embed="rId4"/>
          <a:srcRect l="0" r="0" t="0" b="0"/>
          <a:stretch/>
        </p:blipFill>
        <p:spPr>
          <a:xfrm>
            <a:off x="9260785" y="2289727"/>
            <a:ext cx="241272" cy="241272"/>
          </a:xfrm>
          <a:prstGeom prst="rect">
            <a:avLst/>
          </a:prstGeom>
        </p:spPr>
      </p:pic>
      <p:sp>
        <p:nvSpPr>
          <p:cNvPr id="23" name="Text 17"/>
          <p:cNvSpPr/>
          <p:nvPr/>
        </p:nvSpPr>
        <p:spPr>
          <a:xfrm>
            <a:off x="9152863" y="2765977"/>
            <a:ext cx="2078429"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636"/>
                </a:solidFill>
                <a:latin typeface="Be Vietnam Pro" pitchFamily="34" charset="0"/>
                <a:ea typeface="Be Vietnam Pro" pitchFamily="34" charset="-122"/>
                <a:cs typeface="Be Vietnam Pro" pitchFamily="34" charset="-120"/>
              </a:rPr>
              <a:t>Kênh bán hàng</a:t>
            </a:r>
            <a:endParaRPr lang="en-US" sz="1600" dirty="0"/>
          </a:p>
        </p:txBody>
      </p:sp>
      <p:sp>
        <p:nvSpPr>
          <p:cNvPr id="24" name="Text 18"/>
          <p:cNvSpPr/>
          <p:nvPr/>
        </p:nvSpPr>
        <p:spPr>
          <a:xfrm>
            <a:off x="9152863" y="3136706"/>
            <a:ext cx="2078429" cy="768102"/>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B66"/>
                </a:solidFill>
                <a:latin typeface="Be Vietnam Pro" pitchFamily="34" charset="0"/>
                <a:ea typeface="Be Vietnam Pro" pitchFamily="34" charset="-122"/>
                <a:cs typeface="Be Vietnam Pro" pitchFamily="34" charset="-120"/>
              </a:rPr>
              <a:t>Website từ template, đặt hoa theo yêu cầu, thanh toán QR qua SePay</a:t>
            </a:r>
            <a:endParaRPr lang="en-US" sz="1300" dirty="0"/>
          </a:p>
        </p:txBody>
      </p:sp>
      <p:sp>
        <p:nvSpPr>
          <p:cNvPr id="25" name="Text 19"/>
          <p:cNvSpPr/>
          <p:nvPr/>
        </p:nvSpPr>
        <p:spPr>
          <a:xfrm>
            <a:off x="762000" y="4716365"/>
            <a:ext cx="10988041" cy="2564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B66"/>
                </a:solidFill>
                <a:latin typeface="Be Vietnam Pro" pitchFamily="34" charset="0"/>
                <a:ea typeface="Be Vietnam Pro" pitchFamily="34" charset="-122"/>
                <a:cs typeface="Be Vietnam Pro" pitchFamily="34" charset="-120"/>
              </a:rPr>
              <a:t>Chạy trên web, cài được như app trên điện thoại và máy tính bảng · hỗ trợ shop đơn lẻ và chuỗi nhiều chi nhánh</a:t>
            </a:r>
            <a:endParaRPr lang="en-US" sz="1300" dirty="0"/>
          </a:p>
        </p:txBody>
      </p:sp>
      <p:pic>
        <p:nvPicPr>
          <p:cNvPr id="26" name="Image 4" descr="AVI Group">    </p:cNvPr>
          <p:cNvPicPr>
            <a:picLocks noChangeAspect="1"/>
          </p:cNvPicPr>
          <p:nvPr/>
        </p:nvPicPr>
        <p:blipFill>
          <a:blip r:embed="rId5"/>
          <a:srcRect l="-5" r="-5" t="0" b="0"/>
          <a:stretch/>
        </p:blipFill>
        <p:spPr>
          <a:xfrm>
            <a:off x="762000" y="6324682"/>
            <a:ext cx="419100" cy="279372"/>
          </a:xfrm>
          <a:prstGeom prst="rect">
            <a:avLst/>
          </a:prstGeom>
        </p:spPr>
      </p:pic>
      <p:sp>
        <p:nvSpPr>
          <p:cNvPr id="27" name="Text 20"/>
          <p:cNvSpPr/>
          <p:nvPr/>
        </p:nvSpPr>
        <p:spPr>
          <a:xfrm>
            <a:off x="1269972" y="6339839"/>
            <a:ext cx="6540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Florist SaaS · Đề xuất hợp tác</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F4EEE3"/>
              </a:gs>
              <a:gs pos="100000">
                <a:srgbClr val="FBF8F2"/>
              </a:gs>
            </a:gsLst>
            <a:lin ang="5400000" scaled="0"/>
          </a:gradFill>
          <a:ln/>
        </p:spPr>
      </p:sp>
      <p:sp>
        <p:nvSpPr>
          <p:cNvPr id="3" name="Text 1"/>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SẢN PHẨM</a:t>
            </a:r>
            <a:endParaRPr lang="en-US" sz="1200" dirty="0"/>
          </a:p>
        </p:txBody>
      </p:sp>
      <p:sp>
        <p:nvSpPr>
          <p:cNvPr id="4" name="Text 2"/>
          <p:cNvSpPr/>
          <p:nvPr>
            <p:ph type="title"/>
          </p:nvPr>
        </p:nvSpPr>
        <p:spPr>
          <a:xfrm>
            <a:off x="762000" y="1026049"/>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D2636"/>
                </a:solidFill>
                <a:latin typeface="Playfair Display" pitchFamily="18" charset="0"/>
                <a:ea typeface="Playfair Display" pitchFamily="18" charset="-122"/>
                <a:cs typeface="Playfair Display" pitchFamily="18" charset="-120"/>
              </a:rPr>
              <a:t>Sáu tính năng tạo khác biệt</a:t>
            </a:r>
            <a:endParaRPr lang="en-US" sz="3000" dirty="0"/>
          </a:p>
        </p:txBody>
      </p:sp>
      <p:sp>
        <p:nvSpPr>
          <p:cNvPr id="5" name="Shape 3"/>
          <p:cNvSpPr/>
          <p:nvPr/>
        </p:nvSpPr>
        <p:spPr>
          <a:xfrm>
            <a:off x="762000" y="1554314"/>
            <a:ext cx="6096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2000" y="1897214"/>
            <a:ext cx="3437448" cy="1836006"/>
          </a:xfrm>
          <a:prstGeom prst="roundRect">
            <a:avLst>
              <a:gd name="adj" fmla="val 6917"/>
            </a:avLst>
          </a:prstGeom>
          <a:solidFill>
            <a:srgbClr val="FFFFFF"/>
          </a:solidFill>
          <a:ln/>
          <a:effectLst>
            <a:outerShdw sx="100000" sy="100000" kx="0" ky="0" algn="bl" rotWithShape="0" blurRad="215900" dist="88900" dir="5400000">
              <a:srgbClr val="0D2636">
                <a:alpha val="7000"/>
              </a:srgbClr>
            </a:outerShdw>
          </a:effectLst>
        </p:spPr>
      </p:sp>
      <p:sp>
        <p:nvSpPr>
          <p:cNvPr id="7" name="Shape 5"/>
          <p:cNvSpPr/>
          <p:nvPr/>
        </p:nvSpPr>
        <p:spPr>
          <a:xfrm>
            <a:off x="762000" y="1897214"/>
            <a:ext cx="3437448" cy="1836006"/>
          </a:xfrm>
          <a:custGeom>
            <a:avLst/>
            <a:gdLst/>
            <a:ahLst/>
            <a:cxnLst/>
            <a:rect l="l" t="t" r="r" b="b"/>
            <a:pathLst>
              <a:path w="3437448" h="1836006">
                <a:moveTo>
                  <a:pt x="0" y="127000"/>
                </a:moveTo>
                <a:lnTo>
                  <a:pt x="0" y="127000"/>
                </a:lnTo>
                <a:arcTo hR="127000" wR="127000" stAng="10800000" swAng="5400000"/>
                <a:lnTo>
                  <a:pt x="3310448" y="0"/>
                </a:lnTo>
                <a:arcTo hR="127000" wR="127000" stAng="16200000" swAng="5400000"/>
                <a:lnTo>
                  <a:pt x="3437448" y="127000"/>
                </a:lnTo>
                <a:arcTo hR="88900" wR="127000" stAng="0" swAng="-5400000"/>
                <a:lnTo>
                  <a:pt x="127000" y="38100"/>
                </a:lnTo>
                <a:arcTo hR="88900" wR="127000" stAng="16200000" swAng="-5400000"/>
                <a:close/>
              </a:path>
            </a:pathLst>
          </a:custGeom>
          <a:solidFill>
            <a:srgbClr val="03C2F3"/>
          </a:solidFill>
          <a:ln/>
        </p:spPr>
      </p:sp>
      <p:sp>
        <p:nvSpPr>
          <p:cNvPr id="8" name="Text 6"/>
          <p:cNvSpPr/>
          <p:nvPr/>
        </p:nvSpPr>
        <p:spPr>
          <a:xfrm>
            <a:off x="990600" y="2162921"/>
            <a:ext cx="30696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01</a:t>
            </a:r>
            <a:endParaRPr lang="en-US" sz="1200" dirty="0"/>
          </a:p>
        </p:txBody>
      </p:sp>
      <p:sp>
        <p:nvSpPr>
          <p:cNvPr id="9" name="Text 7"/>
          <p:cNvSpPr/>
          <p:nvPr/>
        </p:nvSpPr>
        <p:spPr>
          <a:xfrm>
            <a:off x="990600" y="2465153"/>
            <a:ext cx="3069656"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0D2636"/>
                </a:solidFill>
                <a:latin typeface="Be Vietnam Pro" pitchFamily="34" charset="0"/>
                <a:ea typeface="Be Vietnam Pro" pitchFamily="34" charset="-122"/>
                <a:cs typeface="Be Vietnam Pro" pitchFamily="34" charset="-120"/>
              </a:rPr>
              <a:t>AI ảnh → giá bán</a:t>
            </a:r>
            <a:endParaRPr lang="en-US" sz="1550" dirty="0"/>
          </a:p>
        </p:txBody>
      </p:sp>
      <p:sp>
        <p:nvSpPr>
          <p:cNvPr id="10" name="Text 8"/>
          <p:cNvSpPr/>
          <p:nvPr/>
        </p:nvSpPr>
        <p:spPr>
          <a:xfrm>
            <a:off x="990600" y="2790245"/>
            <a:ext cx="3069656"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Ảnh kèm mô tả (ví dụ “99 bông hồng”) ra thành phần, giá vốn và giá đề xuất.</a:t>
            </a:r>
            <a:endParaRPr lang="en-US" sz="1250" dirty="0"/>
          </a:p>
        </p:txBody>
      </p:sp>
      <p:sp>
        <p:nvSpPr>
          <p:cNvPr id="11" name="Shape 9"/>
          <p:cNvSpPr/>
          <p:nvPr/>
        </p:nvSpPr>
        <p:spPr>
          <a:xfrm>
            <a:off x="4377193" y="1897214"/>
            <a:ext cx="3437531" cy="1836006"/>
          </a:xfrm>
          <a:prstGeom prst="roundRect">
            <a:avLst>
              <a:gd name="adj" fmla="val 6917"/>
            </a:avLst>
          </a:prstGeom>
          <a:solidFill>
            <a:srgbClr val="FFFFFF"/>
          </a:solidFill>
          <a:ln/>
          <a:effectLst>
            <a:outerShdw sx="100000" sy="100000" kx="0" ky="0" algn="bl" rotWithShape="0" blurRad="215900" dist="88900" dir="5400000">
              <a:srgbClr val="0D2636">
                <a:alpha val="7000"/>
              </a:srgbClr>
            </a:outerShdw>
          </a:effectLst>
        </p:spPr>
      </p:sp>
      <p:sp>
        <p:nvSpPr>
          <p:cNvPr id="12" name="Shape 10"/>
          <p:cNvSpPr/>
          <p:nvPr/>
        </p:nvSpPr>
        <p:spPr>
          <a:xfrm>
            <a:off x="4377193" y="1897214"/>
            <a:ext cx="3437531" cy="1836006"/>
          </a:xfrm>
          <a:custGeom>
            <a:avLst/>
            <a:gdLst/>
            <a:ahLst/>
            <a:cxnLst/>
            <a:rect l="l" t="t" r="r" b="b"/>
            <a:pathLst>
              <a:path w="3437531" h="1836006">
                <a:moveTo>
                  <a:pt x="0" y="127000"/>
                </a:moveTo>
                <a:lnTo>
                  <a:pt x="0" y="127000"/>
                </a:lnTo>
                <a:arcTo hR="127000" wR="127000" stAng="10800000" swAng="5400000"/>
                <a:lnTo>
                  <a:pt x="3310531" y="0"/>
                </a:lnTo>
                <a:arcTo hR="127000" wR="127000" stAng="16200000" swAng="5400000"/>
                <a:lnTo>
                  <a:pt x="3437531" y="127000"/>
                </a:lnTo>
                <a:arcTo hR="88900" wR="127000" stAng="0" swAng="-5400000"/>
                <a:lnTo>
                  <a:pt x="127000" y="38100"/>
                </a:lnTo>
                <a:arcTo hR="88900" wR="127000" stAng="16200000" swAng="-5400000"/>
                <a:close/>
              </a:path>
            </a:pathLst>
          </a:custGeom>
          <a:solidFill>
            <a:srgbClr val="EDC68E"/>
          </a:solidFill>
          <a:ln/>
        </p:spPr>
      </p:sp>
      <p:sp>
        <p:nvSpPr>
          <p:cNvPr id="13" name="Text 11"/>
          <p:cNvSpPr/>
          <p:nvPr/>
        </p:nvSpPr>
        <p:spPr>
          <a:xfrm>
            <a:off x="4605793" y="2162921"/>
            <a:ext cx="30697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2"/>
                </a:solidFill>
                <a:latin typeface="Be Vietnam Pro" pitchFamily="34" charset="0"/>
                <a:ea typeface="Be Vietnam Pro" pitchFamily="34" charset="-122"/>
                <a:cs typeface="Be Vietnam Pro" pitchFamily="34" charset="-120"/>
              </a:rPr>
              <a:t>02</a:t>
            </a:r>
            <a:endParaRPr lang="en-US" sz="1200" dirty="0"/>
          </a:p>
        </p:txBody>
      </p:sp>
      <p:sp>
        <p:nvSpPr>
          <p:cNvPr id="14" name="Text 12"/>
          <p:cNvSpPr/>
          <p:nvPr/>
        </p:nvSpPr>
        <p:spPr>
          <a:xfrm>
            <a:off x="4605793" y="2465153"/>
            <a:ext cx="3069741"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0D2636"/>
                </a:solidFill>
                <a:latin typeface="Be Vietnam Pro" pitchFamily="34" charset="0"/>
                <a:ea typeface="Be Vietnam Pro" pitchFamily="34" charset="-122"/>
                <a:cs typeface="Be Vietnam Pro" pitchFamily="34" charset="-120"/>
              </a:rPr>
              <a:t>Chia đơn có SLA</a:t>
            </a:r>
            <a:endParaRPr lang="en-US" sz="1550" dirty="0"/>
          </a:p>
        </p:txBody>
      </p:sp>
      <p:sp>
        <p:nvSpPr>
          <p:cNvPr id="15" name="Text 13"/>
          <p:cNvSpPr/>
          <p:nvPr/>
        </p:nvSpPr>
        <p:spPr>
          <a:xfrm>
            <a:off x="4605793" y="2790245"/>
            <a:ext cx="3069741"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Đơn Avi đến đúng chi nhánh, xác nhận có hạn, tự chuyển tiếp, cảnh báo trễ.</a:t>
            </a:r>
            <a:endParaRPr lang="en-US" sz="1250" dirty="0"/>
          </a:p>
        </p:txBody>
      </p:sp>
      <p:sp>
        <p:nvSpPr>
          <p:cNvPr id="16" name="Shape 14"/>
          <p:cNvSpPr/>
          <p:nvPr/>
        </p:nvSpPr>
        <p:spPr>
          <a:xfrm>
            <a:off x="7992470" y="1897214"/>
            <a:ext cx="3437531" cy="1836006"/>
          </a:xfrm>
          <a:prstGeom prst="roundRect">
            <a:avLst>
              <a:gd name="adj" fmla="val 6917"/>
            </a:avLst>
          </a:prstGeom>
          <a:solidFill>
            <a:srgbClr val="FFFFFF"/>
          </a:solidFill>
          <a:ln/>
          <a:effectLst>
            <a:outerShdw sx="100000" sy="100000" kx="0" ky="0" algn="bl" rotWithShape="0" blurRad="215900" dist="88900" dir="5400000">
              <a:srgbClr val="0D2636">
                <a:alpha val="7000"/>
              </a:srgbClr>
            </a:outerShdw>
          </a:effectLst>
        </p:spPr>
      </p:sp>
      <p:sp>
        <p:nvSpPr>
          <p:cNvPr id="17" name="Shape 15"/>
          <p:cNvSpPr/>
          <p:nvPr/>
        </p:nvSpPr>
        <p:spPr>
          <a:xfrm>
            <a:off x="7992470" y="1897214"/>
            <a:ext cx="3437531" cy="1836006"/>
          </a:xfrm>
          <a:custGeom>
            <a:avLst/>
            <a:gdLst/>
            <a:ahLst/>
            <a:cxnLst/>
            <a:rect l="l" t="t" r="r" b="b"/>
            <a:pathLst>
              <a:path w="3437531" h="1836006">
                <a:moveTo>
                  <a:pt x="0" y="127000"/>
                </a:moveTo>
                <a:lnTo>
                  <a:pt x="0" y="127000"/>
                </a:lnTo>
                <a:arcTo hR="127000" wR="127000" stAng="10800000" swAng="5400000"/>
                <a:lnTo>
                  <a:pt x="3310531" y="0"/>
                </a:lnTo>
                <a:arcTo hR="127000" wR="127000" stAng="16200000" swAng="5400000"/>
                <a:lnTo>
                  <a:pt x="3437531" y="127000"/>
                </a:lnTo>
                <a:arcTo hR="88900" wR="127000" stAng="0" swAng="-5400000"/>
                <a:lnTo>
                  <a:pt x="127000" y="38100"/>
                </a:lnTo>
                <a:arcTo hR="88900" wR="127000" stAng="16200000" swAng="-5400000"/>
                <a:close/>
              </a:path>
            </a:pathLst>
          </a:custGeom>
          <a:solidFill>
            <a:srgbClr val="FEEF2E"/>
          </a:solidFill>
          <a:ln/>
        </p:spPr>
      </p:sp>
      <p:sp>
        <p:nvSpPr>
          <p:cNvPr id="18" name="Text 16"/>
          <p:cNvSpPr/>
          <p:nvPr/>
        </p:nvSpPr>
        <p:spPr>
          <a:xfrm>
            <a:off x="8221070" y="2162921"/>
            <a:ext cx="30697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2"/>
                </a:solidFill>
                <a:latin typeface="Be Vietnam Pro" pitchFamily="34" charset="0"/>
                <a:ea typeface="Be Vietnam Pro" pitchFamily="34" charset="-122"/>
                <a:cs typeface="Be Vietnam Pro" pitchFamily="34" charset="-120"/>
              </a:rPr>
              <a:t>03</a:t>
            </a:r>
            <a:endParaRPr lang="en-US" sz="1200" dirty="0"/>
          </a:p>
        </p:txBody>
      </p:sp>
      <p:sp>
        <p:nvSpPr>
          <p:cNvPr id="19" name="Text 17"/>
          <p:cNvSpPr/>
          <p:nvPr/>
        </p:nvSpPr>
        <p:spPr>
          <a:xfrm>
            <a:off x="8221070" y="2465153"/>
            <a:ext cx="3069741"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0D2636"/>
                </a:solidFill>
                <a:latin typeface="Be Vietnam Pro" pitchFamily="34" charset="0"/>
                <a:ea typeface="Be Vietnam Pro" pitchFamily="34" charset="-122"/>
                <a:cs typeface="Be Vietnam Pro" pitchFamily="34" charset="-120"/>
              </a:rPr>
              <a:t>Ví hoa hồng</a:t>
            </a:r>
            <a:endParaRPr lang="en-US" sz="1550" dirty="0"/>
          </a:p>
        </p:txBody>
      </p:sp>
      <p:sp>
        <p:nvSpPr>
          <p:cNvPr id="20" name="Text 18"/>
          <p:cNvSpPr/>
          <p:nvPr/>
        </p:nvSpPr>
        <p:spPr>
          <a:xfrm>
            <a:off x="8221070" y="2790245"/>
            <a:ext cx="3069741"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Hoa hồng từng đơn vào ví của chuỗi, biết chi nhánh nào làm ra, rút theo khung giờ.</a:t>
            </a:r>
            <a:endParaRPr lang="en-US" sz="1250" dirty="0"/>
          </a:p>
        </p:txBody>
      </p:sp>
      <p:sp>
        <p:nvSpPr>
          <p:cNvPr id="21" name="Shape 19"/>
          <p:cNvSpPr/>
          <p:nvPr/>
        </p:nvSpPr>
        <p:spPr>
          <a:xfrm>
            <a:off x="762000" y="3910964"/>
            <a:ext cx="3437448" cy="1597881"/>
          </a:xfrm>
          <a:prstGeom prst="roundRect">
            <a:avLst>
              <a:gd name="adj" fmla="val 7948"/>
            </a:avLst>
          </a:prstGeom>
          <a:solidFill>
            <a:srgbClr val="FFFFFF"/>
          </a:solidFill>
          <a:ln/>
          <a:effectLst>
            <a:outerShdw sx="100000" sy="100000" kx="0" ky="0" algn="bl" rotWithShape="0" blurRad="215900" dist="88900" dir="5400000">
              <a:srgbClr val="0D2636">
                <a:alpha val="7000"/>
              </a:srgbClr>
            </a:outerShdw>
          </a:effectLst>
        </p:spPr>
      </p:sp>
      <p:sp>
        <p:nvSpPr>
          <p:cNvPr id="22" name="Shape 20"/>
          <p:cNvSpPr/>
          <p:nvPr/>
        </p:nvSpPr>
        <p:spPr>
          <a:xfrm>
            <a:off x="762000" y="3910964"/>
            <a:ext cx="3437448" cy="1597881"/>
          </a:xfrm>
          <a:custGeom>
            <a:avLst/>
            <a:gdLst/>
            <a:ahLst/>
            <a:cxnLst/>
            <a:rect l="l" t="t" r="r" b="b"/>
            <a:pathLst>
              <a:path w="3437448" h="1597881">
                <a:moveTo>
                  <a:pt x="0" y="127000"/>
                </a:moveTo>
                <a:lnTo>
                  <a:pt x="0" y="127000"/>
                </a:lnTo>
                <a:arcTo hR="127000" wR="127000" stAng="10800000" swAng="5400000"/>
                <a:lnTo>
                  <a:pt x="3310448" y="0"/>
                </a:lnTo>
                <a:arcTo hR="127000" wR="127000" stAng="16200000" swAng="5400000"/>
                <a:lnTo>
                  <a:pt x="3437448" y="127000"/>
                </a:lnTo>
                <a:arcTo hR="88900" wR="127000" stAng="0" swAng="-5400000"/>
                <a:lnTo>
                  <a:pt x="127000" y="38100"/>
                </a:lnTo>
                <a:arcTo hR="88900" wR="127000" stAng="16200000" swAng="-5400000"/>
                <a:close/>
              </a:path>
            </a:pathLst>
          </a:custGeom>
          <a:solidFill>
            <a:srgbClr val="EDC68E"/>
          </a:solidFill>
          <a:ln/>
        </p:spPr>
      </p:sp>
      <p:sp>
        <p:nvSpPr>
          <p:cNvPr id="23" name="Text 21"/>
          <p:cNvSpPr/>
          <p:nvPr/>
        </p:nvSpPr>
        <p:spPr>
          <a:xfrm>
            <a:off x="990600" y="4176671"/>
            <a:ext cx="30696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2"/>
                </a:solidFill>
                <a:latin typeface="Be Vietnam Pro" pitchFamily="34" charset="0"/>
                <a:ea typeface="Be Vietnam Pro" pitchFamily="34" charset="-122"/>
                <a:cs typeface="Be Vietnam Pro" pitchFamily="34" charset="-120"/>
              </a:rPr>
              <a:t>04</a:t>
            </a:r>
            <a:endParaRPr lang="en-US" sz="1200" dirty="0"/>
          </a:p>
        </p:txBody>
      </p:sp>
      <p:sp>
        <p:nvSpPr>
          <p:cNvPr id="24" name="Text 22"/>
          <p:cNvSpPr/>
          <p:nvPr/>
        </p:nvSpPr>
        <p:spPr>
          <a:xfrm>
            <a:off x="990600" y="4478903"/>
            <a:ext cx="3069656"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0D2636"/>
                </a:solidFill>
                <a:latin typeface="Be Vietnam Pro" pitchFamily="34" charset="0"/>
                <a:ea typeface="Be Vietnam Pro" pitchFamily="34" charset="-122"/>
                <a:cs typeface="Be Vietnam Pro" pitchFamily="34" charset="-120"/>
              </a:rPr>
              <a:t>Thẻ sản phẩm, QR</a:t>
            </a:r>
            <a:endParaRPr lang="en-US" sz="1550" dirty="0"/>
          </a:p>
        </p:txBody>
      </p:sp>
      <p:sp>
        <p:nvSpPr>
          <p:cNvPr id="25" name="Text 23"/>
          <p:cNvSpPr/>
          <p:nvPr/>
        </p:nvSpPr>
        <p:spPr>
          <a:xfrm>
            <a:off x="990600" y="4803995"/>
            <a:ext cx="3069656"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Lọc sản phẩm thành thẻ gửi khách; link và QR tồn tại tới khi shop xóa.</a:t>
            </a:r>
            <a:endParaRPr lang="en-US" sz="1250" dirty="0"/>
          </a:p>
        </p:txBody>
      </p:sp>
      <p:sp>
        <p:nvSpPr>
          <p:cNvPr id="26" name="Shape 24"/>
          <p:cNvSpPr/>
          <p:nvPr/>
        </p:nvSpPr>
        <p:spPr>
          <a:xfrm>
            <a:off x="4377193" y="3910964"/>
            <a:ext cx="3437531" cy="1597881"/>
          </a:xfrm>
          <a:prstGeom prst="roundRect">
            <a:avLst>
              <a:gd name="adj" fmla="val 7948"/>
            </a:avLst>
          </a:prstGeom>
          <a:solidFill>
            <a:srgbClr val="FFFFFF"/>
          </a:solidFill>
          <a:ln/>
          <a:effectLst>
            <a:outerShdw sx="100000" sy="100000" kx="0" ky="0" algn="bl" rotWithShape="0" blurRad="215900" dist="88900" dir="5400000">
              <a:srgbClr val="0D2636">
                <a:alpha val="7000"/>
              </a:srgbClr>
            </a:outerShdw>
          </a:effectLst>
        </p:spPr>
      </p:sp>
      <p:sp>
        <p:nvSpPr>
          <p:cNvPr id="27" name="Shape 25"/>
          <p:cNvSpPr/>
          <p:nvPr/>
        </p:nvSpPr>
        <p:spPr>
          <a:xfrm>
            <a:off x="4377193" y="3910964"/>
            <a:ext cx="3437531" cy="1597881"/>
          </a:xfrm>
          <a:custGeom>
            <a:avLst/>
            <a:gdLst/>
            <a:ahLst/>
            <a:cxnLst/>
            <a:rect l="l" t="t" r="r" b="b"/>
            <a:pathLst>
              <a:path w="3437531" h="1597881">
                <a:moveTo>
                  <a:pt x="0" y="127000"/>
                </a:moveTo>
                <a:lnTo>
                  <a:pt x="0" y="127000"/>
                </a:lnTo>
                <a:arcTo hR="127000" wR="127000" stAng="10800000" swAng="5400000"/>
                <a:lnTo>
                  <a:pt x="3310531" y="0"/>
                </a:lnTo>
                <a:arcTo hR="127000" wR="127000" stAng="16200000" swAng="5400000"/>
                <a:lnTo>
                  <a:pt x="3437531" y="127000"/>
                </a:lnTo>
                <a:arcTo hR="88900" wR="127000" stAng="0" swAng="-5400000"/>
                <a:lnTo>
                  <a:pt x="127000" y="38100"/>
                </a:lnTo>
                <a:arcTo hR="88900" wR="127000" stAng="16200000" swAng="-5400000"/>
                <a:close/>
              </a:path>
            </a:pathLst>
          </a:custGeom>
          <a:solidFill>
            <a:srgbClr val="03C2F3"/>
          </a:solidFill>
          <a:ln/>
        </p:spPr>
      </p:sp>
      <p:sp>
        <p:nvSpPr>
          <p:cNvPr id="28" name="Text 26"/>
          <p:cNvSpPr/>
          <p:nvPr/>
        </p:nvSpPr>
        <p:spPr>
          <a:xfrm>
            <a:off x="4605793" y="4176671"/>
            <a:ext cx="30697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05</a:t>
            </a:r>
            <a:endParaRPr lang="en-US" sz="1200" dirty="0"/>
          </a:p>
        </p:txBody>
      </p:sp>
      <p:sp>
        <p:nvSpPr>
          <p:cNvPr id="29" name="Text 27"/>
          <p:cNvSpPr/>
          <p:nvPr/>
        </p:nvSpPr>
        <p:spPr>
          <a:xfrm>
            <a:off x="4605793" y="4478903"/>
            <a:ext cx="3069741"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0D2636"/>
                </a:solidFill>
                <a:latin typeface="Be Vietnam Pro" pitchFamily="34" charset="0"/>
                <a:ea typeface="Be Vietnam Pro" pitchFamily="34" charset="-122"/>
                <a:cs typeface="Be Vietnam Pro" pitchFamily="34" charset="-120"/>
              </a:rPr>
              <a:t>Đặt hoa theo yêu cầu</a:t>
            </a:r>
            <a:endParaRPr lang="en-US" sz="1550" dirty="0"/>
          </a:p>
        </p:txBody>
      </p:sp>
      <p:sp>
        <p:nvSpPr>
          <p:cNvPr id="30" name="Text 28"/>
          <p:cNvSpPr/>
          <p:nvPr/>
        </p:nvSpPr>
        <p:spPr>
          <a:xfrm>
            <a:off x="4605793" y="4803995"/>
            <a:ext cx="3069741"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Khách gửi ảnh và mô tả trên landing; AI phân tích, shop báo giá.</a:t>
            </a:r>
            <a:endParaRPr lang="en-US" sz="1250" dirty="0"/>
          </a:p>
        </p:txBody>
      </p:sp>
      <p:sp>
        <p:nvSpPr>
          <p:cNvPr id="31" name="Shape 29"/>
          <p:cNvSpPr/>
          <p:nvPr/>
        </p:nvSpPr>
        <p:spPr>
          <a:xfrm>
            <a:off x="7992470" y="3910964"/>
            <a:ext cx="3437531" cy="1597881"/>
          </a:xfrm>
          <a:prstGeom prst="roundRect">
            <a:avLst>
              <a:gd name="adj" fmla="val 7948"/>
            </a:avLst>
          </a:prstGeom>
          <a:solidFill>
            <a:srgbClr val="FFFFFF"/>
          </a:solidFill>
          <a:ln/>
          <a:effectLst>
            <a:outerShdw sx="100000" sy="100000" kx="0" ky="0" algn="bl" rotWithShape="0" blurRad="215900" dist="88900" dir="5400000">
              <a:srgbClr val="0D2636">
                <a:alpha val="7000"/>
              </a:srgbClr>
            </a:outerShdw>
          </a:effectLst>
        </p:spPr>
      </p:sp>
      <p:sp>
        <p:nvSpPr>
          <p:cNvPr id="32" name="Shape 30"/>
          <p:cNvSpPr/>
          <p:nvPr/>
        </p:nvSpPr>
        <p:spPr>
          <a:xfrm>
            <a:off x="7992470" y="3910964"/>
            <a:ext cx="3437531" cy="1597881"/>
          </a:xfrm>
          <a:custGeom>
            <a:avLst/>
            <a:gdLst/>
            <a:ahLst/>
            <a:cxnLst/>
            <a:rect l="l" t="t" r="r" b="b"/>
            <a:pathLst>
              <a:path w="3437531" h="1597881">
                <a:moveTo>
                  <a:pt x="0" y="127000"/>
                </a:moveTo>
                <a:lnTo>
                  <a:pt x="0" y="127000"/>
                </a:lnTo>
                <a:arcTo hR="127000" wR="127000" stAng="10800000" swAng="5400000"/>
                <a:lnTo>
                  <a:pt x="3310531" y="0"/>
                </a:lnTo>
                <a:arcTo hR="127000" wR="127000" stAng="16200000" swAng="5400000"/>
                <a:lnTo>
                  <a:pt x="3437531" y="127000"/>
                </a:lnTo>
                <a:arcTo hR="88900" wR="127000" stAng="0" swAng="-5400000"/>
                <a:lnTo>
                  <a:pt x="127000" y="38100"/>
                </a:lnTo>
                <a:arcTo hR="88900" wR="127000" stAng="16200000" swAng="-5400000"/>
                <a:close/>
              </a:path>
            </a:pathLst>
          </a:custGeom>
          <a:solidFill>
            <a:srgbClr val="FEEF2E"/>
          </a:solidFill>
          <a:ln/>
        </p:spPr>
      </p:sp>
      <p:sp>
        <p:nvSpPr>
          <p:cNvPr id="33" name="Text 31"/>
          <p:cNvSpPr/>
          <p:nvPr/>
        </p:nvSpPr>
        <p:spPr>
          <a:xfrm>
            <a:off x="8221070" y="4176671"/>
            <a:ext cx="306974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2"/>
                </a:solidFill>
                <a:latin typeface="Be Vietnam Pro" pitchFamily="34" charset="0"/>
                <a:ea typeface="Be Vietnam Pro" pitchFamily="34" charset="-122"/>
                <a:cs typeface="Be Vietnam Pro" pitchFamily="34" charset="-120"/>
              </a:rPr>
              <a:t>06</a:t>
            </a:r>
            <a:endParaRPr lang="en-US" sz="1200" dirty="0"/>
          </a:p>
        </p:txBody>
      </p:sp>
      <p:sp>
        <p:nvSpPr>
          <p:cNvPr id="34" name="Text 32"/>
          <p:cNvSpPr/>
          <p:nvPr/>
        </p:nvSpPr>
        <p:spPr>
          <a:xfrm>
            <a:off x="8221070" y="4478903"/>
            <a:ext cx="3069741" cy="261620"/>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0D2636"/>
                </a:solidFill>
                <a:latin typeface="Be Vietnam Pro" pitchFamily="34" charset="0"/>
                <a:ea typeface="Be Vietnam Pro" pitchFamily="34" charset="-122"/>
                <a:cs typeface="Be Vietnam Pro" pitchFamily="34" charset="-120"/>
              </a:rPr>
              <a:t>Thanh toán linh hoạt</a:t>
            </a:r>
            <a:endParaRPr lang="en-US" sz="1550" dirty="0"/>
          </a:p>
        </p:txBody>
      </p:sp>
      <p:sp>
        <p:nvSpPr>
          <p:cNvPr id="35" name="Text 33"/>
          <p:cNvSpPr/>
          <p:nvPr/>
        </p:nvSpPr>
        <p:spPr>
          <a:xfrm>
            <a:off x="8221070" y="4803995"/>
            <a:ext cx="3069741"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Trả một lần, đặt cọc hoặc thanh toán ngoài; QR SePay tự xác nhận.</a:t>
            </a:r>
            <a:endParaRPr lang="en-US" sz="1250" dirty="0"/>
          </a:p>
        </p:txBody>
      </p:sp>
      <p:pic>
        <p:nvPicPr>
          <p:cNvPr id="36" name="Image 0" descr="AVI Group">    </p:cNvPr>
          <p:cNvPicPr>
            <a:picLocks noChangeAspect="1"/>
          </p:cNvPicPr>
          <p:nvPr/>
        </p:nvPicPr>
        <p:blipFill>
          <a:blip r:embed="rId1"/>
          <a:srcRect l="-5" r="-5" t="0" b="0"/>
          <a:stretch/>
        </p:blipFill>
        <p:spPr>
          <a:xfrm>
            <a:off x="762000" y="6324682"/>
            <a:ext cx="419100" cy="279372"/>
          </a:xfrm>
          <a:prstGeom prst="rect">
            <a:avLst/>
          </a:prstGeom>
        </p:spPr>
      </p:pic>
      <p:sp>
        <p:nvSpPr>
          <p:cNvPr id="37" name="Text 34"/>
          <p:cNvSpPr/>
          <p:nvPr/>
        </p:nvSpPr>
        <p:spPr>
          <a:xfrm>
            <a:off x="1269972" y="6339841"/>
            <a:ext cx="6540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Florist SaaS · Đề xuất hợp tác</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LUỒNG ĐƠN ĐIỆN HOA</a:t>
            </a:r>
            <a:endParaRPr lang="en-US" sz="1200" dirty="0"/>
          </a:p>
        </p:txBody>
      </p:sp>
      <p:sp>
        <p:nvSpPr>
          <p:cNvPr id="3" name="Text 1"/>
          <p:cNvSpPr/>
          <p:nvPr>
            <p:ph type="title"/>
          </p:nvPr>
        </p:nvSpPr>
        <p:spPr>
          <a:xfrm>
            <a:off x="762000" y="1026049"/>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D2636"/>
                </a:solidFill>
                <a:latin typeface="Playfair Display" pitchFamily="18" charset="0"/>
                <a:ea typeface="Playfair Display" pitchFamily="18" charset="-122"/>
                <a:cs typeface="Playfair Display" pitchFamily="18" charset="-120"/>
              </a:rPr>
              <a:t>Một đơn Avi đi qua sáu bước, có kiểm soát thời gian</a:t>
            </a:r>
            <a:endParaRPr lang="en-US" sz="3000" dirty="0"/>
          </a:p>
        </p:txBody>
      </p:sp>
      <p:sp>
        <p:nvSpPr>
          <p:cNvPr id="4" name="Shape 2"/>
          <p:cNvSpPr/>
          <p:nvPr/>
        </p:nvSpPr>
        <p:spPr>
          <a:xfrm>
            <a:off x="762000" y="1554314"/>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2134952"/>
            <a:ext cx="1487750" cy="967933"/>
          </a:xfrm>
          <a:prstGeom prst="roundRect">
            <a:avLst>
              <a:gd name="adj" fmla="val 12793"/>
            </a:avLst>
          </a:prstGeom>
          <a:solidFill>
            <a:srgbClr val="FFFFFF"/>
          </a:solidFill>
          <a:ln w="6350">
            <a:solidFill>
              <a:srgbClr val="EFE4D2"/>
            </a:solidFill>
            <a:prstDash val="solid"/>
          </a:ln>
          <a:effectLst>
            <a:outerShdw sx="100000" sy="100000" kx="0" ky="0" algn="bl" rotWithShape="0" blurRad="190500" dist="76200" dir="5400000">
              <a:srgbClr val="0D2636">
                <a:alpha val="7000"/>
              </a:srgbClr>
            </a:outerShdw>
          </a:effectLst>
        </p:spPr>
      </p:sp>
      <p:sp>
        <p:nvSpPr>
          <p:cNvPr id="6" name="Text 4"/>
          <p:cNvSpPr/>
          <p:nvPr/>
        </p:nvSpPr>
        <p:spPr>
          <a:xfrm>
            <a:off x="932373" y="2302151"/>
            <a:ext cx="330145" cy="330145"/>
          </a:xfrm>
          <a:custGeom>
            <a:avLst/>
            <a:gdLst/>
            <a:ahLst/>
            <a:cxnLst/>
            <a:rect l="l" t="t" r="r" b="b"/>
            <a:pathLst>
              <a:path w="330145" h="330145">
                <a:moveTo>
                  <a:pt x="165072" y="0"/>
                </a:moveTo>
                <a:lnTo>
                  <a:pt x="165072" y="0"/>
                </a:lnTo>
                <a:arcTo hR="165072" wR="165072" stAng="16200000" swAng="5400000"/>
                <a:lnTo>
                  <a:pt x="330145" y="165072"/>
                </a:lnTo>
                <a:arcTo hR="165072" wR="165072" stAng="0" swAng="5400000"/>
                <a:lnTo>
                  <a:pt x="165072" y="330145"/>
                </a:lnTo>
                <a:arcTo hR="165072" wR="165072" stAng="5400000" swAng="5400000"/>
                <a:lnTo>
                  <a:pt x="0" y="165072"/>
                </a:lnTo>
                <a:arcTo hR="165072" wR="165072"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604"/>
              </a:lnSpc>
              <a:buNone/>
            </a:pPr>
            <a:r>
              <a:rPr lang="en-US" sz="1200" b="1" dirty="0">
                <a:solidFill>
                  <a:srgbClr val="FFFFFF"/>
                </a:solidFill>
                <a:latin typeface="Be Vietnam Pro" pitchFamily="34" charset="0"/>
                <a:ea typeface="Be Vietnam Pro" pitchFamily="34" charset="-122"/>
                <a:cs typeface="Be Vietnam Pro" pitchFamily="34" charset="-120"/>
              </a:rPr>
              <a:t>1</a:t>
            </a:r>
            <a:endParaRPr lang="en-US" sz="1200" dirty="0"/>
          </a:p>
        </p:txBody>
      </p:sp>
      <p:sp>
        <p:nvSpPr>
          <p:cNvPr id="7" name="Text 5"/>
          <p:cNvSpPr/>
          <p:nvPr/>
        </p:nvSpPr>
        <p:spPr>
          <a:xfrm>
            <a:off x="932373" y="2721167"/>
            <a:ext cx="1204153" cy="23992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D2636"/>
                </a:solidFill>
                <a:latin typeface="Be Vietnam Pro" pitchFamily="34" charset="0"/>
                <a:ea typeface="Be Vietnam Pro" pitchFamily="34" charset="-122"/>
                <a:cs typeface="Be Vietnam Pro" pitchFamily="34" charset="-120"/>
              </a:rPr>
              <a:t>Avi đẩy đơn</a:t>
            </a:r>
            <a:endParaRPr lang="en-US" sz="1300" dirty="0"/>
          </a:p>
        </p:txBody>
      </p:sp>
      <p:pic>
        <p:nvPicPr>
          <p:cNvPr id="8" name="Image 0" descr="arrow-right">    </p:cNvPr>
          <p:cNvPicPr>
            <a:picLocks noChangeAspect="1"/>
          </p:cNvPicPr>
          <p:nvPr/>
        </p:nvPicPr>
        <p:blipFill>
          <a:blip r:embed="rId1"/>
          <a:srcRect l="0" r="0" t="-2" b="-2"/>
          <a:stretch/>
        </p:blipFill>
        <p:spPr>
          <a:xfrm>
            <a:off x="2319545" y="2555432"/>
            <a:ext cx="215845" cy="126972"/>
          </a:xfrm>
          <a:prstGeom prst="rect">
            <a:avLst/>
          </a:prstGeom>
        </p:spPr>
      </p:pic>
      <p:sp>
        <p:nvSpPr>
          <p:cNvPr id="9" name="Shape 6"/>
          <p:cNvSpPr/>
          <p:nvPr/>
        </p:nvSpPr>
        <p:spPr>
          <a:xfrm>
            <a:off x="2602009" y="2027693"/>
            <a:ext cx="1487833" cy="1182453"/>
          </a:xfrm>
          <a:prstGeom prst="roundRect">
            <a:avLst>
              <a:gd name="adj" fmla="val 10472"/>
            </a:avLst>
          </a:prstGeom>
          <a:solidFill>
            <a:srgbClr val="FFFFFF"/>
          </a:solidFill>
          <a:ln w="6350">
            <a:solidFill>
              <a:srgbClr val="EFE4D2"/>
            </a:solidFill>
            <a:prstDash val="solid"/>
          </a:ln>
          <a:effectLst>
            <a:outerShdw sx="100000" sy="100000" kx="0" ky="0" algn="bl" rotWithShape="0" blurRad="190500" dist="76200" dir="5400000">
              <a:srgbClr val="0D2636">
                <a:alpha val="7000"/>
              </a:srgbClr>
            </a:outerShdw>
          </a:effectLst>
        </p:spPr>
      </p:sp>
      <p:sp>
        <p:nvSpPr>
          <p:cNvPr id="10" name="Text 7"/>
          <p:cNvSpPr/>
          <p:nvPr/>
        </p:nvSpPr>
        <p:spPr>
          <a:xfrm>
            <a:off x="2769208" y="2194889"/>
            <a:ext cx="330145" cy="330145"/>
          </a:xfrm>
          <a:custGeom>
            <a:avLst/>
            <a:gdLst/>
            <a:ahLst/>
            <a:cxnLst/>
            <a:rect l="l" t="t" r="r" b="b"/>
            <a:pathLst>
              <a:path w="330145" h="330145">
                <a:moveTo>
                  <a:pt x="165072" y="0"/>
                </a:moveTo>
                <a:lnTo>
                  <a:pt x="165072" y="0"/>
                </a:lnTo>
                <a:arcTo hR="165072" wR="165072" stAng="16200000" swAng="5400000"/>
                <a:lnTo>
                  <a:pt x="330145" y="165072"/>
                </a:lnTo>
                <a:arcTo hR="165072" wR="165072" stAng="0" swAng="5400000"/>
                <a:lnTo>
                  <a:pt x="165072" y="330145"/>
                </a:lnTo>
                <a:arcTo hR="165072" wR="165072" stAng="5400000" swAng="5400000"/>
                <a:lnTo>
                  <a:pt x="0" y="165072"/>
                </a:lnTo>
                <a:arcTo hR="165072" wR="165072"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604"/>
              </a:lnSpc>
              <a:buNone/>
            </a:pPr>
            <a:r>
              <a:rPr lang="en-US" sz="1200" b="1" dirty="0">
                <a:solidFill>
                  <a:srgbClr val="FFFFFF"/>
                </a:solidFill>
                <a:latin typeface="Be Vietnam Pro" pitchFamily="34" charset="0"/>
                <a:ea typeface="Be Vietnam Pro" pitchFamily="34" charset="-122"/>
                <a:cs typeface="Be Vietnam Pro" pitchFamily="34" charset="-120"/>
              </a:rPr>
              <a:t>2</a:t>
            </a:r>
            <a:endParaRPr lang="en-US" sz="1200" dirty="0"/>
          </a:p>
        </p:txBody>
      </p:sp>
      <p:sp>
        <p:nvSpPr>
          <p:cNvPr id="11" name="Text 8"/>
          <p:cNvSpPr/>
          <p:nvPr/>
        </p:nvSpPr>
        <p:spPr>
          <a:xfrm>
            <a:off x="2769208" y="2613909"/>
            <a:ext cx="1204236" cy="45443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D2636"/>
                </a:solidFill>
                <a:latin typeface="Be Vietnam Pro" pitchFamily="34" charset="0"/>
                <a:ea typeface="Be Vietnam Pro" pitchFamily="34" charset="-122"/>
                <a:cs typeface="Be Vietnam Pro" pitchFamily="34" charset="-120"/>
              </a:rPr>
              <a:t>Chia theo khoảng cách</a:t>
            </a:r>
            <a:endParaRPr lang="en-US" sz="1300" dirty="0"/>
          </a:p>
        </p:txBody>
      </p:sp>
      <p:pic>
        <p:nvPicPr>
          <p:cNvPr id="12" name="Image 1" descr="arrow-right">    </p:cNvPr>
          <p:cNvPicPr>
            <a:picLocks noChangeAspect="1"/>
          </p:cNvPicPr>
          <p:nvPr/>
        </p:nvPicPr>
        <p:blipFill>
          <a:blip r:embed="rId2"/>
          <a:srcRect l="0" r="0" t="-2" b="-2"/>
          <a:stretch/>
        </p:blipFill>
        <p:spPr>
          <a:xfrm>
            <a:off x="4156462" y="2555432"/>
            <a:ext cx="215845" cy="126972"/>
          </a:xfrm>
          <a:prstGeom prst="rect">
            <a:avLst/>
          </a:prstGeom>
        </p:spPr>
      </p:pic>
      <p:sp>
        <p:nvSpPr>
          <p:cNvPr id="13" name="Shape 9"/>
          <p:cNvSpPr/>
          <p:nvPr/>
        </p:nvSpPr>
        <p:spPr>
          <a:xfrm>
            <a:off x="4435751" y="1922559"/>
            <a:ext cx="1483498" cy="1392721"/>
          </a:xfrm>
          <a:prstGeom prst="roundRect">
            <a:avLst>
              <a:gd name="adj" fmla="val 9119"/>
            </a:avLst>
          </a:prstGeom>
          <a:gradFill rotWithShape="1">
            <a:gsLst>
              <a:gs pos="0">
                <a:srgbClr val="0D2636"/>
              </a:gs>
              <a:gs pos="100000">
                <a:srgbClr val="135A79"/>
              </a:gs>
            </a:gsLst>
            <a:lin ang="3600000" scaled="0"/>
          </a:gradFill>
          <a:ln/>
          <a:effectLst>
            <a:outerShdw sx="100000" sy="100000" kx="0" ky="0" algn="bl" rotWithShape="0" blurRad="254000" dist="114300" dir="5400000">
              <a:srgbClr val="0D2636">
                <a:alpha val="22000"/>
              </a:srgbClr>
            </a:outerShdw>
          </a:effectLst>
        </p:spPr>
      </p:sp>
      <p:sp>
        <p:nvSpPr>
          <p:cNvPr id="14" name="Text 10"/>
          <p:cNvSpPr/>
          <p:nvPr/>
        </p:nvSpPr>
        <p:spPr>
          <a:xfrm>
            <a:off x="4600824" y="2087631"/>
            <a:ext cx="330145" cy="330145"/>
          </a:xfrm>
          <a:custGeom>
            <a:avLst/>
            <a:gdLst/>
            <a:ahLst/>
            <a:cxnLst/>
            <a:rect l="l" t="t" r="r" b="b"/>
            <a:pathLst>
              <a:path w="330145" h="330145">
                <a:moveTo>
                  <a:pt x="165072" y="0"/>
                </a:moveTo>
                <a:lnTo>
                  <a:pt x="165072" y="0"/>
                </a:lnTo>
                <a:arcTo hR="165072" wR="165072" stAng="16200000" swAng="5400000"/>
                <a:lnTo>
                  <a:pt x="330145" y="165072"/>
                </a:lnTo>
                <a:arcTo hR="165072" wR="165072" stAng="0" swAng="5400000"/>
                <a:lnTo>
                  <a:pt x="165072" y="330145"/>
                </a:lnTo>
                <a:arcTo hR="165072" wR="165072" stAng="5400000" swAng="5400000"/>
                <a:lnTo>
                  <a:pt x="0" y="165072"/>
                </a:lnTo>
                <a:arcTo hR="165072" wR="165072" stAng="10800000" swAng="5400000"/>
                <a:close/>
              </a:path>
            </a:pathLst>
          </a:custGeom>
          <a:gradFill rotWithShape="1">
            <a:gsLst>
              <a:gs pos="0">
                <a:srgbClr val="FEEF2E"/>
              </a:gs>
              <a:gs pos="100000">
                <a:srgbClr val="EDC68E"/>
              </a:gs>
            </a:gsLst>
            <a:lin ang="2700000" scaled="0"/>
          </a:gradFill>
          <a:ln/>
        </p:spPr>
        <p:txBody>
          <a:bodyPr wrap="square" lIns="0" tIns="0" rIns="0" bIns="0" rtlCol="0" anchor="t">
            <a:normAutofit/>
          </a:bodyPr>
          <a:lstStyle/>
          <a:p>
            <a:pPr algn="ctr" indent="0" marL="0">
              <a:lnSpc>
                <a:spcPts val="2604"/>
              </a:lnSpc>
              <a:buNone/>
            </a:pPr>
            <a:r>
              <a:rPr lang="en-US" sz="1200" b="1" dirty="0">
                <a:solidFill>
                  <a:srgbClr val="0D2636"/>
                </a:solidFill>
                <a:latin typeface="Be Vietnam Pro" pitchFamily="34" charset="0"/>
                <a:ea typeface="Be Vietnam Pro" pitchFamily="34" charset="-122"/>
                <a:cs typeface="Be Vietnam Pro" pitchFamily="34" charset="-120"/>
              </a:rPr>
              <a:t>3</a:t>
            </a:r>
            <a:endParaRPr lang="en-US" sz="1200" dirty="0"/>
          </a:p>
        </p:txBody>
      </p:sp>
      <p:sp>
        <p:nvSpPr>
          <p:cNvPr id="15" name="Text 11"/>
          <p:cNvSpPr/>
          <p:nvPr/>
        </p:nvSpPr>
        <p:spPr>
          <a:xfrm>
            <a:off x="4600824" y="2506647"/>
            <a:ext cx="1204153" cy="66895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F7F3EA"/>
                </a:solidFill>
                <a:latin typeface="Be Vietnam Pro" pitchFamily="34" charset="0"/>
                <a:ea typeface="Be Vietnam Pro" pitchFamily="34" charset="-122"/>
                <a:cs typeface="Be Vietnam Pro" pitchFamily="34" charset="-120"/>
              </a:rPr>
              <a:t>Xác nhận có hạn, app và Telegram</a:t>
            </a:r>
            <a:endParaRPr lang="en-US" sz="1300" dirty="0"/>
          </a:p>
        </p:txBody>
      </p:sp>
      <p:pic>
        <p:nvPicPr>
          <p:cNvPr id="16" name="Image 2" descr="arrow-right">    </p:cNvPr>
          <p:cNvPicPr>
            <a:picLocks noChangeAspect="1"/>
          </p:cNvPicPr>
          <p:nvPr/>
        </p:nvPicPr>
        <p:blipFill>
          <a:blip r:embed="rId3"/>
          <a:srcRect l="0" r="0" t="-2" b="-2"/>
          <a:stretch/>
        </p:blipFill>
        <p:spPr>
          <a:xfrm>
            <a:off x="5982694" y="2555432"/>
            <a:ext cx="215845" cy="126972"/>
          </a:xfrm>
          <a:prstGeom prst="rect">
            <a:avLst/>
          </a:prstGeom>
        </p:spPr>
      </p:pic>
      <p:sp>
        <p:nvSpPr>
          <p:cNvPr id="17" name="Shape 12"/>
          <p:cNvSpPr/>
          <p:nvPr/>
        </p:nvSpPr>
        <p:spPr>
          <a:xfrm>
            <a:off x="6265159" y="2027693"/>
            <a:ext cx="1487833" cy="1182453"/>
          </a:xfrm>
          <a:prstGeom prst="roundRect">
            <a:avLst>
              <a:gd name="adj" fmla="val 10472"/>
            </a:avLst>
          </a:prstGeom>
          <a:solidFill>
            <a:srgbClr val="FFFFFF"/>
          </a:solidFill>
          <a:ln w="6350">
            <a:solidFill>
              <a:srgbClr val="EFE4D2"/>
            </a:solidFill>
            <a:prstDash val="solid"/>
          </a:ln>
          <a:effectLst>
            <a:outerShdw sx="100000" sy="100000" kx="0" ky="0" algn="bl" rotWithShape="0" blurRad="190500" dist="76200" dir="5400000">
              <a:srgbClr val="0D2636">
                <a:alpha val="7000"/>
              </a:srgbClr>
            </a:outerShdw>
          </a:effectLst>
        </p:spPr>
      </p:sp>
      <p:sp>
        <p:nvSpPr>
          <p:cNvPr id="18" name="Text 13"/>
          <p:cNvSpPr/>
          <p:nvPr/>
        </p:nvSpPr>
        <p:spPr>
          <a:xfrm>
            <a:off x="6432357" y="2194889"/>
            <a:ext cx="330145" cy="330145"/>
          </a:xfrm>
          <a:custGeom>
            <a:avLst/>
            <a:gdLst/>
            <a:ahLst/>
            <a:cxnLst/>
            <a:rect l="l" t="t" r="r" b="b"/>
            <a:pathLst>
              <a:path w="330145" h="330145">
                <a:moveTo>
                  <a:pt x="165072" y="0"/>
                </a:moveTo>
                <a:lnTo>
                  <a:pt x="165072" y="0"/>
                </a:lnTo>
                <a:arcTo hR="165072" wR="165072" stAng="16200000" swAng="5400000"/>
                <a:lnTo>
                  <a:pt x="330145" y="165072"/>
                </a:lnTo>
                <a:arcTo hR="165072" wR="165072" stAng="0" swAng="5400000"/>
                <a:lnTo>
                  <a:pt x="165072" y="330145"/>
                </a:lnTo>
                <a:arcTo hR="165072" wR="165072" stAng="5400000" swAng="5400000"/>
                <a:lnTo>
                  <a:pt x="0" y="165072"/>
                </a:lnTo>
                <a:arcTo hR="165072" wR="165072"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604"/>
              </a:lnSpc>
              <a:buNone/>
            </a:pPr>
            <a:r>
              <a:rPr lang="en-US" sz="1200" b="1" dirty="0">
                <a:solidFill>
                  <a:srgbClr val="FFFFFF"/>
                </a:solidFill>
                <a:latin typeface="Be Vietnam Pro" pitchFamily="34" charset="0"/>
                <a:ea typeface="Be Vietnam Pro" pitchFamily="34" charset="-122"/>
                <a:cs typeface="Be Vietnam Pro" pitchFamily="34" charset="-120"/>
              </a:rPr>
              <a:t>4</a:t>
            </a:r>
            <a:endParaRPr lang="en-US" sz="1200" dirty="0"/>
          </a:p>
        </p:txBody>
      </p:sp>
      <p:sp>
        <p:nvSpPr>
          <p:cNvPr id="19" name="Text 14"/>
          <p:cNvSpPr/>
          <p:nvPr/>
        </p:nvSpPr>
        <p:spPr>
          <a:xfrm>
            <a:off x="6432357" y="2613909"/>
            <a:ext cx="1204236" cy="45443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D2636"/>
                </a:solidFill>
                <a:latin typeface="Be Vietnam Pro" pitchFamily="34" charset="0"/>
                <a:ea typeface="Be Vietnam Pro" pitchFamily="34" charset="-122"/>
                <a:cs typeface="Be Vietnam Pro" pitchFamily="34" charset="-120"/>
              </a:rPr>
              <a:t>Cắm hoa, chụp ảnh</a:t>
            </a:r>
            <a:endParaRPr lang="en-US" sz="1300" dirty="0"/>
          </a:p>
        </p:txBody>
      </p:sp>
      <p:pic>
        <p:nvPicPr>
          <p:cNvPr id="20" name="Image 3" descr="arrow-right">    </p:cNvPr>
          <p:cNvPicPr>
            <a:picLocks noChangeAspect="1"/>
          </p:cNvPicPr>
          <p:nvPr/>
        </p:nvPicPr>
        <p:blipFill>
          <a:blip r:embed="rId4"/>
          <a:srcRect l="0" r="0" t="-2" b="-2"/>
          <a:stretch/>
        </p:blipFill>
        <p:spPr>
          <a:xfrm>
            <a:off x="7819611" y="2555432"/>
            <a:ext cx="215845" cy="126972"/>
          </a:xfrm>
          <a:prstGeom prst="rect">
            <a:avLst/>
          </a:prstGeom>
        </p:spPr>
      </p:pic>
      <p:sp>
        <p:nvSpPr>
          <p:cNvPr id="21" name="Shape 15"/>
          <p:cNvSpPr/>
          <p:nvPr/>
        </p:nvSpPr>
        <p:spPr>
          <a:xfrm>
            <a:off x="8102076" y="2027693"/>
            <a:ext cx="1487833" cy="1182453"/>
          </a:xfrm>
          <a:prstGeom prst="roundRect">
            <a:avLst>
              <a:gd name="adj" fmla="val 10472"/>
            </a:avLst>
          </a:prstGeom>
          <a:solidFill>
            <a:srgbClr val="FFFFFF"/>
          </a:solidFill>
          <a:ln w="6350">
            <a:solidFill>
              <a:srgbClr val="EFE4D2"/>
            </a:solidFill>
            <a:prstDash val="solid"/>
          </a:ln>
          <a:effectLst>
            <a:outerShdw sx="100000" sy="100000" kx="0" ky="0" algn="bl" rotWithShape="0" blurRad="190500" dist="76200" dir="5400000">
              <a:srgbClr val="0D2636">
                <a:alpha val="7000"/>
              </a:srgbClr>
            </a:outerShdw>
          </a:effectLst>
        </p:spPr>
      </p:sp>
      <p:sp>
        <p:nvSpPr>
          <p:cNvPr id="22" name="Text 16"/>
          <p:cNvSpPr/>
          <p:nvPr/>
        </p:nvSpPr>
        <p:spPr>
          <a:xfrm>
            <a:off x="8269274" y="2194889"/>
            <a:ext cx="330145" cy="330145"/>
          </a:xfrm>
          <a:custGeom>
            <a:avLst/>
            <a:gdLst/>
            <a:ahLst/>
            <a:cxnLst/>
            <a:rect l="l" t="t" r="r" b="b"/>
            <a:pathLst>
              <a:path w="330145" h="330145">
                <a:moveTo>
                  <a:pt x="165072" y="0"/>
                </a:moveTo>
                <a:lnTo>
                  <a:pt x="165072" y="0"/>
                </a:lnTo>
                <a:arcTo hR="165072" wR="165072" stAng="16200000" swAng="5400000"/>
                <a:lnTo>
                  <a:pt x="330145" y="165072"/>
                </a:lnTo>
                <a:arcTo hR="165072" wR="165072" stAng="0" swAng="5400000"/>
                <a:lnTo>
                  <a:pt x="165072" y="330145"/>
                </a:lnTo>
                <a:arcTo hR="165072" wR="165072" stAng="5400000" swAng="5400000"/>
                <a:lnTo>
                  <a:pt x="0" y="165072"/>
                </a:lnTo>
                <a:arcTo hR="165072" wR="165072"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604"/>
              </a:lnSpc>
              <a:buNone/>
            </a:pPr>
            <a:r>
              <a:rPr lang="en-US" sz="1200" b="1" dirty="0">
                <a:solidFill>
                  <a:srgbClr val="FFFFFF"/>
                </a:solidFill>
                <a:latin typeface="Be Vietnam Pro" pitchFamily="34" charset="0"/>
                <a:ea typeface="Be Vietnam Pro" pitchFamily="34" charset="-122"/>
                <a:cs typeface="Be Vietnam Pro" pitchFamily="34" charset="-120"/>
              </a:rPr>
              <a:t>5</a:t>
            </a:r>
            <a:endParaRPr lang="en-US" sz="1200" dirty="0"/>
          </a:p>
        </p:txBody>
      </p:sp>
      <p:sp>
        <p:nvSpPr>
          <p:cNvPr id="23" name="Text 17"/>
          <p:cNvSpPr/>
          <p:nvPr/>
        </p:nvSpPr>
        <p:spPr>
          <a:xfrm>
            <a:off x="8269274" y="2613909"/>
            <a:ext cx="1204236" cy="45443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D2636"/>
                </a:solidFill>
                <a:latin typeface="Be Vietnam Pro" pitchFamily="34" charset="0"/>
                <a:ea typeface="Be Vietnam Pro" pitchFamily="34" charset="-122"/>
                <a:cs typeface="Be Vietnam Pro" pitchFamily="34" charset="-120"/>
              </a:rPr>
              <a:t>Giao, ảnh xác nhận</a:t>
            </a:r>
            <a:endParaRPr lang="en-US" sz="1300" dirty="0"/>
          </a:p>
        </p:txBody>
      </p:sp>
      <p:pic>
        <p:nvPicPr>
          <p:cNvPr id="24" name="Image 4" descr="arrow-right">    </p:cNvPr>
          <p:cNvPicPr>
            <a:picLocks noChangeAspect="1"/>
          </p:cNvPicPr>
          <p:nvPr/>
        </p:nvPicPr>
        <p:blipFill>
          <a:blip r:embed="rId5"/>
          <a:srcRect l="0" r="0" t="-2" b="-2"/>
          <a:stretch/>
        </p:blipFill>
        <p:spPr>
          <a:xfrm>
            <a:off x="9656528" y="2555432"/>
            <a:ext cx="215845" cy="126972"/>
          </a:xfrm>
          <a:prstGeom prst="rect">
            <a:avLst/>
          </a:prstGeom>
        </p:spPr>
      </p:pic>
      <p:sp>
        <p:nvSpPr>
          <p:cNvPr id="25" name="Shape 18"/>
          <p:cNvSpPr/>
          <p:nvPr/>
        </p:nvSpPr>
        <p:spPr>
          <a:xfrm>
            <a:off x="9938993" y="2027693"/>
            <a:ext cx="1487833" cy="1182453"/>
          </a:xfrm>
          <a:prstGeom prst="roundRect">
            <a:avLst>
              <a:gd name="adj" fmla="val 10472"/>
            </a:avLst>
          </a:prstGeom>
          <a:solidFill>
            <a:srgbClr val="FFFFFF"/>
          </a:solidFill>
          <a:ln w="6350">
            <a:solidFill>
              <a:srgbClr val="EFE4D2"/>
            </a:solidFill>
            <a:prstDash val="solid"/>
          </a:ln>
          <a:effectLst>
            <a:outerShdw sx="100000" sy="100000" kx="0" ky="0" algn="bl" rotWithShape="0" blurRad="190500" dist="76200" dir="5400000">
              <a:srgbClr val="0D2636">
                <a:alpha val="7000"/>
              </a:srgbClr>
            </a:outerShdw>
          </a:effectLst>
        </p:spPr>
      </p:sp>
      <p:sp>
        <p:nvSpPr>
          <p:cNvPr id="26" name="Text 19"/>
          <p:cNvSpPr/>
          <p:nvPr/>
        </p:nvSpPr>
        <p:spPr>
          <a:xfrm>
            <a:off x="10106192" y="2194889"/>
            <a:ext cx="330145" cy="330145"/>
          </a:xfrm>
          <a:custGeom>
            <a:avLst/>
            <a:gdLst/>
            <a:ahLst/>
            <a:cxnLst/>
            <a:rect l="l" t="t" r="r" b="b"/>
            <a:pathLst>
              <a:path w="330145" h="330145">
                <a:moveTo>
                  <a:pt x="165072" y="0"/>
                </a:moveTo>
                <a:lnTo>
                  <a:pt x="165072" y="0"/>
                </a:lnTo>
                <a:arcTo hR="165072" wR="165072" stAng="16200000" swAng="5400000"/>
                <a:lnTo>
                  <a:pt x="330145" y="165072"/>
                </a:lnTo>
                <a:arcTo hR="165072" wR="165072" stAng="0" swAng="5400000"/>
                <a:lnTo>
                  <a:pt x="165072" y="330145"/>
                </a:lnTo>
                <a:arcTo hR="165072" wR="165072" stAng="5400000" swAng="5400000"/>
                <a:lnTo>
                  <a:pt x="0" y="165072"/>
                </a:lnTo>
                <a:arcTo hR="165072" wR="165072"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604"/>
              </a:lnSpc>
              <a:buNone/>
            </a:pPr>
            <a:r>
              <a:rPr lang="en-US" sz="1200" b="1" dirty="0">
                <a:solidFill>
                  <a:srgbClr val="FFFFFF"/>
                </a:solidFill>
                <a:latin typeface="Be Vietnam Pro" pitchFamily="34" charset="0"/>
                <a:ea typeface="Be Vietnam Pro" pitchFamily="34" charset="-122"/>
                <a:cs typeface="Be Vietnam Pro" pitchFamily="34" charset="-120"/>
              </a:rPr>
              <a:t>6</a:t>
            </a:r>
            <a:endParaRPr lang="en-US" sz="1200" dirty="0"/>
          </a:p>
        </p:txBody>
      </p:sp>
      <p:sp>
        <p:nvSpPr>
          <p:cNvPr id="27" name="Text 20"/>
          <p:cNvSpPr/>
          <p:nvPr/>
        </p:nvSpPr>
        <p:spPr>
          <a:xfrm>
            <a:off x="10106192" y="2613909"/>
            <a:ext cx="1204236" cy="454439"/>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D2636"/>
                </a:solidFill>
                <a:latin typeface="Be Vietnam Pro" pitchFamily="34" charset="0"/>
                <a:ea typeface="Be Vietnam Pro" pitchFamily="34" charset="-122"/>
                <a:cs typeface="Be Vietnam Pro" pitchFamily="34" charset="-120"/>
              </a:rPr>
              <a:t>Hoa hồng vào ví</a:t>
            </a:r>
            <a:endParaRPr lang="en-US" sz="1300" dirty="0"/>
          </a:p>
        </p:txBody>
      </p:sp>
      <p:sp>
        <p:nvSpPr>
          <p:cNvPr id="28" name="Shape 21"/>
          <p:cNvSpPr/>
          <p:nvPr/>
        </p:nvSpPr>
        <p:spPr>
          <a:xfrm>
            <a:off x="762000" y="3645424"/>
            <a:ext cx="3437448" cy="1087010"/>
          </a:xfrm>
          <a:prstGeom prst="roundRect">
            <a:avLst>
              <a:gd name="adj" fmla="val 9347"/>
            </a:avLst>
          </a:prstGeom>
          <a:solidFill>
            <a:srgbClr val="FFFFFF"/>
          </a:solidFill>
          <a:ln/>
        </p:spPr>
      </p:sp>
      <p:sp>
        <p:nvSpPr>
          <p:cNvPr id="29" name="Shape 22"/>
          <p:cNvSpPr/>
          <p:nvPr/>
        </p:nvSpPr>
        <p:spPr>
          <a:xfrm>
            <a:off x="762000" y="3645424"/>
            <a:ext cx="3437448" cy="1087010"/>
          </a:xfrm>
          <a:custGeom>
            <a:avLst/>
            <a:gdLst/>
            <a:ahLst/>
            <a:cxnLst/>
            <a:rect l="l" t="t" r="r" b="b"/>
            <a:pathLst>
              <a:path w="3437448" h="1087010">
                <a:moveTo>
                  <a:pt x="101600" y="1087010"/>
                </a:moveTo>
                <a:lnTo>
                  <a:pt x="101600" y="1087010"/>
                </a:lnTo>
                <a:arcTo hR="101600" wR="101600" stAng="5400000" swAng="5400000"/>
                <a:lnTo>
                  <a:pt x="0" y="101600"/>
                </a:lnTo>
                <a:arcTo hR="101600" wR="101600" stAng="10800000" swAng="5400000"/>
                <a:lnTo>
                  <a:pt x="101600" y="0"/>
                </a:lnTo>
                <a:arcTo hR="101600" wR="63500" stAng="16200000" swAng="-5400000"/>
                <a:lnTo>
                  <a:pt x="38100" y="985410"/>
                </a:lnTo>
                <a:arcTo hR="101600" wR="63500" stAng="10800000" swAng="-5400000"/>
                <a:close/>
              </a:path>
            </a:pathLst>
          </a:custGeom>
          <a:solidFill>
            <a:srgbClr val="03C2F3"/>
          </a:solidFill>
          <a:ln/>
        </p:spPr>
      </p:sp>
      <p:sp>
        <p:nvSpPr>
          <p:cNvPr id="30" name="Text 23"/>
          <p:cNvSpPr/>
          <p:nvPr/>
        </p:nvSpPr>
        <p:spPr>
          <a:xfrm>
            <a:off x="1002279" y="3823168"/>
            <a:ext cx="308381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Hết hạn hoặc từ chối</a:t>
            </a:r>
            <a:endParaRPr lang="en-US" sz="1400" dirty="0"/>
          </a:p>
        </p:txBody>
      </p:sp>
      <p:sp>
        <p:nvSpPr>
          <p:cNvPr id="31" name="Text 24"/>
          <p:cNvSpPr/>
          <p:nvPr/>
        </p:nvSpPr>
        <p:spPr>
          <a:xfrm>
            <a:off x="1002279" y="4112729"/>
            <a:ext cx="3083817"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Chọn chi nhánh khác; quá số lần hoặc quá khoảng cách tối đa thì trả về Avi.</a:t>
            </a:r>
            <a:endParaRPr lang="en-US" sz="1200" dirty="0"/>
          </a:p>
        </p:txBody>
      </p:sp>
      <p:sp>
        <p:nvSpPr>
          <p:cNvPr id="32" name="Shape 25"/>
          <p:cNvSpPr/>
          <p:nvPr/>
        </p:nvSpPr>
        <p:spPr>
          <a:xfrm>
            <a:off x="4377193" y="3645424"/>
            <a:ext cx="3437531" cy="1087010"/>
          </a:xfrm>
          <a:prstGeom prst="roundRect">
            <a:avLst>
              <a:gd name="adj" fmla="val 9347"/>
            </a:avLst>
          </a:prstGeom>
          <a:solidFill>
            <a:srgbClr val="FFFFFF"/>
          </a:solidFill>
          <a:ln/>
        </p:spPr>
      </p:sp>
      <p:sp>
        <p:nvSpPr>
          <p:cNvPr id="33" name="Shape 26"/>
          <p:cNvSpPr/>
          <p:nvPr/>
        </p:nvSpPr>
        <p:spPr>
          <a:xfrm>
            <a:off x="4377193" y="3645424"/>
            <a:ext cx="3437531" cy="1087010"/>
          </a:xfrm>
          <a:custGeom>
            <a:avLst/>
            <a:gdLst/>
            <a:ahLst/>
            <a:cxnLst/>
            <a:rect l="l" t="t" r="r" b="b"/>
            <a:pathLst>
              <a:path w="3437531" h="1087010">
                <a:moveTo>
                  <a:pt x="101600" y="1087010"/>
                </a:moveTo>
                <a:lnTo>
                  <a:pt x="101600" y="1087010"/>
                </a:lnTo>
                <a:arcTo hR="101600" wR="101600" stAng="5400000" swAng="5400000"/>
                <a:lnTo>
                  <a:pt x="0" y="101600"/>
                </a:lnTo>
                <a:arcTo hR="101600" wR="101600" stAng="10800000" swAng="5400000"/>
                <a:lnTo>
                  <a:pt x="101600" y="0"/>
                </a:lnTo>
                <a:arcTo hR="101600" wR="63500" stAng="16200000" swAng="-5400000"/>
                <a:lnTo>
                  <a:pt x="38100" y="985410"/>
                </a:lnTo>
                <a:arcTo hR="101600" wR="63500" stAng="10800000" swAng="-5400000"/>
                <a:close/>
              </a:path>
            </a:pathLst>
          </a:custGeom>
          <a:solidFill>
            <a:srgbClr val="EDC68E"/>
          </a:solidFill>
          <a:ln/>
        </p:spPr>
      </p:sp>
      <p:sp>
        <p:nvSpPr>
          <p:cNvPr id="34" name="Text 27"/>
          <p:cNvSpPr/>
          <p:nvPr/>
        </p:nvSpPr>
        <p:spPr>
          <a:xfrm>
            <a:off x="4617472" y="3823168"/>
            <a:ext cx="308390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Đơn đã chỉ định chi nhánh</a:t>
            </a:r>
            <a:endParaRPr lang="en-US" sz="1400" dirty="0"/>
          </a:p>
        </p:txBody>
      </p:sp>
      <p:sp>
        <p:nvSpPr>
          <p:cNvPr id="35" name="Text 28"/>
          <p:cNvSpPr/>
          <p:nvPr/>
        </p:nvSpPr>
        <p:spPr>
          <a:xfrm>
            <a:off x="4617472" y="4112729"/>
            <a:ext cx="308390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Bỏ bước xác nhận, chỉ thông báo; SLA xử lý bắt đầu ngay.</a:t>
            </a:r>
            <a:endParaRPr lang="en-US" sz="1200" dirty="0"/>
          </a:p>
        </p:txBody>
      </p:sp>
      <p:sp>
        <p:nvSpPr>
          <p:cNvPr id="36" name="Shape 29"/>
          <p:cNvSpPr/>
          <p:nvPr/>
        </p:nvSpPr>
        <p:spPr>
          <a:xfrm>
            <a:off x="7992470" y="3645424"/>
            <a:ext cx="3437531" cy="1087010"/>
          </a:xfrm>
          <a:prstGeom prst="roundRect">
            <a:avLst>
              <a:gd name="adj" fmla="val 9347"/>
            </a:avLst>
          </a:prstGeom>
          <a:solidFill>
            <a:srgbClr val="FFFFFF"/>
          </a:solidFill>
          <a:ln/>
        </p:spPr>
      </p:sp>
      <p:sp>
        <p:nvSpPr>
          <p:cNvPr id="37" name="Shape 30"/>
          <p:cNvSpPr/>
          <p:nvPr/>
        </p:nvSpPr>
        <p:spPr>
          <a:xfrm>
            <a:off x="7992470" y="3645424"/>
            <a:ext cx="3437531" cy="1087010"/>
          </a:xfrm>
          <a:custGeom>
            <a:avLst/>
            <a:gdLst/>
            <a:ahLst/>
            <a:cxnLst/>
            <a:rect l="l" t="t" r="r" b="b"/>
            <a:pathLst>
              <a:path w="3437531" h="1087010">
                <a:moveTo>
                  <a:pt x="101600" y="1087010"/>
                </a:moveTo>
                <a:lnTo>
                  <a:pt x="101600" y="1087010"/>
                </a:lnTo>
                <a:arcTo hR="101600" wR="101600" stAng="5400000" swAng="5400000"/>
                <a:lnTo>
                  <a:pt x="0" y="101600"/>
                </a:lnTo>
                <a:arcTo hR="101600" wR="101600" stAng="10800000" swAng="5400000"/>
                <a:lnTo>
                  <a:pt x="101600" y="0"/>
                </a:lnTo>
                <a:arcTo hR="101600" wR="63500" stAng="16200000" swAng="-5400000"/>
                <a:lnTo>
                  <a:pt x="38100" y="985410"/>
                </a:lnTo>
                <a:arcTo hR="101600" wR="63500" stAng="10800000" swAng="-5400000"/>
                <a:close/>
              </a:path>
            </a:pathLst>
          </a:custGeom>
          <a:solidFill>
            <a:srgbClr val="FEEF2E"/>
          </a:solidFill>
          <a:ln/>
        </p:spPr>
      </p:sp>
      <p:sp>
        <p:nvSpPr>
          <p:cNvPr id="38" name="Text 31"/>
          <p:cNvSpPr/>
          <p:nvPr/>
        </p:nvSpPr>
        <p:spPr>
          <a:xfrm>
            <a:off x="8232748" y="3823168"/>
            <a:ext cx="308390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Đơn sự kiện nhiều shop</a:t>
            </a:r>
            <a:endParaRPr lang="en-US" sz="1400" dirty="0"/>
          </a:p>
        </p:txBody>
      </p:sp>
      <p:sp>
        <p:nvSpPr>
          <p:cNvPr id="39" name="Text 32"/>
          <p:cNvSpPr/>
          <p:nvPr/>
        </p:nvSpPr>
        <p:spPr>
          <a:xfrm>
            <a:off x="8232748" y="4112729"/>
            <a:ext cx="308390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Avi chia đơn cha thành đơn con; mỗi chi nhánh xử lý phần của mình.</a:t>
            </a:r>
            <a:endParaRPr lang="en-US" sz="1200" dirty="0"/>
          </a:p>
        </p:txBody>
      </p:sp>
      <p:pic>
        <p:nvPicPr>
          <p:cNvPr id="40" name="Image 5" descr="AVI Group">    </p:cNvPr>
          <p:cNvPicPr>
            <a:picLocks noChangeAspect="1"/>
          </p:cNvPicPr>
          <p:nvPr/>
        </p:nvPicPr>
        <p:blipFill>
          <a:blip r:embed="rId6"/>
          <a:srcRect l="-5" r="-5" t="0" b="0"/>
          <a:stretch/>
        </p:blipFill>
        <p:spPr>
          <a:xfrm>
            <a:off x="762000" y="6324681"/>
            <a:ext cx="419100" cy="279372"/>
          </a:xfrm>
          <a:prstGeom prst="rect">
            <a:avLst/>
          </a:prstGeom>
        </p:spPr>
      </p:pic>
      <p:sp>
        <p:nvSpPr>
          <p:cNvPr id="41" name="Text 33"/>
          <p:cNvSpPr/>
          <p:nvPr/>
        </p:nvSpPr>
        <p:spPr>
          <a:xfrm>
            <a:off x="1269972" y="6339839"/>
            <a:ext cx="6540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Florist SaaS · Đề xuất hợp tác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THANH TOÁN TRÊN LANDING</a:t>
            </a:r>
            <a:endParaRPr lang="en-US" sz="1200" dirty="0"/>
          </a:p>
        </p:txBody>
      </p:sp>
      <p:sp>
        <p:nvSpPr>
          <p:cNvPr id="3" name="Text 1"/>
          <p:cNvSpPr/>
          <p:nvPr>
            <p:ph type="title"/>
          </p:nvPr>
        </p:nvSpPr>
        <p:spPr>
          <a:xfrm>
            <a:off x="762000" y="1026049"/>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D2636"/>
                </a:solidFill>
                <a:latin typeface="Playfair Display" pitchFamily="18" charset="0"/>
                <a:ea typeface="Playfair Display" pitchFamily="18" charset="-122"/>
                <a:cs typeface="Playfair Display" pitchFamily="18" charset="-120"/>
              </a:rPr>
              <a:t>Shop tự chọn cách khách thanh toán</a:t>
            </a:r>
            <a:endParaRPr lang="en-US" sz="3000" dirty="0"/>
          </a:p>
        </p:txBody>
      </p:sp>
      <p:sp>
        <p:nvSpPr>
          <p:cNvPr id="4" name="Shape 2"/>
          <p:cNvSpPr/>
          <p:nvPr/>
        </p:nvSpPr>
        <p:spPr>
          <a:xfrm>
            <a:off x="762000" y="1554314"/>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1874962"/>
            <a:ext cx="3434660" cy="2105301"/>
          </a:xfrm>
          <a:prstGeom prst="roundRect">
            <a:avLst>
              <a:gd name="adj" fmla="val 6485"/>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6" name="Shape 4"/>
          <p:cNvSpPr/>
          <p:nvPr/>
        </p:nvSpPr>
        <p:spPr>
          <a:xfrm>
            <a:off x="1008573" y="2118361"/>
            <a:ext cx="431772" cy="431772"/>
          </a:xfrm>
          <a:prstGeom prst="roundRect">
            <a:avLst>
              <a:gd name="adj" fmla="val 29414"/>
            </a:avLst>
          </a:prstGeom>
          <a:gradFill rotWithShape="1">
            <a:gsLst>
              <a:gs pos="0">
                <a:srgbClr val="E1F6FD"/>
              </a:gs>
              <a:gs pos="100000">
                <a:srgbClr val="BDEBFA"/>
              </a:gs>
            </a:gsLst>
            <a:lin ang="2700000" scaled="0"/>
          </a:gradFill>
          <a:ln/>
        </p:spPr>
      </p:sp>
      <p:pic>
        <p:nvPicPr>
          <p:cNvPr id="7" name="Image 0" descr="Check">    </p:cNvPr>
          <p:cNvPicPr>
            <a:picLocks noChangeAspect="1"/>
          </p:cNvPicPr>
          <p:nvPr/>
        </p:nvPicPr>
        <p:blipFill>
          <a:blip r:embed="rId1"/>
          <a:srcRect l="0" r="0" t="0" b="0"/>
          <a:stretch/>
        </p:blipFill>
        <p:spPr>
          <a:xfrm>
            <a:off x="1110118" y="2219905"/>
            <a:ext cx="228600" cy="228600"/>
          </a:xfrm>
          <a:prstGeom prst="rect">
            <a:avLst/>
          </a:prstGeom>
        </p:spPr>
      </p:pic>
      <p:sp>
        <p:nvSpPr>
          <p:cNvPr id="8" name="Text 5"/>
          <p:cNvSpPr/>
          <p:nvPr/>
        </p:nvSpPr>
        <p:spPr>
          <a:xfrm>
            <a:off x="1008573" y="2664433"/>
            <a:ext cx="3036299"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636"/>
                </a:solidFill>
                <a:latin typeface="Be Vietnam Pro" pitchFamily="34" charset="0"/>
                <a:ea typeface="Be Vietnam Pro" pitchFamily="34" charset="-122"/>
                <a:cs typeface="Be Vietnam Pro" pitchFamily="34" charset="-120"/>
              </a:rPr>
              <a:t>Thanh toán một lần</a:t>
            </a:r>
            <a:endParaRPr lang="en-US" sz="1600" dirty="0"/>
          </a:p>
        </p:txBody>
      </p:sp>
      <p:sp>
        <p:nvSpPr>
          <p:cNvPr id="9" name="Text 6"/>
          <p:cNvSpPr/>
          <p:nvPr/>
        </p:nvSpPr>
        <p:spPr>
          <a:xfrm>
            <a:off x="1008573" y="3022488"/>
            <a:ext cx="3036299"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Khách trả đủ trước khi shop làm hoa. Mặc định cho mọi đơn hoặc theo danh mục.</a:t>
            </a:r>
            <a:endParaRPr lang="en-US" sz="1250" dirty="0"/>
          </a:p>
        </p:txBody>
      </p:sp>
      <p:sp>
        <p:nvSpPr>
          <p:cNvPr id="10" name="Shape 7"/>
          <p:cNvSpPr/>
          <p:nvPr/>
        </p:nvSpPr>
        <p:spPr>
          <a:xfrm>
            <a:off x="4380755" y="1871787"/>
            <a:ext cx="3430491" cy="2111651"/>
          </a:xfrm>
          <a:prstGeom prst="roundRect">
            <a:avLst>
              <a:gd name="adj" fmla="val 6616"/>
            </a:avLst>
          </a:prstGeom>
          <a:gradFill rotWithShape="1">
            <a:gsLst>
              <a:gs pos="0">
                <a:srgbClr val="0D2636"/>
              </a:gs>
              <a:gs pos="100000">
                <a:srgbClr val="135A79"/>
              </a:gs>
            </a:gsLst>
            <a:lin ang="3600000" scaled="0"/>
          </a:gradFill>
          <a:ln/>
          <a:effectLst>
            <a:outerShdw sx="100000" sy="100000" kx="0" ky="0" algn="bl" rotWithShape="0" blurRad="279400" dist="127000" dir="5400000">
              <a:srgbClr val="0D2636">
                <a:alpha val="22000"/>
              </a:srgbClr>
            </a:outerShdw>
          </a:effectLst>
        </p:spPr>
      </p:sp>
      <p:sp>
        <p:nvSpPr>
          <p:cNvPr id="11" name="Shape 8"/>
          <p:cNvSpPr/>
          <p:nvPr/>
        </p:nvSpPr>
        <p:spPr>
          <a:xfrm>
            <a:off x="4622027" y="2113059"/>
            <a:ext cx="431772" cy="431772"/>
          </a:xfrm>
          <a:prstGeom prst="roundRect">
            <a:avLst>
              <a:gd name="adj" fmla="val 29414"/>
            </a:avLst>
          </a:prstGeom>
          <a:gradFill rotWithShape="1">
            <a:gsLst>
              <a:gs pos="0">
                <a:srgbClr val="FEEF2E"/>
              </a:gs>
              <a:gs pos="100000">
                <a:srgbClr val="EDC68E"/>
              </a:gs>
            </a:gsLst>
            <a:lin ang="2700000" scaled="0"/>
          </a:gradFill>
          <a:ln/>
        </p:spPr>
      </p:sp>
      <p:pic>
        <p:nvPicPr>
          <p:cNvPr id="12" name="Image 1" descr="Key">    </p:cNvPr>
          <p:cNvPicPr>
            <a:picLocks noChangeAspect="1"/>
          </p:cNvPicPr>
          <p:nvPr/>
        </p:nvPicPr>
        <p:blipFill>
          <a:blip r:embed="rId2"/>
          <a:srcRect l="0" r="0" t="0" b="0"/>
          <a:stretch/>
        </p:blipFill>
        <p:spPr>
          <a:xfrm>
            <a:off x="4723572" y="2214603"/>
            <a:ext cx="228600" cy="228600"/>
          </a:xfrm>
          <a:prstGeom prst="rect">
            <a:avLst/>
          </a:prstGeom>
        </p:spPr>
      </p:pic>
      <p:sp>
        <p:nvSpPr>
          <p:cNvPr id="13" name="Text 9"/>
          <p:cNvSpPr/>
          <p:nvPr/>
        </p:nvSpPr>
        <p:spPr>
          <a:xfrm>
            <a:off x="4622027" y="2659131"/>
            <a:ext cx="3036385"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3EA"/>
                </a:solidFill>
                <a:latin typeface="Be Vietnam Pro" pitchFamily="34" charset="0"/>
                <a:ea typeface="Be Vietnam Pro" pitchFamily="34" charset="-122"/>
                <a:cs typeface="Be Vietnam Pro" pitchFamily="34" charset="-120"/>
              </a:rPr>
              <a:t>Đặt cọc</a:t>
            </a:r>
            <a:endParaRPr lang="en-US" sz="1600" dirty="0"/>
          </a:p>
        </p:txBody>
      </p:sp>
      <p:sp>
        <p:nvSpPr>
          <p:cNvPr id="14" name="Text 10"/>
          <p:cNvSpPr/>
          <p:nvPr/>
        </p:nvSpPr>
        <p:spPr>
          <a:xfrm>
            <a:off x="4622027" y="3017186"/>
            <a:ext cx="3036385" cy="739775"/>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C9DAE3"/>
                </a:solidFill>
                <a:latin typeface="Be Vietnam Pro" pitchFamily="34" charset="0"/>
                <a:ea typeface="Be Vietnam Pro" pitchFamily="34" charset="-122"/>
                <a:cs typeface="Be Vietnam Pro" pitchFamily="34" charset="-120"/>
              </a:rPr>
              <a:t>Trả trước theo % hoặc số tiền; có thể bắt buộc khi đơn vượt một ngưỡng giá trị.</a:t>
            </a:r>
            <a:endParaRPr lang="en-US" sz="1250" dirty="0"/>
          </a:p>
        </p:txBody>
      </p:sp>
      <p:sp>
        <p:nvSpPr>
          <p:cNvPr id="15" name="Shape 11"/>
          <p:cNvSpPr/>
          <p:nvPr/>
        </p:nvSpPr>
        <p:spPr>
          <a:xfrm>
            <a:off x="7992166" y="1874962"/>
            <a:ext cx="3434660" cy="2105301"/>
          </a:xfrm>
          <a:prstGeom prst="roundRect">
            <a:avLst>
              <a:gd name="adj" fmla="val 6485"/>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16" name="Shape 12"/>
          <p:cNvSpPr/>
          <p:nvPr/>
        </p:nvSpPr>
        <p:spPr>
          <a:xfrm>
            <a:off x="8235564" y="2118361"/>
            <a:ext cx="431772" cy="431772"/>
          </a:xfrm>
          <a:prstGeom prst="roundRect">
            <a:avLst>
              <a:gd name="adj" fmla="val 29414"/>
            </a:avLst>
          </a:prstGeom>
          <a:gradFill rotWithShape="1">
            <a:gsLst>
              <a:gs pos="0">
                <a:srgbClr val="FFF8D6"/>
              </a:gs>
              <a:gs pos="100000">
                <a:srgbClr val="F6E2BD"/>
              </a:gs>
            </a:gsLst>
            <a:lin ang="2700000" scaled="0"/>
          </a:gradFill>
          <a:ln/>
        </p:spPr>
      </p:sp>
      <p:pic>
        <p:nvPicPr>
          <p:cNvPr id="17" name="Image 2" descr="PaperPlane">    </p:cNvPr>
          <p:cNvPicPr>
            <a:picLocks noChangeAspect="1"/>
          </p:cNvPicPr>
          <p:nvPr/>
        </p:nvPicPr>
        <p:blipFill>
          <a:blip r:embed="rId3"/>
          <a:srcRect l="0" r="0" t="0" b="0"/>
          <a:stretch/>
        </p:blipFill>
        <p:spPr>
          <a:xfrm>
            <a:off x="8337109" y="2219905"/>
            <a:ext cx="228600" cy="228600"/>
          </a:xfrm>
          <a:prstGeom prst="rect">
            <a:avLst/>
          </a:prstGeom>
        </p:spPr>
      </p:pic>
      <p:sp>
        <p:nvSpPr>
          <p:cNvPr id="18" name="Text 13"/>
          <p:cNvSpPr/>
          <p:nvPr/>
        </p:nvSpPr>
        <p:spPr>
          <a:xfrm>
            <a:off x="8235564" y="2664433"/>
            <a:ext cx="3036299"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636"/>
                </a:solidFill>
                <a:latin typeface="Be Vietnam Pro" pitchFamily="34" charset="0"/>
                <a:ea typeface="Be Vietnam Pro" pitchFamily="34" charset="-122"/>
                <a:cs typeface="Be Vietnam Pro" pitchFamily="34" charset="-120"/>
              </a:rPr>
              <a:t>Thanh toán ngoài</a:t>
            </a:r>
            <a:endParaRPr lang="en-US" sz="1600" dirty="0"/>
          </a:p>
        </p:txBody>
      </p:sp>
      <p:sp>
        <p:nvSpPr>
          <p:cNvPr id="19" name="Text 14"/>
          <p:cNvSpPr/>
          <p:nvPr/>
        </p:nvSpPr>
        <p:spPr>
          <a:xfrm>
            <a:off x="8235564" y="3022488"/>
            <a:ext cx="3036299" cy="501650"/>
          </a:xfrm>
          <a:prstGeom prst="rect">
            <a:avLst/>
          </a:prstGeom>
          <a:noFill/>
          <a:ln/>
        </p:spPr>
        <p:txBody>
          <a:bodyPr wrap="square" lIns="0" tIns="0" rIns="0" bIns="0" rtlCol="0" anchor="t">
            <a:normAutofit/>
          </a:bodyPr>
          <a:lstStyle/>
          <a:p>
            <a:pPr algn="l" indent="0" marL="0">
              <a:lnSpc>
                <a:spcPts val="1875"/>
              </a:lnSpc>
              <a:buNone/>
            </a:pPr>
            <a:r>
              <a:rPr lang="en-US" sz="1250" dirty="0">
                <a:solidFill>
                  <a:srgbClr val="4A5B66"/>
                </a:solidFill>
                <a:latin typeface="Be Vietnam Pro" pitchFamily="34" charset="0"/>
                <a:ea typeface="Be Vietnam Pro" pitchFamily="34" charset="-122"/>
                <a:cs typeface="Be Vietnam Pro" pitchFamily="34" charset="-120"/>
              </a:rPr>
              <a:t>Shop tự thu ngoài hệ thống: COD, đơn vị ship, chuyển khoản riêng.</a:t>
            </a:r>
            <a:endParaRPr lang="en-US" sz="1250" dirty="0"/>
          </a:p>
        </p:txBody>
      </p:sp>
      <p:sp>
        <p:nvSpPr>
          <p:cNvPr id="20" name="Shape 15"/>
          <p:cNvSpPr/>
          <p:nvPr/>
        </p:nvSpPr>
        <p:spPr>
          <a:xfrm>
            <a:off x="765175" y="4265985"/>
            <a:ext cx="6213890" cy="687070"/>
          </a:xfrm>
          <a:prstGeom prst="roundRect">
            <a:avLst>
              <a:gd name="adj" fmla="val 16174"/>
            </a:avLst>
          </a:prstGeom>
          <a:solidFill>
            <a:srgbClr val="FFFFFF"/>
          </a:solidFill>
          <a:ln w="6350">
            <a:solidFill>
              <a:srgbClr val="EFE4D2"/>
            </a:solidFill>
            <a:prstDash val="solid"/>
          </a:ln>
        </p:spPr>
      </p:sp>
      <p:sp>
        <p:nvSpPr>
          <p:cNvPr id="21" name="Text 16"/>
          <p:cNvSpPr/>
          <p:nvPr/>
        </p:nvSpPr>
        <p:spPr>
          <a:xfrm>
            <a:off x="945046" y="4439394"/>
            <a:ext cx="1451113" cy="340250"/>
          </a:xfrm>
          <a:prstGeom prst="roundRect">
            <a:avLst>
              <a:gd name="adj" fmla="val 50000"/>
            </a:avLst>
          </a:prstGeom>
          <a:solidFill>
            <a:srgbClr val="F4EEE3"/>
          </a:solidFill>
          <a:ln/>
        </p:spPr>
        <p:txBody>
          <a:bodyPr wrap="none" lIns="0" tIns="0" rIns="0" bIns="0" rtlCol="0" anchor="ctr">
            <a:normAutofit/>
          </a:bodyPr>
          <a:lstStyle/>
          <a:p>
            <a:pPr algn="ctr"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Chờ thanh toán</a:t>
            </a:r>
            <a:endParaRPr lang="en-US" sz="1200" dirty="0"/>
          </a:p>
        </p:txBody>
      </p:sp>
      <p:pic>
        <p:nvPicPr>
          <p:cNvPr id="22" name="Image 3" descr="arrow-right">    </p:cNvPr>
          <p:cNvPicPr>
            <a:picLocks noChangeAspect="1"/>
          </p:cNvPicPr>
          <p:nvPr/>
        </p:nvPicPr>
        <p:blipFill>
          <a:blip r:embed="rId4"/>
          <a:srcRect l="0" r="0" t="0" b="0"/>
          <a:stretch/>
        </p:blipFill>
        <p:spPr>
          <a:xfrm>
            <a:off x="2485031" y="4552370"/>
            <a:ext cx="190500" cy="114300"/>
          </a:xfrm>
          <a:prstGeom prst="rect">
            <a:avLst/>
          </a:prstGeom>
        </p:spPr>
      </p:pic>
      <p:sp>
        <p:nvSpPr>
          <p:cNvPr id="23" name="Text 17"/>
          <p:cNvSpPr/>
          <p:nvPr/>
        </p:nvSpPr>
        <p:spPr>
          <a:xfrm>
            <a:off x="2764404" y="4439394"/>
            <a:ext cx="824948" cy="340250"/>
          </a:xfrm>
          <a:prstGeom prst="roundRect">
            <a:avLst>
              <a:gd name="adj" fmla="val 50000"/>
            </a:avLst>
          </a:prstGeom>
          <a:solidFill>
            <a:srgbClr val="F4EEE3"/>
          </a:solidFill>
          <a:ln/>
        </p:spPr>
        <p:txBody>
          <a:bodyPr wrap="none" lIns="0" tIns="0" rIns="0" bIns="0" rtlCol="0" anchor="ctr">
            <a:normAutofit/>
          </a:bodyPr>
          <a:lstStyle/>
          <a:p>
            <a:pPr algn="ctr"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Đã cọc</a:t>
            </a:r>
            <a:endParaRPr lang="en-US" sz="1200" dirty="0"/>
          </a:p>
        </p:txBody>
      </p:sp>
      <p:pic>
        <p:nvPicPr>
          <p:cNvPr id="24" name="Image 4" descr="arrow-right">    </p:cNvPr>
          <p:cNvPicPr>
            <a:picLocks noChangeAspect="1"/>
          </p:cNvPicPr>
          <p:nvPr/>
        </p:nvPicPr>
        <p:blipFill>
          <a:blip r:embed="rId5"/>
          <a:srcRect l="0" r="0" t="0" b="0"/>
          <a:stretch/>
        </p:blipFill>
        <p:spPr>
          <a:xfrm>
            <a:off x="3678224" y="4552370"/>
            <a:ext cx="190500" cy="114300"/>
          </a:xfrm>
          <a:prstGeom prst="rect">
            <a:avLst/>
          </a:prstGeom>
        </p:spPr>
      </p:pic>
      <p:sp>
        <p:nvSpPr>
          <p:cNvPr id="25" name="Text 18"/>
          <p:cNvSpPr/>
          <p:nvPr/>
        </p:nvSpPr>
        <p:spPr>
          <a:xfrm>
            <a:off x="3957596" y="4439394"/>
            <a:ext cx="1590924" cy="340250"/>
          </a:xfrm>
          <a:prstGeom prst="roundRect">
            <a:avLst>
              <a:gd name="adj" fmla="val 50000"/>
            </a:avLst>
          </a:prstGeom>
          <a:gradFill rotWithShape="1">
            <a:gsLst>
              <a:gs pos="0">
                <a:srgbClr val="3CCBF2"/>
              </a:gs>
              <a:gs pos="100000">
                <a:srgbClr val="0784B3"/>
              </a:gs>
            </a:gsLst>
            <a:lin ang="2700000" scaled="0"/>
          </a:gradFill>
          <a:ln/>
        </p:spPr>
        <p:txBody>
          <a:bodyPr wrap="none" lIns="0" tIns="0" rIns="0" bIns="0" rtlCol="0" anchor="ctr">
            <a:normAutofit/>
          </a:bodyPr>
          <a:lstStyle/>
          <a:p>
            <a:pPr algn="ctr" indent="0" marL="0">
              <a:lnSpc>
                <a:spcPts val="1680"/>
              </a:lnSpc>
              <a:buNone/>
            </a:pPr>
            <a:r>
              <a:rPr lang="en-US" sz="1200" b="1" dirty="0">
                <a:solidFill>
                  <a:srgbClr val="FFFFFF"/>
                </a:solidFill>
                <a:latin typeface="Be Vietnam Pro" pitchFamily="34" charset="0"/>
                <a:ea typeface="Be Vietnam Pro" pitchFamily="34" charset="-122"/>
                <a:cs typeface="Be Vietnam Pro" pitchFamily="34" charset="-120"/>
              </a:rPr>
              <a:t>Đã thanh toán đủ</a:t>
            </a:r>
            <a:endParaRPr lang="en-US" sz="1200" dirty="0"/>
          </a:p>
        </p:txBody>
      </p:sp>
      <p:sp>
        <p:nvSpPr>
          <p:cNvPr id="26" name="Shape 19"/>
          <p:cNvSpPr/>
          <p:nvPr/>
        </p:nvSpPr>
        <p:spPr>
          <a:xfrm>
            <a:off x="7159985" y="4262810"/>
            <a:ext cx="4270016" cy="693420"/>
          </a:xfrm>
          <a:prstGeom prst="roundRect">
            <a:avLst>
              <a:gd name="adj" fmla="val 16484"/>
            </a:avLst>
          </a:prstGeom>
          <a:solidFill>
            <a:srgbClr val="FFFFFF"/>
          </a:solidFill>
          <a:ln/>
        </p:spPr>
      </p:sp>
      <p:sp>
        <p:nvSpPr>
          <p:cNvPr id="27" name="Shape 20"/>
          <p:cNvSpPr/>
          <p:nvPr/>
        </p:nvSpPr>
        <p:spPr>
          <a:xfrm>
            <a:off x="7159985" y="4262810"/>
            <a:ext cx="4270016" cy="693420"/>
          </a:xfrm>
          <a:custGeom>
            <a:avLst/>
            <a:gdLst/>
            <a:ahLst/>
            <a:cxnLst/>
            <a:rect l="l" t="t" r="r" b="b"/>
            <a:pathLst>
              <a:path w="4270016" h="693420">
                <a:moveTo>
                  <a:pt x="114300" y="693420"/>
                </a:moveTo>
                <a:lnTo>
                  <a:pt x="114300" y="693420"/>
                </a:lnTo>
                <a:arcTo hR="114300" wR="114300" stAng="5400000" swAng="5400000"/>
                <a:lnTo>
                  <a:pt x="0" y="114300"/>
                </a:lnTo>
                <a:arcTo hR="114300" wR="114300" stAng="10800000" swAng="5400000"/>
                <a:lnTo>
                  <a:pt x="114300" y="0"/>
                </a:lnTo>
                <a:arcTo hR="114300" wR="76200" stAng="16200000" swAng="-5400000"/>
                <a:lnTo>
                  <a:pt x="38100" y="579120"/>
                </a:lnTo>
                <a:arcTo hR="114300" wR="76200" stAng="10800000" swAng="-5400000"/>
                <a:close/>
              </a:path>
            </a:pathLst>
          </a:custGeom>
          <a:solidFill>
            <a:srgbClr val="03C2F3"/>
          </a:solidFill>
          <a:ln/>
        </p:spPr>
      </p:sp>
      <p:sp>
        <p:nvSpPr>
          <p:cNvPr id="28" name="Text 21"/>
          <p:cNvSpPr/>
          <p:nvPr/>
        </p:nvSpPr>
        <p:spPr>
          <a:xfrm>
            <a:off x="7362163" y="4377110"/>
            <a:ext cx="40198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QR qua SePay riêng của từng shop</a:t>
            </a:r>
            <a:endParaRPr lang="en-US" sz="1200" dirty="0"/>
          </a:p>
        </p:txBody>
      </p:sp>
      <p:sp>
        <p:nvSpPr>
          <p:cNvPr id="29" name="Text 22"/>
          <p:cNvSpPr/>
          <p:nvPr/>
        </p:nvSpPr>
        <p:spPr>
          <a:xfrm>
            <a:off x="7362163" y="4628570"/>
            <a:ext cx="40198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6"/>
                </a:solidFill>
                <a:latin typeface="Be Vietnam Pro" pitchFamily="34" charset="0"/>
                <a:ea typeface="Be Vietnam Pro" pitchFamily="34" charset="-122"/>
                <a:cs typeface="Be Vietnam Pro" pitchFamily="34" charset="-120"/>
              </a:rPr>
              <a:t>Webhook báo tiền về, tự xác nhận đơn</a:t>
            </a:r>
            <a:endParaRPr lang="en-US" sz="1200" dirty="0"/>
          </a:p>
        </p:txBody>
      </p:sp>
      <p:sp>
        <p:nvSpPr>
          <p:cNvPr id="30" name="Text 23"/>
          <p:cNvSpPr/>
          <p:nvPr/>
        </p:nvSpPr>
        <p:spPr>
          <a:xfrm>
            <a:off x="762000" y="5235603"/>
            <a:ext cx="109880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6"/>
                </a:solidFill>
                <a:latin typeface="Be Vietnam Pro" pitchFamily="34" charset="0"/>
                <a:ea typeface="Be Vietnam Pro" pitchFamily="34" charset="-122"/>
                <a:cs typeface="Be Vietnam Pro" pitchFamily="34" charset="-120"/>
              </a:rPr>
              <a:t>Đơn từ Avi luôn đã thanh toán · đơn landing chưa thanh toán không tự xóa, hệ thống nhắc shop 7h sáng hằng ngày</a:t>
            </a:r>
            <a:endParaRPr lang="en-US" sz="1200" dirty="0"/>
          </a:p>
        </p:txBody>
      </p:sp>
      <p:pic>
        <p:nvPicPr>
          <p:cNvPr id="31" name="Image 5" descr="AVI Group">    </p:cNvPr>
          <p:cNvPicPr>
            <a:picLocks noChangeAspect="1"/>
          </p:cNvPicPr>
          <p:nvPr/>
        </p:nvPicPr>
        <p:blipFill>
          <a:blip r:embed="rId6"/>
          <a:srcRect l="-5" r="-5" t="0" b="0"/>
          <a:stretch/>
        </p:blipFill>
        <p:spPr>
          <a:xfrm>
            <a:off x="762000" y="6324684"/>
            <a:ext cx="419100" cy="279372"/>
          </a:xfrm>
          <a:prstGeom prst="rect">
            <a:avLst/>
          </a:prstGeom>
        </p:spPr>
      </p:pic>
      <p:sp>
        <p:nvSpPr>
          <p:cNvPr id="32" name="Text 24"/>
          <p:cNvSpPr/>
          <p:nvPr/>
        </p:nvSpPr>
        <p:spPr>
          <a:xfrm>
            <a:off x="1269972" y="6339839"/>
            <a:ext cx="6540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Florist SaaS · Đề xuất hợp tác</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F4EEE3"/>
              </a:gs>
              <a:gs pos="100000">
                <a:srgbClr val="FBF8F2"/>
              </a:gs>
            </a:gsLst>
            <a:lin ang="5400000" scaled="0"/>
          </a:gradFill>
          <a:ln/>
        </p:spPr>
      </p:sp>
      <p:sp>
        <p:nvSpPr>
          <p:cNvPr id="3" name="Text 1"/>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ĐẶT HOA THEO YÊU CẦU</a:t>
            </a:r>
            <a:endParaRPr lang="en-US" sz="1200" dirty="0"/>
          </a:p>
        </p:txBody>
      </p:sp>
      <p:sp>
        <p:nvSpPr>
          <p:cNvPr id="4" name="Text 2"/>
          <p:cNvSpPr/>
          <p:nvPr>
            <p:ph type="title"/>
          </p:nvPr>
        </p:nvSpPr>
        <p:spPr>
          <a:xfrm>
            <a:off x="762000" y="1026049"/>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D2636"/>
                </a:solidFill>
                <a:latin typeface="Playfair Display" pitchFamily="18" charset="0"/>
                <a:ea typeface="Playfair Display" pitchFamily="18" charset="-122"/>
                <a:cs typeface="Playfair Display" pitchFamily="18" charset="-120"/>
              </a:rPr>
              <a:t>Khách gửi ảnh và mô tả, AI đề xuất giá cho shop</a:t>
            </a:r>
            <a:endParaRPr lang="en-US" sz="3000" dirty="0"/>
          </a:p>
        </p:txBody>
      </p:sp>
      <p:sp>
        <p:nvSpPr>
          <p:cNvPr id="5" name="Shape 3"/>
          <p:cNvSpPr/>
          <p:nvPr/>
        </p:nvSpPr>
        <p:spPr>
          <a:xfrm>
            <a:off x="762000" y="1554314"/>
            <a:ext cx="6096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2000" y="1922559"/>
            <a:ext cx="2381250" cy="1195015"/>
          </a:xfrm>
          <a:prstGeom prst="roundRect">
            <a:avLst>
              <a:gd name="adj" fmla="val 10627"/>
            </a:avLst>
          </a:prstGeom>
          <a:solidFill>
            <a:srgbClr val="FFFFFF"/>
          </a:solidFill>
          <a:ln/>
          <a:effectLst>
            <a:outerShdw sx="100000" sy="100000" kx="0" ky="0" algn="bl" rotWithShape="0" blurRad="190500" dist="76200" dir="5400000">
              <a:srgbClr val="0D2636">
                <a:alpha val="7000"/>
              </a:srgbClr>
            </a:outerShdw>
          </a:effectLst>
        </p:spPr>
      </p:sp>
      <p:pic>
        <p:nvPicPr>
          <p:cNvPr id="7" name="Image 0" descr="Chat">    </p:cNvPr>
          <p:cNvPicPr>
            <a:picLocks noChangeAspect="1"/>
          </p:cNvPicPr>
          <p:nvPr/>
        </p:nvPicPr>
        <p:blipFill>
          <a:blip r:embed="rId1"/>
          <a:srcRect l="0" r="0" t="0" b="0"/>
          <a:stretch/>
        </p:blipFill>
        <p:spPr>
          <a:xfrm>
            <a:off x="952500" y="2113059"/>
            <a:ext cx="279372" cy="279372"/>
          </a:xfrm>
          <a:prstGeom prst="rect">
            <a:avLst/>
          </a:prstGeom>
        </p:spPr>
      </p:pic>
      <p:sp>
        <p:nvSpPr>
          <p:cNvPr id="8" name="Text 5"/>
          <p:cNvSpPr/>
          <p:nvPr/>
        </p:nvSpPr>
        <p:spPr>
          <a:xfrm>
            <a:off x="952500" y="2481303"/>
            <a:ext cx="2060258" cy="471170"/>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0D2636"/>
                </a:solidFill>
                <a:latin typeface="Be Vietnam Pro" pitchFamily="34" charset="0"/>
                <a:ea typeface="Be Vietnam Pro" pitchFamily="34" charset="-122"/>
                <a:cs typeface="Be Vietnam Pro" pitchFamily="34" charset="-120"/>
              </a:rPr>
              <a:t>Khách gửi ảnh, mô tả, ngân sách, giờ giao</a:t>
            </a:r>
            <a:endParaRPr lang="en-US" sz="1350" dirty="0"/>
          </a:p>
        </p:txBody>
      </p:sp>
      <p:pic>
        <p:nvPicPr>
          <p:cNvPr id="9" name="Image 1" descr="arrow-right">    </p:cNvPr>
          <p:cNvPicPr>
            <a:picLocks noChangeAspect="1"/>
          </p:cNvPicPr>
          <p:nvPr/>
        </p:nvPicPr>
        <p:blipFill>
          <a:blip r:embed="rId2"/>
          <a:srcRect l="-20" r="-20" t="0" b="0"/>
          <a:stretch/>
        </p:blipFill>
        <p:spPr>
          <a:xfrm>
            <a:off x="3219450" y="2450244"/>
            <a:ext cx="228600" cy="139645"/>
          </a:xfrm>
          <a:prstGeom prst="rect">
            <a:avLst/>
          </a:prstGeom>
        </p:spPr>
      </p:pic>
      <p:sp>
        <p:nvSpPr>
          <p:cNvPr id="10" name="Shape 6"/>
          <p:cNvSpPr/>
          <p:nvPr/>
        </p:nvSpPr>
        <p:spPr>
          <a:xfrm>
            <a:off x="3524250" y="1922559"/>
            <a:ext cx="2381250" cy="1195015"/>
          </a:xfrm>
          <a:prstGeom prst="roundRect">
            <a:avLst>
              <a:gd name="adj" fmla="val 10627"/>
            </a:avLst>
          </a:prstGeom>
          <a:gradFill rotWithShape="1">
            <a:gsLst>
              <a:gs pos="0">
                <a:srgbClr val="0D2636"/>
              </a:gs>
              <a:gs pos="100000">
                <a:srgbClr val="135A79"/>
              </a:gs>
            </a:gsLst>
            <a:lin ang="3600000" scaled="0"/>
          </a:gradFill>
          <a:ln/>
          <a:effectLst>
            <a:outerShdw sx="100000" sy="100000" kx="0" ky="0" algn="bl" rotWithShape="0" blurRad="254000" dist="114300" dir="5400000">
              <a:srgbClr val="0D2636">
                <a:alpha val="22000"/>
              </a:srgbClr>
            </a:outerShdw>
          </a:effectLst>
        </p:spPr>
      </p:sp>
      <p:pic>
        <p:nvPicPr>
          <p:cNvPr id="11" name="Image 2" descr="Lightbulb">    </p:cNvPr>
          <p:cNvPicPr>
            <a:picLocks noChangeAspect="1"/>
          </p:cNvPicPr>
          <p:nvPr/>
        </p:nvPicPr>
        <p:blipFill>
          <a:blip r:embed="rId3"/>
          <a:srcRect l="0" r="0" t="0" b="0"/>
          <a:stretch/>
        </p:blipFill>
        <p:spPr>
          <a:xfrm>
            <a:off x="3714750" y="2113059"/>
            <a:ext cx="279372" cy="279372"/>
          </a:xfrm>
          <a:prstGeom prst="rect">
            <a:avLst/>
          </a:prstGeom>
        </p:spPr>
      </p:pic>
      <p:sp>
        <p:nvSpPr>
          <p:cNvPr id="12" name="Text 7"/>
          <p:cNvSpPr/>
          <p:nvPr/>
        </p:nvSpPr>
        <p:spPr>
          <a:xfrm>
            <a:off x="3714750" y="2481303"/>
            <a:ext cx="2060258" cy="471170"/>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F7F3EA"/>
                </a:solidFill>
                <a:latin typeface="Be Vietnam Pro" pitchFamily="34" charset="0"/>
                <a:ea typeface="Be Vietnam Pro" pitchFamily="34" charset="-122"/>
                <a:cs typeface="Be Vietnam Pro" pitchFamily="34" charset="-120"/>
              </a:rPr>
              <a:t>Gemini phân tích thành phần và giá</a:t>
            </a:r>
            <a:endParaRPr lang="en-US" sz="1350" dirty="0"/>
          </a:p>
        </p:txBody>
      </p:sp>
      <p:pic>
        <p:nvPicPr>
          <p:cNvPr id="13" name="Image 3" descr="arrow-right">    </p:cNvPr>
          <p:cNvPicPr>
            <a:picLocks noChangeAspect="1"/>
          </p:cNvPicPr>
          <p:nvPr/>
        </p:nvPicPr>
        <p:blipFill>
          <a:blip r:embed="rId4"/>
          <a:srcRect l="-20" r="-20" t="0" b="0"/>
          <a:stretch/>
        </p:blipFill>
        <p:spPr>
          <a:xfrm>
            <a:off x="5981700" y="2450244"/>
            <a:ext cx="228600" cy="139645"/>
          </a:xfrm>
          <a:prstGeom prst="rect">
            <a:avLst/>
          </a:prstGeom>
        </p:spPr>
      </p:pic>
      <p:sp>
        <p:nvSpPr>
          <p:cNvPr id="14" name="Shape 8"/>
          <p:cNvSpPr/>
          <p:nvPr/>
        </p:nvSpPr>
        <p:spPr>
          <a:xfrm>
            <a:off x="6286500" y="1922559"/>
            <a:ext cx="2381250" cy="1195015"/>
          </a:xfrm>
          <a:prstGeom prst="roundRect">
            <a:avLst>
              <a:gd name="adj" fmla="val 10627"/>
            </a:avLst>
          </a:prstGeom>
          <a:solidFill>
            <a:srgbClr val="FFFFFF"/>
          </a:solidFill>
          <a:ln/>
          <a:effectLst>
            <a:outerShdw sx="100000" sy="100000" kx="0" ky="0" algn="bl" rotWithShape="0" blurRad="190500" dist="76200" dir="5400000">
              <a:srgbClr val="0D2636">
                <a:alpha val="7000"/>
              </a:srgbClr>
            </a:outerShdw>
          </a:effectLst>
        </p:spPr>
      </p:sp>
      <p:pic>
        <p:nvPicPr>
          <p:cNvPr id="15" name="Image 4" descr="Tool">    </p:cNvPr>
          <p:cNvPicPr>
            <a:picLocks noChangeAspect="1"/>
          </p:cNvPicPr>
          <p:nvPr/>
        </p:nvPicPr>
        <p:blipFill>
          <a:blip r:embed="rId5"/>
          <a:srcRect l="0" r="0" t="0" b="0"/>
          <a:stretch/>
        </p:blipFill>
        <p:spPr>
          <a:xfrm>
            <a:off x="6477000" y="2113059"/>
            <a:ext cx="279372" cy="279372"/>
          </a:xfrm>
          <a:prstGeom prst="rect">
            <a:avLst/>
          </a:prstGeom>
        </p:spPr>
      </p:pic>
      <p:sp>
        <p:nvSpPr>
          <p:cNvPr id="16" name="Text 9"/>
          <p:cNvSpPr/>
          <p:nvPr/>
        </p:nvSpPr>
        <p:spPr>
          <a:xfrm>
            <a:off x="6477000" y="2481303"/>
            <a:ext cx="2060258" cy="471170"/>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0D2636"/>
                </a:solidFill>
                <a:latin typeface="Be Vietnam Pro" pitchFamily="34" charset="0"/>
                <a:ea typeface="Be Vietnam Pro" pitchFamily="34" charset="-122"/>
                <a:cs typeface="Be Vietnam Pro" pitchFamily="34" charset="-120"/>
              </a:rPr>
              <a:t>Shop chỉnh và gửi báo giá</a:t>
            </a:r>
            <a:endParaRPr lang="en-US" sz="1350" dirty="0"/>
          </a:p>
        </p:txBody>
      </p:sp>
      <p:pic>
        <p:nvPicPr>
          <p:cNvPr id="17" name="Image 5" descr="arrow-right">    </p:cNvPr>
          <p:cNvPicPr>
            <a:picLocks noChangeAspect="1"/>
          </p:cNvPicPr>
          <p:nvPr/>
        </p:nvPicPr>
        <p:blipFill>
          <a:blip r:embed="rId6"/>
          <a:srcRect l="-20" r="-20" t="0" b="0"/>
          <a:stretch/>
        </p:blipFill>
        <p:spPr>
          <a:xfrm>
            <a:off x="8743951" y="2450244"/>
            <a:ext cx="228600" cy="139645"/>
          </a:xfrm>
          <a:prstGeom prst="rect">
            <a:avLst/>
          </a:prstGeom>
        </p:spPr>
      </p:pic>
      <p:sp>
        <p:nvSpPr>
          <p:cNvPr id="18" name="Shape 10"/>
          <p:cNvSpPr/>
          <p:nvPr/>
        </p:nvSpPr>
        <p:spPr>
          <a:xfrm>
            <a:off x="9048751" y="1922559"/>
            <a:ext cx="2381250" cy="1195015"/>
          </a:xfrm>
          <a:prstGeom prst="roundRect">
            <a:avLst>
              <a:gd name="adj" fmla="val 10627"/>
            </a:avLst>
          </a:prstGeom>
          <a:solidFill>
            <a:srgbClr val="FFFFFF"/>
          </a:solidFill>
          <a:ln/>
          <a:effectLst>
            <a:outerShdw sx="100000" sy="100000" kx="0" ky="0" algn="bl" rotWithShape="0" blurRad="190500" dist="76200" dir="5400000">
              <a:srgbClr val="0D2636">
                <a:alpha val="7000"/>
              </a:srgbClr>
            </a:outerShdw>
          </a:effectLst>
        </p:spPr>
      </p:sp>
      <p:pic>
        <p:nvPicPr>
          <p:cNvPr id="19" name="Image 6" descr="CheckCircle">    </p:cNvPr>
          <p:cNvPicPr>
            <a:picLocks noChangeAspect="1"/>
          </p:cNvPicPr>
          <p:nvPr/>
        </p:nvPicPr>
        <p:blipFill>
          <a:blip r:embed="rId7"/>
          <a:srcRect l="0" r="0" t="0" b="0"/>
          <a:stretch/>
        </p:blipFill>
        <p:spPr>
          <a:xfrm>
            <a:off x="9239251" y="2113059"/>
            <a:ext cx="279372" cy="279372"/>
          </a:xfrm>
          <a:prstGeom prst="rect">
            <a:avLst/>
          </a:prstGeom>
        </p:spPr>
      </p:pic>
      <p:sp>
        <p:nvSpPr>
          <p:cNvPr id="20" name="Text 11"/>
          <p:cNvSpPr/>
          <p:nvPr/>
        </p:nvSpPr>
        <p:spPr>
          <a:xfrm>
            <a:off x="9239251" y="2481303"/>
            <a:ext cx="2060258" cy="471170"/>
          </a:xfrm>
          <a:prstGeom prst="rect">
            <a:avLst/>
          </a:prstGeom>
          <a:noFill/>
          <a:ln/>
        </p:spPr>
        <p:txBody>
          <a:bodyPr wrap="square" lIns="0" tIns="0" rIns="0" bIns="0" rtlCol="0" anchor="t">
            <a:normAutofit/>
          </a:bodyPr>
          <a:lstStyle/>
          <a:p>
            <a:pPr algn="l" indent="0" marL="0">
              <a:lnSpc>
                <a:spcPts val="1755"/>
              </a:lnSpc>
              <a:buNone/>
            </a:pPr>
            <a:r>
              <a:rPr lang="en-US" sz="1350" b="1" dirty="0">
                <a:solidFill>
                  <a:srgbClr val="0D2636"/>
                </a:solidFill>
                <a:latin typeface="Be Vietnam Pro" pitchFamily="34" charset="0"/>
                <a:ea typeface="Be Vietnam Pro" pitchFamily="34" charset="-122"/>
                <a:cs typeface="Be Vietnam Pro" pitchFamily="34" charset="-120"/>
              </a:rPr>
              <a:t>Khách đồng ý, thành đơn và thanh toán</a:t>
            </a:r>
            <a:endParaRPr lang="en-US" sz="1350" dirty="0"/>
          </a:p>
        </p:txBody>
      </p:sp>
      <p:sp>
        <p:nvSpPr>
          <p:cNvPr id="21" name="Shape 12"/>
          <p:cNvSpPr/>
          <p:nvPr/>
        </p:nvSpPr>
        <p:spPr>
          <a:xfrm>
            <a:off x="762000" y="3447718"/>
            <a:ext cx="10668001" cy="1489462"/>
          </a:xfrm>
          <a:prstGeom prst="roundRect">
            <a:avLst>
              <a:gd name="adj" fmla="val 9379"/>
            </a:avLst>
          </a:prstGeom>
          <a:solidFill>
            <a:srgbClr val="FFFFFF"/>
          </a:solidFill>
          <a:ln/>
          <a:effectLst>
            <a:outerShdw sx="100000" sy="100000" kx="0" ky="0" algn="bl" rotWithShape="0" blurRad="254000" dist="101600" dir="5400000">
              <a:srgbClr val="0D2636">
                <a:alpha val="8000"/>
              </a:srgbClr>
            </a:outerShdw>
          </a:effectLst>
        </p:spPr>
      </p:sp>
      <p:sp>
        <p:nvSpPr>
          <p:cNvPr id="22" name="Shape 13"/>
          <p:cNvSpPr/>
          <p:nvPr/>
        </p:nvSpPr>
        <p:spPr>
          <a:xfrm>
            <a:off x="762000" y="3447718"/>
            <a:ext cx="3301945" cy="1489462"/>
          </a:xfrm>
          <a:prstGeom prst="roundRect">
            <a:avLst>
              <a:gd name="adj" fmla="val 9379"/>
            </a:avLst>
          </a:prstGeom>
          <a:gradFill rotWithShape="1">
            <a:gsLst>
              <a:gs pos="0">
                <a:srgbClr val="FFF8D6"/>
              </a:gs>
              <a:gs pos="100000">
                <a:srgbClr val="F6E2BD"/>
              </a:gs>
            </a:gsLst>
            <a:lin ang="2700000" scaled="0"/>
          </a:gradFill>
          <a:ln/>
        </p:spPr>
      </p:sp>
      <p:sp>
        <p:nvSpPr>
          <p:cNvPr id="23" name="Text 14"/>
          <p:cNvSpPr/>
          <p:nvPr/>
        </p:nvSpPr>
        <p:spPr>
          <a:xfrm>
            <a:off x="990600" y="3676318"/>
            <a:ext cx="293008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12"/>
                </a:solidFill>
                <a:latin typeface="Be Vietnam Pro" pitchFamily="34" charset="0"/>
                <a:ea typeface="Be Vietnam Pro" pitchFamily="34" charset="-122"/>
                <a:cs typeface="Be Vietnam Pro" pitchFamily="34" charset="-120"/>
              </a:rPr>
              <a:t>VÍ DỤ</a:t>
            </a:r>
            <a:endParaRPr lang="en-US" sz="1200" dirty="0"/>
          </a:p>
        </p:txBody>
      </p:sp>
      <p:sp>
        <p:nvSpPr>
          <p:cNvPr id="24" name="Text 15"/>
          <p:cNvSpPr/>
          <p:nvPr/>
        </p:nvSpPr>
        <p:spPr>
          <a:xfrm>
            <a:off x="990600" y="3965879"/>
            <a:ext cx="2930087" cy="52318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636"/>
                </a:solidFill>
                <a:latin typeface="Be Vietnam Pro" pitchFamily="34" charset="0"/>
                <a:ea typeface="Be Vietnam Pro" pitchFamily="34" charset="-122"/>
                <a:cs typeface="Be Vietnam Pro" pitchFamily="34" charset="-120"/>
              </a:rPr>
              <a:t>Ảnh một bó hồng kèm mô tả “99 bông hồng đỏ”</a:t>
            </a:r>
            <a:endParaRPr lang="en-US" sz="1400" dirty="0"/>
          </a:p>
        </p:txBody>
      </p:sp>
      <p:sp>
        <p:nvSpPr>
          <p:cNvPr id="25" name="Text 16"/>
          <p:cNvSpPr/>
          <p:nvPr/>
        </p:nvSpPr>
        <p:spPr>
          <a:xfrm>
            <a:off x="4292545" y="3676318"/>
            <a:ext cx="711612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66E96"/>
                </a:solidFill>
                <a:latin typeface="Be Vietnam Pro" pitchFamily="34" charset="0"/>
                <a:ea typeface="Be Vietnam Pro" pitchFamily="34" charset="-122"/>
                <a:cs typeface="Be Vietnam Pro" pitchFamily="34" charset="-120"/>
              </a:rPr>
              <a:t>AI XỬ LÝ</a:t>
            </a:r>
            <a:endParaRPr lang="en-US" sz="1200" dirty="0"/>
          </a:p>
        </p:txBody>
      </p:sp>
      <p:sp>
        <p:nvSpPr>
          <p:cNvPr id="26" name="Text 17"/>
          <p:cNvSpPr/>
          <p:nvPr/>
        </p:nvSpPr>
        <p:spPr>
          <a:xfrm>
            <a:off x="4292545" y="3965879"/>
            <a:ext cx="7116121" cy="768102"/>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B66"/>
                </a:solidFill>
                <a:latin typeface="Be Vietnam Pro" pitchFamily="34" charset="0"/>
                <a:ea typeface="Be Vietnam Pro" pitchFamily="34" charset="-122"/>
                <a:cs typeface="Be Vietnam Pro" pitchFamily="34" charset="-120"/>
              </a:rPr>
              <a:t>Số lượng lấy theo mô tả: 99 bông. AI nhận diện phần còn lại, tính giá theo nhân công và lợi nhuận tối thiểu của shop, đánh dấu chỗ cần hỏi lại. Mỗi lần shop sửa, kết quả được lưu để huấn luyện.</a:t>
            </a:r>
            <a:endParaRPr lang="en-US" sz="1300" dirty="0"/>
          </a:p>
        </p:txBody>
      </p:sp>
      <p:pic>
        <p:nvPicPr>
          <p:cNvPr id="27" name="Image 7" descr="AVI Group">    </p:cNvPr>
          <p:cNvPicPr>
            <a:picLocks noChangeAspect="1"/>
          </p:cNvPicPr>
          <p:nvPr/>
        </p:nvPicPr>
        <p:blipFill>
          <a:blip r:embed="rId8"/>
          <a:srcRect l="-5" r="-5" t="0" b="0"/>
          <a:stretch/>
        </p:blipFill>
        <p:spPr>
          <a:xfrm>
            <a:off x="762000" y="6324684"/>
            <a:ext cx="419100" cy="279372"/>
          </a:xfrm>
          <a:prstGeom prst="rect">
            <a:avLst/>
          </a:prstGeom>
        </p:spPr>
      </p:pic>
      <p:sp>
        <p:nvSpPr>
          <p:cNvPr id="28" name="Text 18"/>
          <p:cNvSpPr/>
          <p:nvPr/>
        </p:nvSpPr>
        <p:spPr>
          <a:xfrm>
            <a:off x="1269972" y="6339839"/>
            <a:ext cx="6540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Florist SaaS · Đề xuất hợp tác</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MÔ HÌNH KINH DOANH</a:t>
            </a:r>
            <a:endParaRPr lang="en-US" sz="1200" dirty="0"/>
          </a:p>
        </p:txBody>
      </p:sp>
      <p:sp>
        <p:nvSpPr>
          <p:cNvPr id="3" name="Text 1"/>
          <p:cNvSpPr/>
          <p:nvPr>
            <p:ph type="title"/>
          </p:nvPr>
        </p:nvSpPr>
        <p:spPr>
          <a:xfrm>
            <a:off x="762000" y="1026049"/>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0D2636"/>
                </a:solidFill>
                <a:latin typeface="Playfair Display" pitchFamily="18" charset="0"/>
                <a:ea typeface="Playfair Display" pitchFamily="18" charset="-122"/>
                <a:cs typeface="Playfair Display" pitchFamily="18" charset="-120"/>
              </a:rPr>
              <a:t>Thuê bao theo chi nhánh, cộng dịch vụ trên giao dịch</a:t>
            </a:r>
            <a:endParaRPr lang="en-US" sz="3000" dirty="0"/>
          </a:p>
        </p:txBody>
      </p:sp>
      <p:sp>
        <p:nvSpPr>
          <p:cNvPr id="4" name="Shape 2"/>
          <p:cNvSpPr/>
          <p:nvPr/>
        </p:nvSpPr>
        <p:spPr>
          <a:xfrm>
            <a:off x="762000" y="1554314"/>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2000" y="1871787"/>
            <a:ext cx="10668001" cy="553692"/>
          </a:xfrm>
          <a:prstGeom prst="roundRect">
            <a:avLst>
              <a:gd name="adj" fmla="val 20643"/>
            </a:avLst>
          </a:prstGeom>
          <a:gradFill rotWithShape="1">
            <a:gsLst>
              <a:gs pos="0">
                <a:srgbClr val="0D2636"/>
              </a:gs>
              <a:gs pos="100000">
                <a:srgbClr val="135A79"/>
              </a:gs>
            </a:gsLst>
            <a:lin ang="0" scaled="0"/>
          </a:gradFill>
          <a:ln/>
        </p:spPr>
      </p:sp>
      <p:sp>
        <p:nvSpPr>
          <p:cNvPr id="6" name="Text 4"/>
          <p:cNvSpPr/>
          <p:nvPr/>
        </p:nvSpPr>
        <p:spPr>
          <a:xfrm>
            <a:off x="965172" y="2024187"/>
            <a:ext cx="2485362" cy="27429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EEF2E"/>
                </a:solidFill>
                <a:latin typeface="Be Vietnam Pro" pitchFamily="34" charset="0"/>
                <a:ea typeface="Be Vietnam Pro" pitchFamily="34" charset="-122"/>
                <a:cs typeface="Be Vietnam Pro" pitchFamily="34" charset="-120"/>
              </a:rPr>
              <a:t>Thuê bao</a:t>
            </a:r>
            <a:endParaRPr lang="en-US" sz="1400" dirty="0"/>
          </a:p>
        </p:txBody>
      </p:sp>
      <p:sp>
        <p:nvSpPr>
          <p:cNvPr id="7" name="Text 5"/>
          <p:cNvSpPr/>
          <p:nvPr/>
        </p:nvSpPr>
        <p:spPr>
          <a:xfrm>
            <a:off x="3555890" y="2033048"/>
            <a:ext cx="6606133" cy="2564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3EA"/>
                </a:solidFill>
                <a:latin typeface="Be Vietnam Pro" pitchFamily="34" charset="0"/>
                <a:ea typeface="Be Vietnam Pro" pitchFamily="34" charset="-122"/>
                <a:cs typeface="Be Vietnam Pro" pitchFamily="34" charset="-120"/>
              </a:rPr>
              <a:t>Giá gói kèm số chi nhánh, cộng phí mỗi chi nhánh thêm · miễn phí khi thí điểm</a:t>
            </a:r>
            <a:endParaRPr lang="en-US" sz="1300" dirty="0"/>
          </a:p>
        </p:txBody>
      </p:sp>
      <p:sp>
        <p:nvSpPr>
          <p:cNvPr id="8" name="Text 6"/>
          <p:cNvSpPr/>
          <p:nvPr/>
        </p:nvSpPr>
        <p:spPr>
          <a:xfrm>
            <a:off x="10096556" y="2041913"/>
            <a:ext cx="113027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EDC68E"/>
                </a:solidFill>
                <a:latin typeface="Be Vietnam Pro" pitchFamily="34" charset="0"/>
                <a:ea typeface="Be Vietnam Pro" pitchFamily="34" charset="-122"/>
                <a:cs typeface="Be Vietnam Pro" pitchFamily="34" charset="-120"/>
              </a:rPr>
              <a:t>Sau thí điểm</a:t>
            </a:r>
            <a:endParaRPr lang="en-US" sz="1200" dirty="0"/>
          </a:p>
        </p:txBody>
      </p:sp>
      <p:sp>
        <p:nvSpPr>
          <p:cNvPr id="9" name="Shape 7"/>
          <p:cNvSpPr/>
          <p:nvPr/>
        </p:nvSpPr>
        <p:spPr>
          <a:xfrm>
            <a:off x="765175" y="2504855"/>
            <a:ext cx="10661651" cy="532434"/>
          </a:xfrm>
          <a:prstGeom prst="roundRect">
            <a:avLst>
              <a:gd name="adj" fmla="val 20871"/>
            </a:avLst>
          </a:prstGeom>
          <a:solidFill>
            <a:srgbClr val="FFFFFF"/>
          </a:solidFill>
          <a:ln w="6350">
            <a:solidFill>
              <a:srgbClr val="EFE4D2"/>
            </a:solidFill>
            <a:prstDash val="solid"/>
          </a:ln>
        </p:spPr>
      </p:sp>
      <p:sp>
        <p:nvSpPr>
          <p:cNvPr id="10" name="Text 8"/>
          <p:cNvSpPr/>
          <p:nvPr/>
        </p:nvSpPr>
        <p:spPr>
          <a:xfrm>
            <a:off x="970473" y="2646626"/>
            <a:ext cx="2485362" cy="27429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636"/>
                </a:solidFill>
                <a:latin typeface="Be Vietnam Pro" pitchFamily="34" charset="0"/>
                <a:ea typeface="Be Vietnam Pro" pitchFamily="34" charset="-122"/>
                <a:cs typeface="Be Vietnam Pro" pitchFamily="34" charset="-120"/>
              </a:rPr>
              <a:t>Kênh thanh toán</a:t>
            </a:r>
            <a:endParaRPr lang="en-US" sz="1400" dirty="0"/>
          </a:p>
        </p:txBody>
      </p:sp>
      <p:sp>
        <p:nvSpPr>
          <p:cNvPr id="11" name="Text 9"/>
          <p:cNvSpPr/>
          <p:nvPr/>
        </p:nvSpPr>
        <p:spPr>
          <a:xfrm>
            <a:off x="3561191" y="2655488"/>
            <a:ext cx="6595213" cy="2564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B66"/>
                </a:solidFill>
                <a:latin typeface="Be Vietnam Pro" pitchFamily="34" charset="0"/>
                <a:ea typeface="Be Vietnam Pro" pitchFamily="34" charset="-122"/>
                <a:cs typeface="Be Vietnam Pro" pitchFamily="34" charset="-120"/>
              </a:rPr>
              <a:t>Chia sẻ phí hoặc phí dịch vụ khi tích hợp cổng thanh toán</a:t>
            </a:r>
            <a:endParaRPr lang="en-US" sz="1300" dirty="0"/>
          </a:p>
        </p:txBody>
      </p:sp>
      <p:sp>
        <p:nvSpPr>
          <p:cNvPr id="12" name="Text 10"/>
          <p:cNvSpPr/>
          <p:nvPr/>
        </p:nvSpPr>
        <p:spPr>
          <a:xfrm>
            <a:off x="10091255" y="2664349"/>
            <a:ext cx="113027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Giai đoạn 2</a:t>
            </a:r>
            <a:endParaRPr lang="en-US" sz="1200" dirty="0"/>
          </a:p>
        </p:txBody>
      </p:sp>
      <p:sp>
        <p:nvSpPr>
          <p:cNvPr id="13" name="Shape 11"/>
          <p:cNvSpPr/>
          <p:nvPr/>
        </p:nvSpPr>
        <p:spPr>
          <a:xfrm>
            <a:off x="765175" y="3119837"/>
            <a:ext cx="10661651" cy="532434"/>
          </a:xfrm>
          <a:prstGeom prst="roundRect">
            <a:avLst>
              <a:gd name="adj" fmla="val 20871"/>
            </a:avLst>
          </a:prstGeom>
          <a:solidFill>
            <a:srgbClr val="FFFFFF"/>
          </a:solidFill>
          <a:ln w="6350">
            <a:solidFill>
              <a:srgbClr val="EFE4D2"/>
            </a:solidFill>
            <a:prstDash val="solid"/>
          </a:ln>
        </p:spPr>
      </p:sp>
      <p:sp>
        <p:nvSpPr>
          <p:cNvPr id="14" name="Text 12"/>
          <p:cNvSpPr/>
          <p:nvPr/>
        </p:nvSpPr>
        <p:spPr>
          <a:xfrm>
            <a:off x="970473" y="3261609"/>
            <a:ext cx="2485362" cy="27429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636"/>
                </a:solidFill>
                <a:latin typeface="Be Vietnam Pro" pitchFamily="34" charset="0"/>
                <a:ea typeface="Be Vietnam Pro" pitchFamily="34" charset="-122"/>
                <a:cs typeface="Be Vietnam Pro" pitchFamily="34" charset="-120"/>
              </a:rPr>
              <a:t>Hóa đơn, add-on</a:t>
            </a:r>
            <a:endParaRPr lang="en-US" sz="1400" dirty="0"/>
          </a:p>
        </p:txBody>
      </p:sp>
      <p:sp>
        <p:nvSpPr>
          <p:cNvPr id="15" name="Text 13"/>
          <p:cNvSpPr/>
          <p:nvPr/>
        </p:nvSpPr>
        <p:spPr>
          <a:xfrm>
            <a:off x="3561191" y="3270470"/>
            <a:ext cx="6595213" cy="2564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B66"/>
                </a:solidFill>
                <a:latin typeface="Be Vietnam Pro" pitchFamily="34" charset="0"/>
                <a:ea typeface="Be Vietnam Pro" pitchFamily="34" charset="-122"/>
                <a:cs typeface="Be Vietnam Pro" pitchFamily="34" charset="-120"/>
              </a:rPr>
              <a:t>Bán lại gói hóa đơn điện tử, lượt AI, Zalo ZNS, tên miền riêng</a:t>
            </a:r>
            <a:endParaRPr lang="en-US" sz="1300" dirty="0"/>
          </a:p>
        </p:txBody>
      </p:sp>
      <p:sp>
        <p:nvSpPr>
          <p:cNvPr id="16" name="Text 14"/>
          <p:cNvSpPr/>
          <p:nvPr/>
        </p:nvSpPr>
        <p:spPr>
          <a:xfrm>
            <a:off x="10091255" y="3279335"/>
            <a:ext cx="113027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Giai đoạn 2</a:t>
            </a:r>
            <a:endParaRPr lang="en-US" sz="1200" dirty="0"/>
          </a:p>
        </p:txBody>
      </p:sp>
      <p:sp>
        <p:nvSpPr>
          <p:cNvPr id="17" name="Shape 15"/>
          <p:cNvSpPr/>
          <p:nvPr/>
        </p:nvSpPr>
        <p:spPr>
          <a:xfrm>
            <a:off x="765175" y="3734820"/>
            <a:ext cx="10661651" cy="532434"/>
          </a:xfrm>
          <a:prstGeom prst="roundRect">
            <a:avLst>
              <a:gd name="adj" fmla="val 20871"/>
            </a:avLst>
          </a:prstGeom>
          <a:solidFill>
            <a:srgbClr val="FFFFFF"/>
          </a:solidFill>
          <a:ln w="6350">
            <a:solidFill>
              <a:srgbClr val="EFE4D2"/>
            </a:solidFill>
            <a:prstDash val="solid"/>
          </a:ln>
        </p:spPr>
      </p:sp>
      <p:sp>
        <p:nvSpPr>
          <p:cNvPr id="18" name="Text 16"/>
          <p:cNvSpPr/>
          <p:nvPr/>
        </p:nvSpPr>
        <p:spPr>
          <a:xfrm>
            <a:off x="970473" y="3876591"/>
            <a:ext cx="2485362" cy="27429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636"/>
                </a:solidFill>
                <a:latin typeface="Be Vietnam Pro" pitchFamily="34" charset="0"/>
                <a:ea typeface="Be Vietnam Pro" pitchFamily="34" charset="-122"/>
                <a:cs typeface="Be Vietnam Pro" pitchFamily="34" charset="-120"/>
              </a:rPr>
              <a:t>Phí rút tiền</a:t>
            </a:r>
            <a:endParaRPr lang="en-US" sz="1400" dirty="0"/>
          </a:p>
        </p:txBody>
      </p:sp>
      <p:sp>
        <p:nvSpPr>
          <p:cNvPr id="19" name="Text 17"/>
          <p:cNvSpPr/>
          <p:nvPr/>
        </p:nvSpPr>
        <p:spPr>
          <a:xfrm>
            <a:off x="3561191" y="3885456"/>
            <a:ext cx="6595213" cy="2564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B66"/>
                </a:solidFill>
                <a:latin typeface="Be Vietnam Pro" pitchFamily="34" charset="0"/>
                <a:ea typeface="Be Vietnam Pro" pitchFamily="34" charset="-122"/>
                <a:cs typeface="Be Vietnam Pro" pitchFamily="34" charset="-120"/>
              </a:rPr>
              <a:t>Rút hoa hồng ngoài khung thời gian miễn phí</a:t>
            </a:r>
            <a:endParaRPr lang="en-US" sz="1300" dirty="0"/>
          </a:p>
        </p:txBody>
      </p:sp>
      <p:sp>
        <p:nvSpPr>
          <p:cNvPr id="20" name="Text 18"/>
          <p:cNvSpPr/>
          <p:nvPr/>
        </p:nvSpPr>
        <p:spPr>
          <a:xfrm>
            <a:off x="10091255" y="3894317"/>
            <a:ext cx="113027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Giai đoạn 1</a:t>
            </a:r>
            <a:endParaRPr lang="en-US" sz="1200" dirty="0"/>
          </a:p>
        </p:txBody>
      </p:sp>
      <p:sp>
        <p:nvSpPr>
          <p:cNvPr id="21" name="Shape 19"/>
          <p:cNvSpPr/>
          <p:nvPr/>
        </p:nvSpPr>
        <p:spPr>
          <a:xfrm>
            <a:off x="762000" y="4346628"/>
            <a:ext cx="10668001" cy="528182"/>
          </a:xfrm>
          <a:prstGeom prst="roundRect">
            <a:avLst>
              <a:gd name="adj" fmla="val 21640"/>
            </a:avLst>
          </a:prstGeom>
          <a:gradFill rotWithShape="1">
            <a:gsLst>
              <a:gs pos="0">
                <a:srgbClr val="FFF8D6"/>
              </a:gs>
              <a:gs pos="100000">
                <a:srgbClr val="F6E2BD"/>
              </a:gs>
            </a:gsLst>
            <a:lin ang="0" scaled="0"/>
          </a:gradFill>
          <a:ln/>
        </p:spPr>
      </p:sp>
      <p:sp>
        <p:nvSpPr>
          <p:cNvPr id="22" name="Text 20"/>
          <p:cNvSpPr/>
          <p:nvPr/>
        </p:nvSpPr>
        <p:spPr>
          <a:xfrm>
            <a:off x="965172" y="4486278"/>
            <a:ext cx="2485362" cy="27429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D2636"/>
                </a:solidFill>
                <a:latin typeface="Be Vietnam Pro" pitchFamily="34" charset="0"/>
                <a:ea typeface="Be Vietnam Pro" pitchFamily="34" charset="-122"/>
                <a:cs typeface="Be Vietnam Pro" pitchFamily="34" charset="-120"/>
              </a:rPr>
              <a:t>Avi Supply</a:t>
            </a:r>
            <a:endParaRPr lang="en-US" sz="1400" dirty="0"/>
          </a:p>
        </p:txBody>
      </p:sp>
      <p:sp>
        <p:nvSpPr>
          <p:cNvPr id="23" name="Text 21"/>
          <p:cNvSpPr/>
          <p:nvPr/>
        </p:nvSpPr>
        <p:spPr>
          <a:xfrm>
            <a:off x="3555890" y="4495140"/>
            <a:ext cx="6606133" cy="25648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B66"/>
                </a:solidFill>
                <a:latin typeface="Be Vietnam Pro" pitchFamily="34" charset="0"/>
                <a:ea typeface="Be Vietnam Pro" pitchFamily="34" charset="-122"/>
                <a:cs typeface="Be Vietnam Pro" pitchFamily="34" charset="-120"/>
              </a:rPr>
              <a:t>Bán nguyên liệu, phụ kiện cho shop ngay trong app</a:t>
            </a:r>
            <a:endParaRPr lang="en-US" sz="1300" dirty="0"/>
          </a:p>
        </p:txBody>
      </p:sp>
      <p:sp>
        <p:nvSpPr>
          <p:cNvPr id="24" name="Text 22"/>
          <p:cNvSpPr/>
          <p:nvPr/>
        </p:nvSpPr>
        <p:spPr>
          <a:xfrm>
            <a:off x="10096556" y="4504001"/>
            <a:ext cx="113027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8A5A12"/>
                </a:solidFill>
                <a:latin typeface="Be Vietnam Pro" pitchFamily="34" charset="0"/>
                <a:ea typeface="Be Vietnam Pro" pitchFamily="34" charset="-122"/>
                <a:cs typeface="Be Vietnam Pro" pitchFamily="34" charset="-120"/>
              </a:rPr>
              <a:t>Giai đoạn 3</a:t>
            </a:r>
            <a:endParaRPr lang="en-US" sz="1200" dirty="0"/>
          </a:p>
        </p:txBody>
      </p:sp>
      <p:sp>
        <p:nvSpPr>
          <p:cNvPr id="25" name="Text 23"/>
          <p:cNvSpPr/>
          <p:nvPr/>
        </p:nvSpPr>
        <p:spPr>
          <a:xfrm>
            <a:off x="762000" y="5154188"/>
            <a:ext cx="1098804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6"/>
                </a:solidFill>
                <a:latin typeface="Be Vietnam Pro" pitchFamily="34" charset="0"/>
                <a:ea typeface="Be Vietnam Pro" pitchFamily="34" charset="-122"/>
                <a:cs typeface="Be Vietnam Pro" pitchFamily="34" charset="-120"/>
              </a:rPr>
              <a:t>Hoa hồng đơn điện hoa do Avi chi trả cho shop, không tính là doanh thu nền tảng</a:t>
            </a:r>
            <a:endParaRPr lang="en-US" sz="1200" dirty="0"/>
          </a:p>
        </p:txBody>
      </p:sp>
      <p:pic>
        <p:nvPicPr>
          <p:cNvPr id="26" name="Image 0" descr="AVI Group">    </p:cNvPr>
          <p:cNvPicPr>
            <a:picLocks noChangeAspect="1"/>
          </p:cNvPicPr>
          <p:nvPr/>
        </p:nvPicPr>
        <p:blipFill>
          <a:blip r:embed="rId1"/>
          <a:srcRect l="-5" r="-5" t="0" b="0"/>
          <a:stretch/>
        </p:blipFill>
        <p:spPr>
          <a:xfrm>
            <a:off x="762000" y="6324684"/>
            <a:ext cx="419100" cy="279372"/>
          </a:xfrm>
          <a:prstGeom prst="rect">
            <a:avLst/>
          </a:prstGeom>
        </p:spPr>
      </p:pic>
      <p:sp>
        <p:nvSpPr>
          <p:cNvPr id="27" name="Text 24"/>
          <p:cNvSpPr/>
          <p:nvPr/>
        </p:nvSpPr>
        <p:spPr>
          <a:xfrm>
            <a:off x="1269972" y="6339839"/>
            <a:ext cx="6540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Florist SaaS · Đề xuất hợp tác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2C"/>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0B1F2C"/>
              </a:gs>
              <a:gs pos="55000">
                <a:srgbClr val="10344A"/>
              </a:gs>
              <a:gs pos="100000">
                <a:srgbClr val="0F5470"/>
              </a:gs>
            </a:gsLst>
            <a:lin ang="2700000" scaled="0"/>
          </a:gradFill>
          <a:ln/>
        </p:spPr>
      </p:sp>
      <p:sp>
        <p:nvSpPr>
          <p:cNvPr id="3" name="Text 1"/>
          <p:cNvSpPr/>
          <p:nvPr/>
        </p:nvSpPr>
        <p:spPr>
          <a:xfrm>
            <a:off x="762000" y="7111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C68E"/>
                </a:solidFill>
                <a:latin typeface="Be Vietnam Pro" pitchFamily="34" charset="0"/>
                <a:ea typeface="Be Vietnam Pro" pitchFamily="34" charset="-122"/>
                <a:cs typeface="Be Vietnam Pro" pitchFamily="34" charset="-120"/>
              </a:rPr>
              <a:t>CHIẾN LƯỢC</a:t>
            </a:r>
            <a:endParaRPr lang="en-US" sz="1200" dirty="0"/>
          </a:p>
        </p:txBody>
      </p:sp>
      <p:sp>
        <p:nvSpPr>
          <p:cNvPr id="4" name="Text 2"/>
          <p:cNvSpPr/>
          <p:nvPr>
            <p:ph type="title"/>
          </p:nvPr>
        </p:nvSpPr>
        <p:spPr>
          <a:xfrm>
            <a:off x="762000" y="1026046"/>
            <a:ext cx="10988041" cy="935659"/>
          </a:xfrm>
          <a:prstGeom prst="rect">
            <a:avLst/>
          </a:prstGeom>
          <a:noFill/>
          <a:ln/>
        </p:spPr>
        <p:txBody>
          <a:bodyPr wrap="square" lIns="0" tIns="0" rIns="0" bIns="0" rtlCol="0" anchor="t">
            <a:normAutofit/>
          </a:bodyPr>
          <a:lstStyle/>
          <a:p>
            <a:pPr algn="l" indent="0" marL="0">
              <a:lnSpc>
                <a:spcPts val="3584"/>
              </a:lnSpc>
              <a:buNone/>
            </a:pPr>
            <a:r>
              <a:rPr lang="en-US" sz="3200" b="1" i="0" dirty="0">
                <a:solidFill>
                  <a:srgbClr val="F7F3EA"/>
                </a:solidFill>
                <a:latin typeface="Playfair Display" pitchFamily="18" charset="0"/>
                <a:ea typeface="Playfair Display" pitchFamily="18" charset="-122"/>
                <a:cs typeface="Playfair Display" pitchFamily="18" charset="-120"/>
              </a:rPr>
              <a:t>Phần mềm là cửa vào,</a:t>
            </a:r>
            <a:endParaRPr lang="en-US" sz="3200" dirty="0"/>
          </a:p>
          <a:p>
            <a:pPr algn="l" indent="0" marL="0">
              <a:lnSpc>
                <a:spcPts val="3584"/>
              </a:lnSpc>
              <a:buNone/>
            </a:pPr>
            <a:r>
              <a:rPr lang="en-US" sz="3200" b="1" i="0" dirty="0">
                <a:solidFill>
                  <a:srgbClr val="F7F3EA"/>
                </a:solidFill>
                <a:latin typeface="Playfair Display" pitchFamily="18" charset="0"/>
                <a:ea typeface="Playfair Display" pitchFamily="18" charset="-122"/>
                <a:cs typeface="Playfair Display" pitchFamily="18" charset="-120"/>
              </a:rPr>
              <a:t>mạng lưới shop là tài sản</a:t>
            </a:r>
            <a:endParaRPr lang="en-US" sz="3200" dirty="0"/>
          </a:p>
        </p:txBody>
      </p:sp>
      <p:sp>
        <p:nvSpPr>
          <p:cNvPr id="5" name="Shape 3"/>
          <p:cNvSpPr/>
          <p:nvPr/>
        </p:nvSpPr>
        <p:spPr>
          <a:xfrm>
            <a:off x="762000" y="2037848"/>
            <a:ext cx="6096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5175" y="2460123"/>
            <a:ext cx="2406622" cy="1454122"/>
          </a:xfrm>
          <a:prstGeom prst="roundRect">
            <a:avLst>
              <a:gd name="adj" fmla="val 9389"/>
            </a:avLst>
          </a:prstGeom>
          <a:solidFill>
            <a:srgbClr val="FFFFFF">
              <a:alpha val="7000"/>
            </a:srgbClr>
          </a:solidFill>
          <a:ln w="6350">
            <a:solidFill>
              <a:srgbClr val="FFFFFF">
                <a:alpha val="16000"/>
              </a:srgbClr>
            </a:solidFill>
            <a:prstDash val="solid"/>
          </a:ln>
        </p:spPr>
      </p:sp>
      <p:sp>
        <p:nvSpPr>
          <p:cNvPr id="7" name="Text 5"/>
          <p:cNvSpPr/>
          <p:nvPr/>
        </p:nvSpPr>
        <p:spPr>
          <a:xfrm>
            <a:off x="970473" y="2665425"/>
            <a:ext cx="355572" cy="355572"/>
          </a:xfrm>
          <a:custGeom>
            <a:avLst/>
            <a:gdLst/>
            <a:ahLst/>
            <a:cxnLst/>
            <a:rect l="l" t="t" r="r" b="b"/>
            <a:pathLst>
              <a:path w="355572" h="355572">
                <a:moveTo>
                  <a:pt x="177786" y="0"/>
                </a:moveTo>
                <a:lnTo>
                  <a:pt x="177786" y="0"/>
                </a:lnTo>
                <a:arcTo hR="177786" wR="177786" stAng="16200000" swAng="5400000"/>
                <a:lnTo>
                  <a:pt x="355572" y="177786"/>
                </a:lnTo>
                <a:arcTo hR="177786" wR="177786" stAng="0" swAng="5400000"/>
                <a:lnTo>
                  <a:pt x="177786" y="355572"/>
                </a:lnTo>
                <a:arcTo hR="177786" wR="177786" stAng="5400000" swAng="5400000"/>
                <a:lnTo>
                  <a:pt x="0" y="177786"/>
                </a:lnTo>
                <a:arcTo hR="177786" wR="177786"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795"/>
              </a:lnSpc>
              <a:buNone/>
            </a:pPr>
            <a:r>
              <a:rPr lang="en-US" sz="1300" b="1" dirty="0">
                <a:solidFill>
                  <a:srgbClr val="FFFFFF"/>
                </a:solidFill>
                <a:latin typeface="Be Vietnam Pro" pitchFamily="34" charset="0"/>
                <a:ea typeface="Be Vietnam Pro" pitchFamily="34" charset="-122"/>
                <a:cs typeface="Be Vietnam Pro" pitchFamily="34" charset="-120"/>
              </a:rPr>
              <a:t>1</a:t>
            </a:r>
            <a:endParaRPr lang="en-US" sz="1300" dirty="0"/>
          </a:p>
        </p:txBody>
      </p:sp>
      <p:sp>
        <p:nvSpPr>
          <p:cNvPr id="8" name="Text 6"/>
          <p:cNvSpPr/>
          <p:nvPr/>
        </p:nvSpPr>
        <p:spPr>
          <a:xfrm>
            <a:off x="970473" y="3109869"/>
            <a:ext cx="2055907" cy="48773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7F3EA"/>
                </a:solidFill>
                <a:latin typeface="Be Vietnam Pro" pitchFamily="34" charset="0"/>
                <a:ea typeface="Be Vietnam Pro" pitchFamily="34" charset="-122"/>
                <a:cs typeface="Be Vietnam Pro" pitchFamily="34" charset="-120"/>
              </a:rPr>
              <a:t>Shop dùng phần mềm quản lý</a:t>
            </a:r>
            <a:endParaRPr lang="en-US" sz="1400" dirty="0"/>
          </a:p>
        </p:txBody>
      </p:sp>
      <p:sp>
        <p:nvSpPr>
          <p:cNvPr id="9" name="Shape 7"/>
          <p:cNvSpPr/>
          <p:nvPr/>
        </p:nvSpPr>
        <p:spPr>
          <a:xfrm>
            <a:off x="3514670" y="2460123"/>
            <a:ext cx="2406622" cy="1454122"/>
          </a:xfrm>
          <a:prstGeom prst="roundRect">
            <a:avLst>
              <a:gd name="adj" fmla="val 9389"/>
            </a:avLst>
          </a:prstGeom>
          <a:solidFill>
            <a:srgbClr val="FFFFFF">
              <a:alpha val="7000"/>
            </a:srgbClr>
          </a:solidFill>
          <a:ln w="6350">
            <a:solidFill>
              <a:srgbClr val="FFFFFF">
                <a:alpha val="16000"/>
              </a:srgbClr>
            </a:solidFill>
            <a:prstDash val="solid"/>
          </a:ln>
        </p:spPr>
      </p:sp>
      <p:sp>
        <p:nvSpPr>
          <p:cNvPr id="10" name="Text 8"/>
          <p:cNvSpPr/>
          <p:nvPr/>
        </p:nvSpPr>
        <p:spPr>
          <a:xfrm>
            <a:off x="3719968" y="2665425"/>
            <a:ext cx="355572" cy="355572"/>
          </a:xfrm>
          <a:custGeom>
            <a:avLst/>
            <a:gdLst/>
            <a:ahLst/>
            <a:cxnLst/>
            <a:rect l="l" t="t" r="r" b="b"/>
            <a:pathLst>
              <a:path w="355572" h="355572">
                <a:moveTo>
                  <a:pt x="177786" y="0"/>
                </a:moveTo>
                <a:lnTo>
                  <a:pt x="177786" y="0"/>
                </a:lnTo>
                <a:arcTo hR="177786" wR="177786" stAng="16200000" swAng="5400000"/>
                <a:lnTo>
                  <a:pt x="355572" y="177786"/>
                </a:lnTo>
                <a:arcTo hR="177786" wR="177786" stAng="0" swAng="5400000"/>
                <a:lnTo>
                  <a:pt x="177786" y="355572"/>
                </a:lnTo>
                <a:arcTo hR="177786" wR="177786" stAng="5400000" swAng="5400000"/>
                <a:lnTo>
                  <a:pt x="0" y="177786"/>
                </a:lnTo>
                <a:arcTo hR="177786" wR="177786"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795"/>
              </a:lnSpc>
              <a:buNone/>
            </a:pPr>
            <a:r>
              <a:rPr lang="en-US" sz="1300" b="1" dirty="0">
                <a:solidFill>
                  <a:srgbClr val="FFFFFF"/>
                </a:solidFill>
                <a:latin typeface="Be Vietnam Pro" pitchFamily="34" charset="0"/>
                <a:ea typeface="Be Vietnam Pro" pitchFamily="34" charset="-122"/>
                <a:cs typeface="Be Vietnam Pro" pitchFamily="34" charset="-120"/>
              </a:rPr>
              <a:t>2</a:t>
            </a:r>
            <a:endParaRPr lang="en-US" sz="1300" dirty="0"/>
          </a:p>
        </p:txBody>
      </p:sp>
      <p:sp>
        <p:nvSpPr>
          <p:cNvPr id="11" name="Text 9"/>
          <p:cNvSpPr/>
          <p:nvPr/>
        </p:nvSpPr>
        <p:spPr>
          <a:xfrm>
            <a:off x="3719968" y="3109869"/>
            <a:ext cx="2055907" cy="48773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7F3EA"/>
                </a:solidFill>
                <a:latin typeface="Be Vietnam Pro" pitchFamily="34" charset="0"/>
                <a:ea typeface="Be Vietnam Pro" pitchFamily="34" charset="-122"/>
                <a:cs typeface="Be Vietnam Pro" pitchFamily="34" charset="-120"/>
              </a:rPr>
              <a:t>Tham gia mạng lưới điện hoa Avi</a:t>
            </a:r>
            <a:endParaRPr lang="en-US" sz="1400" dirty="0"/>
          </a:p>
        </p:txBody>
      </p:sp>
      <p:sp>
        <p:nvSpPr>
          <p:cNvPr id="12" name="Shape 10"/>
          <p:cNvSpPr/>
          <p:nvPr/>
        </p:nvSpPr>
        <p:spPr>
          <a:xfrm>
            <a:off x="6264248" y="2460123"/>
            <a:ext cx="2406622" cy="1454122"/>
          </a:xfrm>
          <a:prstGeom prst="roundRect">
            <a:avLst>
              <a:gd name="adj" fmla="val 9389"/>
            </a:avLst>
          </a:prstGeom>
          <a:solidFill>
            <a:srgbClr val="FFFFFF">
              <a:alpha val="7000"/>
            </a:srgbClr>
          </a:solidFill>
          <a:ln w="6350">
            <a:solidFill>
              <a:srgbClr val="FFFFFF">
                <a:alpha val="16000"/>
              </a:srgbClr>
            </a:solidFill>
            <a:prstDash val="solid"/>
          </a:ln>
        </p:spPr>
      </p:sp>
      <p:sp>
        <p:nvSpPr>
          <p:cNvPr id="13" name="Text 11"/>
          <p:cNvSpPr/>
          <p:nvPr/>
        </p:nvSpPr>
        <p:spPr>
          <a:xfrm>
            <a:off x="6469546" y="2665425"/>
            <a:ext cx="355572" cy="355572"/>
          </a:xfrm>
          <a:custGeom>
            <a:avLst/>
            <a:gdLst/>
            <a:ahLst/>
            <a:cxnLst/>
            <a:rect l="l" t="t" r="r" b="b"/>
            <a:pathLst>
              <a:path w="355572" h="355572">
                <a:moveTo>
                  <a:pt x="177786" y="0"/>
                </a:moveTo>
                <a:lnTo>
                  <a:pt x="177786" y="0"/>
                </a:lnTo>
                <a:arcTo hR="177786" wR="177786" stAng="16200000" swAng="5400000"/>
                <a:lnTo>
                  <a:pt x="355572" y="177786"/>
                </a:lnTo>
                <a:arcTo hR="177786" wR="177786" stAng="0" swAng="5400000"/>
                <a:lnTo>
                  <a:pt x="177786" y="355572"/>
                </a:lnTo>
                <a:arcTo hR="177786" wR="177786" stAng="5400000" swAng="5400000"/>
                <a:lnTo>
                  <a:pt x="0" y="177786"/>
                </a:lnTo>
                <a:arcTo hR="177786" wR="177786" stAng="10800000" swAng="5400000"/>
                <a:close/>
              </a:path>
            </a:pathLst>
          </a:custGeom>
          <a:gradFill rotWithShape="1">
            <a:gsLst>
              <a:gs pos="0">
                <a:srgbClr val="5ED6F8"/>
              </a:gs>
              <a:gs pos="100000">
                <a:srgbClr val="0394C9"/>
              </a:gs>
            </a:gsLst>
            <a:lin ang="2700000" scaled="0"/>
          </a:gradFill>
          <a:ln/>
        </p:spPr>
        <p:txBody>
          <a:bodyPr wrap="square" lIns="0" tIns="0" rIns="0" bIns="0" rtlCol="0" anchor="t">
            <a:normAutofit/>
          </a:bodyPr>
          <a:lstStyle/>
          <a:p>
            <a:pPr algn="ctr" indent="0" marL="0">
              <a:lnSpc>
                <a:spcPts val="2795"/>
              </a:lnSpc>
              <a:buNone/>
            </a:pPr>
            <a:r>
              <a:rPr lang="en-US" sz="1300" b="1" dirty="0">
                <a:solidFill>
                  <a:srgbClr val="FFFFFF"/>
                </a:solidFill>
                <a:latin typeface="Be Vietnam Pro" pitchFamily="34" charset="0"/>
                <a:ea typeface="Be Vietnam Pro" pitchFamily="34" charset="-122"/>
                <a:cs typeface="Be Vietnam Pro" pitchFamily="34" charset="-120"/>
              </a:rPr>
              <a:t>3</a:t>
            </a:r>
            <a:endParaRPr lang="en-US" sz="1300" dirty="0"/>
          </a:p>
        </p:txBody>
      </p:sp>
      <p:sp>
        <p:nvSpPr>
          <p:cNvPr id="14" name="Text 12"/>
          <p:cNvSpPr/>
          <p:nvPr/>
        </p:nvSpPr>
        <p:spPr>
          <a:xfrm>
            <a:off x="6469546" y="3109869"/>
            <a:ext cx="2055907" cy="48773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7F3EA"/>
                </a:solidFill>
                <a:latin typeface="Be Vietnam Pro" pitchFamily="34" charset="0"/>
                <a:ea typeface="Be Vietnam Pro" pitchFamily="34" charset="-122"/>
                <a:cs typeface="Be Vietnam Pro" pitchFamily="34" charset="-120"/>
              </a:rPr>
              <a:t>Nhận thêm đơn, sinh dữ liệu</a:t>
            </a:r>
            <a:endParaRPr lang="en-US" sz="1400" dirty="0"/>
          </a:p>
        </p:txBody>
      </p:sp>
      <p:sp>
        <p:nvSpPr>
          <p:cNvPr id="15" name="Shape 13"/>
          <p:cNvSpPr/>
          <p:nvPr/>
        </p:nvSpPr>
        <p:spPr>
          <a:xfrm>
            <a:off x="9023295" y="2463298"/>
            <a:ext cx="2400272" cy="1447772"/>
          </a:xfrm>
          <a:prstGeom prst="roundRect">
            <a:avLst>
              <a:gd name="adj" fmla="val 9211"/>
            </a:avLst>
          </a:prstGeom>
          <a:gradFill rotWithShape="1">
            <a:gsLst>
              <a:gs pos="0">
                <a:srgbClr val="FEEF2E">
                  <a:alpha val="22000"/>
                </a:srgbClr>
              </a:gs>
              <a:gs pos="100000">
                <a:srgbClr val="EDC68E">
                  <a:alpha val="22000"/>
                </a:srgbClr>
              </a:gs>
            </a:gsLst>
            <a:lin ang="3600000" scaled="0"/>
          </a:gradFill>
          <a:ln w="12700">
            <a:solidFill>
              <a:srgbClr val="EDC68E"/>
            </a:solidFill>
            <a:prstDash val="solid"/>
          </a:ln>
        </p:spPr>
      </p:sp>
      <p:sp>
        <p:nvSpPr>
          <p:cNvPr id="16" name="Text 14"/>
          <p:cNvSpPr/>
          <p:nvPr/>
        </p:nvSpPr>
        <p:spPr>
          <a:xfrm>
            <a:off x="9230720" y="2670727"/>
            <a:ext cx="355572" cy="355572"/>
          </a:xfrm>
          <a:custGeom>
            <a:avLst/>
            <a:gdLst/>
            <a:ahLst/>
            <a:cxnLst/>
            <a:rect l="l" t="t" r="r" b="b"/>
            <a:pathLst>
              <a:path w="355572" h="355572">
                <a:moveTo>
                  <a:pt x="177786" y="0"/>
                </a:moveTo>
                <a:lnTo>
                  <a:pt x="177786" y="0"/>
                </a:lnTo>
                <a:arcTo hR="177786" wR="177786" stAng="16200000" swAng="5400000"/>
                <a:lnTo>
                  <a:pt x="355572" y="177786"/>
                </a:lnTo>
                <a:arcTo hR="177786" wR="177786" stAng="0" swAng="5400000"/>
                <a:lnTo>
                  <a:pt x="177786" y="355572"/>
                </a:lnTo>
                <a:arcTo hR="177786" wR="177786" stAng="5400000" swAng="5400000"/>
                <a:lnTo>
                  <a:pt x="0" y="177786"/>
                </a:lnTo>
                <a:arcTo hR="177786" wR="177786" stAng="10800000" swAng="5400000"/>
                <a:close/>
              </a:path>
            </a:pathLst>
          </a:custGeom>
          <a:gradFill rotWithShape="1">
            <a:gsLst>
              <a:gs pos="0">
                <a:srgbClr val="FEEF2E"/>
              </a:gs>
              <a:gs pos="100000">
                <a:srgbClr val="EDC68E"/>
              </a:gs>
            </a:gsLst>
            <a:lin ang="2700000" scaled="0"/>
          </a:gradFill>
          <a:ln/>
        </p:spPr>
        <p:txBody>
          <a:bodyPr wrap="square" lIns="0" tIns="0" rIns="0" bIns="0" rtlCol="0" anchor="t">
            <a:normAutofit/>
          </a:bodyPr>
          <a:lstStyle/>
          <a:p>
            <a:pPr algn="ctr" indent="0" marL="0">
              <a:lnSpc>
                <a:spcPts val="2795"/>
              </a:lnSpc>
              <a:buNone/>
            </a:pPr>
            <a:r>
              <a:rPr lang="en-US" sz="1300" b="1" dirty="0">
                <a:solidFill>
                  <a:srgbClr val="0D2636"/>
                </a:solidFill>
                <a:latin typeface="Be Vietnam Pro" pitchFamily="34" charset="0"/>
                <a:ea typeface="Be Vietnam Pro" pitchFamily="34" charset="-122"/>
                <a:cs typeface="Be Vietnam Pro" pitchFamily="34" charset="-120"/>
              </a:rPr>
              <a:t>4</a:t>
            </a:r>
            <a:endParaRPr lang="en-US" sz="1300" dirty="0"/>
          </a:p>
        </p:txBody>
      </p:sp>
      <p:sp>
        <p:nvSpPr>
          <p:cNvPr id="17" name="Text 15"/>
          <p:cNvSpPr/>
          <p:nvPr/>
        </p:nvSpPr>
        <p:spPr>
          <a:xfrm>
            <a:off x="9230720" y="3115171"/>
            <a:ext cx="2044987" cy="487735"/>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7F3EA"/>
                </a:solidFill>
                <a:latin typeface="Be Vietnam Pro" pitchFamily="34" charset="0"/>
                <a:ea typeface="Be Vietnam Pro" pitchFamily="34" charset="-122"/>
                <a:cs typeface="Be Vietnam Pro" pitchFamily="34" charset="-120"/>
              </a:rPr>
              <a:t>Avi Supply cung ứng nguyên liệu</a:t>
            </a:r>
            <a:endParaRPr lang="en-US" sz="1400" dirty="0"/>
          </a:p>
        </p:txBody>
      </p:sp>
      <p:pic>
        <p:nvPicPr>
          <p:cNvPr id="18" name="Image 0" descr="connector">    </p:cNvPr>
          <p:cNvPicPr>
            <a:picLocks noChangeAspect="1"/>
          </p:cNvPicPr>
          <p:nvPr/>
        </p:nvPicPr>
        <p:blipFill>
          <a:blip r:embed="rId1"/>
          <a:srcRect l="-20" r="-20" t="0" b="0"/>
          <a:stretch/>
        </p:blipFill>
        <p:spPr>
          <a:xfrm>
            <a:off x="3149545" y="3136373"/>
            <a:ext cx="387295" cy="101545"/>
          </a:xfrm>
          <a:prstGeom prst="rect">
            <a:avLst/>
          </a:prstGeom>
        </p:spPr>
      </p:pic>
      <p:pic>
        <p:nvPicPr>
          <p:cNvPr id="19" name="Image 1" descr="connector">    </p:cNvPr>
          <p:cNvPicPr>
            <a:picLocks noChangeAspect="1"/>
          </p:cNvPicPr>
          <p:nvPr/>
        </p:nvPicPr>
        <p:blipFill>
          <a:blip r:embed="rId2"/>
          <a:srcRect l="-20" r="-20" t="0" b="0"/>
          <a:stretch/>
        </p:blipFill>
        <p:spPr>
          <a:xfrm>
            <a:off x="5899123" y="3136373"/>
            <a:ext cx="387295" cy="101545"/>
          </a:xfrm>
          <a:prstGeom prst="rect">
            <a:avLst/>
          </a:prstGeom>
        </p:spPr>
      </p:pic>
      <p:pic>
        <p:nvPicPr>
          <p:cNvPr id="20" name="Image 2" descr="connector">    </p:cNvPr>
          <p:cNvPicPr>
            <a:picLocks noChangeAspect="1"/>
          </p:cNvPicPr>
          <p:nvPr/>
        </p:nvPicPr>
        <p:blipFill>
          <a:blip r:embed="rId3"/>
          <a:srcRect l="-24" r="-24" t="0" b="0"/>
          <a:stretch/>
        </p:blipFill>
        <p:spPr>
          <a:xfrm>
            <a:off x="8648701" y="3136373"/>
            <a:ext cx="393672" cy="101545"/>
          </a:xfrm>
          <a:prstGeom prst="rect">
            <a:avLst/>
          </a:prstGeom>
        </p:spPr>
      </p:pic>
      <p:pic>
        <p:nvPicPr>
          <p:cNvPr id="21" name="Image 3" descr="connector">    </p:cNvPr>
          <p:cNvPicPr>
            <a:picLocks noChangeAspect="1"/>
          </p:cNvPicPr>
          <p:nvPr/>
        </p:nvPicPr>
        <p:blipFill>
          <a:blip r:embed="rId4"/>
          <a:srcRect l="0" r="0" t="-25" b="-25"/>
          <a:stretch/>
        </p:blipFill>
        <p:spPr>
          <a:xfrm>
            <a:off x="10172701" y="3891998"/>
            <a:ext cx="101545" cy="584172"/>
          </a:xfrm>
          <a:prstGeom prst="rect">
            <a:avLst/>
          </a:prstGeom>
        </p:spPr>
      </p:pic>
      <p:pic>
        <p:nvPicPr>
          <p:cNvPr id="22" name="Image 4" descr="connector">    </p:cNvPr>
          <p:cNvPicPr>
            <a:picLocks noChangeAspect="1"/>
          </p:cNvPicPr>
          <p:nvPr/>
        </p:nvPicPr>
        <p:blipFill>
          <a:blip r:embed="rId5"/>
          <a:srcRect l="-27" r="-27" t="0" b="0"/>
          <a:stretch/>
        </p:blipFill>
        <p:spPr>
          <a:xfrm>
            <a:off x="1917672" y="4374623"/>
            <a:ext cx="8356573" cy="101545"/>
          </a:xfrm>
          <a:prstGeom prst="rect">
            <a:avLst/>
          </a:prstGeom>
        </p:spPr>
      </p:pic>
      <p:pic>
        <p:nvPicPr>
          <p:cNvPr id="23" name="Image 5" descr="connector">    </p:cNvPr>
          <p:cNvPicPr>
            <a:picLocks noChangeAspect="1"/>
          </p:cNvPicPr>
          <p:nvPr/>
        </p:nvPicPr>
        <p:blipFill>
          <a:blip r:embed="rId6"/>
          <a:srcRect l="0" r="0" t="-27" b="-27"/>
          <a:stretch/>
        </p:blipFill>
        <p:spPr>
          <a:xfrm>
            <a:off x="1917672" y="3904748"/>
            <a:ext cx="101545" cy="571500"/>
          </a:xfrm>
          <a:prstGeom prst="rect">
            <a:avLst/>
          </a:prstGeom>
        </p:spPr>
      </p:pic>
      <p:sp>
        <p:nvSpPr>
          <p:cNvPr id="24" name="Text 16"/>
          <p:cNvSpPr/>
          <p:nvPr/>
        </p:nvSpPr>
        <p:spPr>
          <a:xfrm>
            <a:off x="2285950" y="4552448"/>
            <a:ext cx="7619934" cy="256485"/>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B9CCD6"/>
                </a:solidFill>
                <a:latin typeface="Be Vietnam Pro" pitchFamily="34" charset="0"/>
                <a:ea typeface="Be Vietnam Pro" pitchFamily="34" charset="-122"/>
                <a:cs typeface="Be Vietnam Pro" pitchFamily="34" charset="-120"/>
              </a:rPr>
              <a:t>Ví hoa hồng dùng để mua nguyên liệu · dữ liệu tiêu thụ giúp Avi dự báo nhu cầu</a:t>
            </a:r>
            <a:endParaRPr lang="en-US" sz="1300" dirty="0"/>
          </a:p>
        </p:txBody>
      </p:sp>
      <p:sp>
        <p:nvSpPr>
          <p:cNvPr id="25" name="Text 17"/>
          <p:cNvSpPr/>
          <p:nvPr/>
        </p:nvSpPr>
        <p:spPr>
          <a:xfrm>
            <a:off x="762000" y="6339836"/>
            <a:ext cx="109879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Shop không tham gia mạng lưới vẫn dùng phần mềm · miễn phí trong giai đoạn thí điểm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2C"/>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0B1F2C"/>
              </a:gs>
              <a:gs pos="55000">
                <a:srgbClr val="10344A"/>
              </a:gs>
              <a:gs pos="100000">
                <a:srgbClr val="0F5470"/>
              </a:gs>
            </a:gsLst>
            <a:lin ang="2700000" scaled="0"/>
          </a:gradFill>
          <a:ln/>
        </p:spPr>
      </p:sp>
      <p:sp>
        <p:nvSpPr>
          <p:cNvPr id="3" name="Text 1"/>
          <p:cNvSpPr/>
          <p:nvPr/>
        </p:nvSpPr>
        <p:spPr>
          <a:xfrm>
            <a:off x="762000" y="533400"/>
            <a:ext cx="7401060"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C68E"/>
                </a:solidFill>
                <a:latin typeface="Be Vietnam Pro" pitchFamily="34" charset="0"/>
                <a:ea typeface="Be Vietnam Pro" pitchFamily="34" charset="-122"/>
                <a:cs typeface="Be Vietnam Pro" pitchFamily="34" charset="-120"/>
              </a:rPr>
              <a:t>KIẾN TRÚC TỔNG THỂ</a:t>
            </a:r>
            <a:endParaRPr lang="en-US" sz="1200" dirty="0"/>
          </a:p>
        </p:txBody>
      </p:sp>
      <p:sp>
        <p:nvSpPr>
          <p:cNvPr id="4" name="Text 2"/>
          <p:cNvSpPr/>
          <p:nvPr>
            <p:ph type="title"/>
          </p:nvPr>
        </p:nvSpPr>
        <p:spPr>
          <a:xfrm>
            <a:off x="762000" y="822958"/>
            <a:ext cx="8622594" cy="395219"/>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F7F3EA"/>
                </a:solidFill>
                <a:latin typeface="Playfair Display" pitchFamily="18" charset="0"/>
                <a:ea typeface="Playfair Display" pitchFamily="18" charset="-122"/>
                <a:cs typeface="Playfair Display" pitchFamily="18" charset="-120"/>
              </a:rPr>
              <a:t>Năm lớp, một cổng tích hợp, lõi module tách rời</a:t>
            </a:r>
            <a:endParaRPr lang="en-US" sz="2600" dirty="0"/>
          </a:p>
        </p:txBody>
      </p:sp>
      <p:sp>
        <p:nvSpPr>
          <p:cNvPr id="5" name="Shape 3"/>
          <p:cNvSpPr/>
          <p:nvPr/>
        </p:nvSpPr>
        <p:spPr>
          <a:xfrm>
            <a:off x="10668001" y="1154677"/>
            <a:ext cx="7620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5175" y="1361021"/>
            <a:ext cx="7994816" cy="634061"/>
          </a:xfrm>
          <a:prstGeom prst="roundRect">
            <a:avLst>
              <a:gd name="adj" fmla="val 17526"/>
            </a:avLst>
          </a:prstGeom>
          <a:solidFill>
            <a:srgbClr val="FFFFFF">
              <a:alpha val="5000"/>
            </a:srgbClr>
          </a:solidFill>
          <a:ln w="6350">
            <a:solidFill>
              <a:srgbClr val="FFFFFF">
                <a:alpha val="12000"/>
              </a:srgbClr>
            </a:solidFill>
            <a:prstDash val="solid"/>
          </a:ln>
        </p:spPr>
      </p:sp>
      <p:sp>
        <p:nvSpPr>
          <p:cNvPr id="7" name="Text 5"/>
          <p:cNvSpPr/>
          <p:nvPr/>
        </p:nvSpPr>
        <p:spPr>
          <a:xfrm>
            <a:off x="894273" y="1464692"/>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DC68E"/>
                </a:solidFill>
                <a:latin typeface="Be Vietnam Pro" pitchFamily="34" charset="0"/>
                <a:ea typeface="Be Vietnam Pro" pitchFamily="34" charset="-122"/>
                <a:cs typeface="Be Vietnam Pro" pitchFamily="34" charset="-120"/>
              </a:rPr>
              <a:t>01 · Kênh</a:t>
            </a:r>
            <a:endParaRPr lang="en-US" sz="1200" dirty="0"/>
          </a:p>
        </p:txBody>
      </p:sp>
      <p:sp>
        <p:nvSpPr>
          <p:cNvPr id="8" name="Text 6"/>
          <p:cNvSpPr/>
          <p:nvPr/>
        </p:nvSpPr>
        <p:spPr>
          <a:xfrm>
            <a:off x="894273" y="1678056"/>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truy cập</a:t>
            </a:r>
            <a:endParaRPr lang="en-US" sz="1200" dirty="0"/>
          </a:p>
        </p:txBody>
      </p:sp>
      <p:sp>
        <p:nvSpPr>
          <p:cNvPr id="9" name="Text 7"/>
          <p:cNvSpPr/>
          <p:nvPr/>
        </p:nvSpPr>
        <p:spPr>
          <a:xfrm>
            <a:off x="2167421" y="1493050"/>
            <a:ext cx="1223866" cy="370012"/>
          </a:xfrm>
          <a:custGeom>
            <a:avLst/>
            <a:gdLst/>
            <a:ahLst/>
            <a:cxnLst/>
            <a:rect l="l" t="t" r="r" b="b"/>
            <a:pathLst>
              <a:path w="1223866" h="370012">
                <a:moveTo>
                  <a:pt x="73025" y="0"/>
                </a:moveTo>
                <a:lnTo>
                  <a:pt x="1150841" y="0"/>
                </a:lnTo>
                <a:arcTo hR="73025" wR="73025" stAng="16200000" swAng="5400000"/>
                <a:lnTo>
                  <a:pt x="1223866"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Shop App</a:t>
            </a:r>
            <a:endParaRPr lang="en-US" sz="1200" dirty="0"/>
          </a:p>
        </p:txBody>
      </p:sp>
      <p:sp>
        <p:nvSpPr>
          <p:cNvPr id="10" name="Text 8"/>
          <p:cNvSpPr/>
          <p:nvPr/>
        </p:nvSpPr>
        <p:spPr>
          <a:xfrm>
            <a:off x="3473837" y="1493050"/>
            <a:ext cx="1223949" cy="370012"/>
          </a:xfrm>
          <a:custGeom>
            <a:avLst/>
            <a:gdLst/>
            <a:ahLst/>
            <a:cxnLst/>
            <a:rect l="l" t="t" r="r" b="b"/>
            <a:pathLst>
              <a:path w="1223949" h="370012">
                <a:moveTo>
                  <a:pt x="73025" y="0"/>
                </a:moveTo>
                <a:lnTo>
                  <a:pt x="1150924" y="0"/>
                </a:lnTo>
                <a:arcTo hR="73025" wR="73025" stAng="16200000" swAng="5400000"/>
                <a:lnTo>
                  <a:pt x="1223949"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Admin Avi</a:t>
            </a:r>
            <a:endParaRPr lang="en-US" sz="1200" dirty="0"/>
          </a:p>
        </p:txBody>
      </p:sp>
      <p:sp>
        <p:nvSpPr>
          <p:cNvPr id="11" name="Text 9"/>
          <p:cNvSpPr/>
          <p:nvPr/>
        </p:nvSpPr>
        <p:spPr>
          <a:xfrm>
            <a:off x="4780335" y="1493050"/>
            <a:ext cx="1223866" cy="370012"/>
          </a:xfrm>
          <a:custGeom>
            <a:avLst/>
            <a:gdLst/>
            <a:ahLst/>
            <a:cxnLst/>
            <a:rect l="l" t="t" r="r" b="b"/>
            <a:pathLst>
              <a:path w="1223866" h="370012">
                <a:moveTo>
                  <a:pt x="73025" y="0"/>
                </a:moveTo>
                <a:lnTo>
                  <a:pt x="1150841" y="0"/>
                </a:lnTo>
                <a:arcTo hR="73025" wR="73025" stAng="16200000" swAng="5400000"/>
                <a:lnTo>
                  <a:pt x="1223866"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Landing</a:t>
            </a:r>
            <a:endParaRPr lang="en-US" sz="1200" dirty="0"/>
          </a:p>
        </p:txBody>
      </p:sp>
      <p:sp>
        <p:nvSpPr>
          <p:cNvPr id="12" name="Text 10"/>
          <p:cNvSpPr/>
          <p:nvPr/>
        </p:nvSpPr>
        <p:spPr>
          <a:xfrm>
            <a:off x="6089926" y="1496225"/>
            <a:ext cx="1228201" cy="363662"/>
          </a:xfrm>
          <a:custGeom>
            <a:avLst/>
            <a:gdLst/>
            <a:ahLst/>
            <a:cxnLst/>
            <a:rect l="l" t="t" r="r" b="b"/>
            <a:pathLst>
              <a:path w="1228201" h="363662">
                <a:moveTo>
                  <a:pt x="69850" y="0"/>
                </a:moveTo>
                <a:lnTo>
                  <a:pt x="1158351" y="0"/>
                </a:lnTo>
                <a:arcTo hR="69850" wR="69850" stAng="16200000" swAng="5400000"/>
                <a:lnTo>
                  <a:pt x="1228201" y="293812"/>
                </a:lnTo>
                <a:arcTo hR="69850" wR="69850" stAng="0" swAng="5400000"/>
                <a:lnTo>
                  <a:pt x="69850" y="363662"/>
                </a:lnTo>
                <a:arcTo hR="69850" wR="69850" stAng="5400000" swAng="5400000"/>
                <a:lnTo>
                  <a:pt x="0" y="69850"/>
                </a:lnTo>
                <a:arcTo hR="69850" wR="69850" stAng="10800000" swAng="5400000"/>
                <a:close/>
              </a:path>
            </a:pathLst>
          </a:custGeom>
          <a:solidFill>
            <a:srgbClr val="03C2F3">
              <a:alpha val="20000"/>
            </a:srgbClr>
          </a:solidFill>
          <a:ln w="12700">
            <a:solidFill>
              <a:srgbClr val="03C2F3"/>
            </a:solidFill>
            <a:prstDash val="solid"/>
          </a:ln>
        </p:spPr>
        <p:txBody>
          <a:bodyPr wrap="square" lIns="16952" tIns="74102" rIns="16952" bIns="48702" rtlCol="0" anchor="t">
            <a:normAutofit/>
          </a:bodyPr>
          <a:lstStyle/>
          <a:p>
            <a:pPr algn="ctr" indent="0" marL="0">
              <a:lnSpc>
                <a:spcPts val="1680"/>
              </a:lnSpc>
              <a:buNone/>
            </a:pPr>
            <a:r>
              <a:rPr lang="en-US" sz="1200" b="1" dirty="0">
                <a:solidFill>
                  <a:srgbClr val="F7F3EA"/>
                </a:solidFill>
                <a:latin typeface="Be Vietnam Pro" pitchFamily="34" charset="0"/>
                <a:ea typeface="Be Vietnam Pro" pitchFamily="34" charset="-122"/>
                <a:cs typeface="Be Vietnam Pro" pitchFamily="34" charset="-120"/>
              </a:rPr>
              <a:t>Điện hoa Avi</a:t>
            </a:r>
            <a:endParaRPr lang="en-US" sz="1200" dirty="0"/>
          </a:p>
        </p:txBody>
      </p:sp>
      <p:sp>
        <p:nvSpPr>
          <p:cNvPr id="13" name="Text 11"/>
          <p:cNvSpPr/>
          <p:nvPr/>
        </p:nvSpPr>
        <p:spPr>
          <a:xfrm>
            <a:off x="7403852" y="1493050"/>
            <a:ext cx="1223866" cy="370012"/>
          </a:xfrm>
          <a:custGeom>
            <a:avLst/>
            <a:gdLst/>
            <a:ahLst/>
            <a:cxnLst/>
            <a:rect l="l" t="t" r="r" b="b"/>
            <a:pathLst>
              <a:path w="1223866" h="370012">
                <a:moveTo>
                  <a:pt x="73025" y="0"/>
                </a:moveTo>
                <a:lnTo>
                  <a:pt x="1150841" y="0"/>
                </a:lnTo>
                <a:arcTo hR="73025" wR="73025" stAng="16200000" swAng="5400000"/>
                <a:lnTo>
                  <a:pt x="1223866"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Bên thứ 3</a:t>
            </a:r>
            <a:endParaRPr lang="en-US" sz="1200" dirty="0"/>
          </a:p>
        </p:txBody>
      </p:sp>
      <p:pic>
        <p:nvPicPr>
          <p:cNvPr id="14" name="Image 0" descr="arrow-down">    </p:cNvPr>
          <p:cNvPicPr>
            <a:picLocks noChangeAspect="1"/>
          </p:cNvPicPr>
          <p:nvPr/>
        </p:nvPicPr>
        <p:blipFill>
          <a:blip r:embed="rId1"/>
          <a:srcRect l="0" r="0" t="-9" b="-9"/>
          <a:stretch/>
        </p:blipFill>
        <p:spPr>
          <a:xfrm>
            <a:off x="4692761" y="2049035"/>
            <a:ext cx="139645" cy="126972"/>
          </a:xfrm>
          <a:prstGeom prst="rect">
            <a:avLst/>
          </a:prstGeom>
        </p:spPr>
      </p:pic>
      <p:sp>
        <p:nvSpPr>
          <p:cNvPr id="15" name="Shape 12"/>
          <p:cNvSpPr/>
          <p:nvPr/>
        </p:nvSpPr>
        <p:spPr>
          <a:xfrm>
            <a:off x="765175" y="2229954"/>
            <a:ext cx="7994816" cy="634061"/>
          </a:xfrm>
          <a:prstGeom prst="roundRect">
            <a:avLst>
              <a:gd name="adj" fmla="val 17526"/>
            </a:avLst>
          </a:prstGeom>
          <a:solidFill>
            <a:srgbClr val="FFFFFF">
              <a:alpha val="5000"/>
            </a:srgbClr>
          </a:solidFill>
          <a:ln w="6350">
            <a:solidFill>
              <a:srgbClr val="FFFFFF">
                <a:alpha val="12000"/>
              </a:srgbClr>
            </a:solidFill>
            <a:prstDash val="solid"/>
          </a:ln>
        </p:spPr>
      </p:sp>
      <p:sp>
        <p:nvSpPr>
          <p:cNvPr id="16" name="Text 13"/>
          <p:cNvSpPr/>
          <p:nvPr/>
        </p:nvSpPr>
        <p:spPr>
          <a:xfrm>
            <a:off x="894273" y="2333625"/>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DC68E"/>
                </a:solidFill>
                <a:latin typeface="Be Vietnam Pro" pitchFamily="34" charset="0"/>
                <a:ea typeface="Be Vietnam Pro" pitchFamily="34" charset="-122"/>
                <a:cs typeface="Be Vietnam Pro" pitchFamily="34" charset="-120"/>
              </a:rPr>
              <a:t>02 · Cổng</a:t>
            </a:r>
            <a:endParaRPr lang="en-US" sz="1200" dirty="0"/>
          </a:p>
        </p:txBody>
      </p:sp>
      <p:sp>
        <p:nvSpPr>
          <p:cNvPr id="17" name="Text 14"/>
          <p:cNvSpPr/>
          <p:nvPr/>
        </p:nvSpPr>
        <p:spPr>
          <a:xfrm>
            <a:off x="894273" y="2546983"/>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vào</a:t>
            </a:r>
            <a:endParaRPr lang="en-US" sz="1200" dirty="0"/>
          </a:p>
        </p:txBody>
      </p:sp>
      <p:sp>
        <p:nvSpPr>
          <p:cNvPr id="18" name="Text 15"/>
          <p:cNvSpPr/>
          <p:nvPr/>
        </p:nvSpPr>
        <p:spPr>
          <a:xfrm>
            <a:off x="2167421" y="2361977"/>
            <a:ext cx="1550449" cy="370012"/>
          </a:xfrm>
          <a:custGeom>
            <a:avLst/>
            <a:gdLst/>
            <a:ahLst/>
            <a:cxnLst/>
            <a:rect l="l" t="t" r="r" b="b"/>
            <a:pathLst>
              <a:path w="1550449" h="370012">
                <a:moveTo>
                  <a:pt x="73025" y="0"/>
                </a:moveTo>
                <a:lnTo>
                  <a:pt x="1477424" y="0"/>
                </a:lnTo>
                <a:arcTo hR="73025" wR="73025" stAng="16200000" swAng="5400000"/>
                <a:lnTo>
                  <a:pt x="1550449"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CDN · WAF</a:t>
            </a:r>
            <a:endParaRPr lang="en-US" sz="1200" dirty="0"/>
          </a:p>
        </p:txBody>
      </p:sp>
      <p:sp>
        <p:nvSpPr>
          <p:cNvPr id="19" name="Text 16"/>
          <p:cNvSpPr/>
          <p:nvPr/>
        </p:nvSpPr>
        <p:spPr>
          <a:xfrm>
            <a:off x="3800420" y="2361977"/>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API Gateway</a:t>
            </a:r>
            <a:endParaRPr lang="en-US" sz="1200" dirty="0"/>
          </a:p>
        </p:txBody>
      </p:sp>
      <p:sp>
        <p:nvSpPr>
          <p:cNvPr id="20" name="Text 17"/>
          <p:cNvSpPr/>
          <p:nvPr/>
        </p:nvSpPr>
        <p:spPr>
          <a:xfrm>
            <a:off x="5433502" y="2361977"/>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Web API</a:t>
            </a:r>
            <a:endParaRPr lang="en-US" sz="1200" dirty="0"/>
          </a:p>
        </p:txBody>
      </p:sp>
      <p:sp>
        <p:nvSpPr>
          <p:cNvPr id="21" name="Text 18"/>
          <p:cNvSpPr/>
          <p:nvPr/>
        </p:nvSpPr>
        <p:spPr>
          <a:xfrm>
            <a:off x="7069759" y="2365152"/>
            <a:ext cx="1554784" cy="363662"/>
          </a:xfrm>
          <a:custGeom>
            <a:avLst/>
            <a:gdLst/>
            <a:ahLst/>
            <a:cxnLst/>
            <a:rect l="l" t="t" r="r" b="b"/>
            <a:pathLst>
              <a:path w="1554784" h="363662">
                <a:moveTo>
                  <a:pt x="69850" y="0"/>
                </a:moveTo>
                <a:lnTo>
                  <a:pt x="1484934" y="0"/>
                </a:lnTo>
                <a:arcTo hR="69850" wR="69850" stAng="16200000" swAng="5400000"/>
                <a:lnTo>
                  <a:pt x="1554784" y="293812"/>
                </a:lnTo>
                <a:arcTo hR="69850" wR="69850" stAng="0" swAng="5400000"/>
                <a:lnTo>
                  <a:pt x="69850" y="363662"/>
                </a:lnTo>
                <a:arcTo hR="69850" wR="69850" stAng="5400000" swAng="5400000"/>
                <a:lnTo>
                  <a:pt x="0" y="69850"/>
                </a:lnTo>
                <a:arcTo hR="69850" wR="69850" stAng="10800000" swAng="5400000"/>
                <a:close/>
              </a:path>
            </a:pathLst>
          </a:custGeom>
          <a:solidFill>
            <a:srgbClr val="03C2F3">
              <a:alpha val="20000"/>
            </a:srgbClr>
          </a:solidFill>
          <a:ln w="12700">
            <a:solidFill>
              <a:srgbClr val="03C2F3"/>
            </a:solidFill>
            <a:prstDash val="solid"/>
          </a:ln>
        </p:spPr>
        <p:txBody>
          <a:bodyPr wrap="square" lIns="16952" tIns="74102" rIns="16952" bIns="48702" rtlCol="0" anchor="t">
            <a:normAutofit/>
          </a:bodyPr>
          <a:lstStyle/>
          <a:p>
            <a:pPr algn="ctr" indent="0" marL="0">
              <a:lnSpc>
                <a:spcPts val="1680"/>
              </a:lnSpc>
              <a:buNone/>
            </a:pPr>
            <a:r>
              <a:rPr lang="en-US" sz="1200" b="1" dirty="0">
                <a:solidFill>
                  <a:srgbClr val="F7F3EA"/>
                </a:solidFill>
                <a:latin typeface="Be Vietnam Pro" pitchFamily="34" charset="0"/>
                <a:ea typeface="Be Vietnam Pro" pitchFamily="34" charset="-122"/>
                <a:cs typeface="Be Vietnam Pro" pitchFamily="34" charset="-120"/>
              </a:rPr>
              <a:t>Integration GW</a:t>
            </a:r>
            <a:endParaRPr lang="en-US" sz="1200" dirty="0"/>
          </a:p>
        </p:txBody>
      </p:sp>
      <p:pic>
        <p:nvPicPr>
          <p:cNvPr id="22" name="Image 1" descr="arrow-down">    </p:cNvPr>
          <p:cNvPicPr>
            <a:picLocks noChangeAspect="1"/>
          </p:cNvPicPr>
          <p:nvPr/>
        </p:nvPicPr>
        <p:blipFill>
          <a:blip r:embed="rId2"/>
          <a:srcRect l="0" r="0" t="-9" b="-9"/>
          <a:stretch/>
        </p:blipFill>
        <p:spPr>
          <a:xfrm>
            <a:off x="4692761" y="2917961"/>
            <a:ext cx="139645" cy="126972"/>
          </a:xfrm>
          <a:prstGeom prst="rect">
            <a:avLst/>
          </a:prstGeom>
        </p:spPr>
      </p:pic>
      <p:sp>
        <p:nvSpPr>
          <p:cNvPr id="23" name="Shape 19"/>
          <p:cNvSpPr/>
          <p:nvPr/>
        </p:nvSpPr>
        <p:spPr>
          <a:xfrm>
            <a:off x="768350" y="3102056"/>
            <a:ext cx="7988466" cy="1027761"/>
          </a:xfrm>
          <a:prstGeom prst="roundRect">
            <a:avLst>
              <a:gd name="adj" fmla="val 10503"/>
            </a:avLst>
          </a:prstGeom>
          <a:solidFill>
            <a:srgbClr val="EDC68E">
              <a:alpha val="9000"/>
            </a:srgbClr>
          </a:solidFill>
          <a:ln w="12700">
            <a:solidFill>
              <a:srgbClr val="EDC68E"/>
            </a:solidFill>
            <a:prstDash val="solid"/>
          </a:ln>
          <a:effectLst>
            <a:outerShdw sx="100000" sy="100000" kx="0" ky="0" algn="bl" rotWithShape="0" blurRad="254000" dist="0" dir="60000">
              <a:srgbClr val="EDC68E">
                <a:alpha val="18000"/>
              </a:srgbClr>
            </a:outerShdw>
          </a:effectLst>
        </p:spPr>
      </p:sp>
      <p:sp>
        <p:nvSpPr>
          <p:cNvPr id="24" name="Text 20"/>
          <p:cNvSpPr/>
          <p:nvPr/>
        </p:nvSpPr>
        <p:spPr>
          <a:xfrm>
            <a:off x="899574" y="3402577"/>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EEF2E"/>
                </a:solidFill>
                <a:latin typeface="Be Vietnam Pro" pitchFamily="34" charset="0"/>
                <a:ea typeface="Be Vietnam Pro" pitchFamily="34" charset="-122"/>
                <a:cs typeface="Be Vietnam Pro" pitchFamily="34" charset="-120"/>
              </a:rPr>
              <a:t>03 · Lõi</a:t>
            </a:r>
            <a:endParaRPr lang="en-US" sz="1200" dirty="0"/>
          </a:p>
        </p:txBody>
      </p:sp>
      <p:sp>
        <p:nvSpPr>
          <p:cNvPr id="25" name="Text 21"/>
          <p:cNvSpPr/>
          <p:nvPr/>
        </p:nvSpPr>
        <p:spPr>
          <a:xfrm>
            <a:off x="899574" y="3615934"/>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C68E"/>
                </a:solidFill>
                <a:latin typeface="Be Vietnam Pro" pitchFamily="34" charset="0"/>
                <a:ea typeface="Be Vietnam Pro" pitchFamily="34" charset="-122"/>
                <a:cs typeface="Be Vietnam Pro" pitchFamily="34" charset="-120"/>
              </a:rPr>
              <a:t>Node.js NestJS</a:t>
            </a:r>
            <a:endParaRPr lang="en-US" sz="1200" dirty="0"/>
          </a:p>
        </p:txBody>
      </p:sp>
      <p:sp>
        <p:nvSpPr>
          <p:cNvPr id="26" name="Text 22"/>
          <p:cNvSpPr/>
          <p:nvPr/>
        </p:nvSpPr>
        <p:spPr>
          <a:xfrm>
            <a:off x="2172722" y="3211029"/>
            <a:ext cx="1560057" cy="370012"/>
          </a:xfrm>
          <a:custGeom>
            <a:avLst/>
            <a:gdLst/>
            <a:ahLst/>
            <a:cxnLst/>
            <a:rect l="l" t="t" r="r" b="b"/>
            <a:pathLst>
              <a:path w="1560057" h="370012">
                <a:moveTo>
                  <a:pt x="73025" y="0"/>
                </a:moveTo>
                <a:lnTo>
                  <a:pt x="1487032" y="0"/>
                </a:lnTo>
                <a:arcTo hR="73025" wR="73025" stAng="16200000" swAng="5400000"/>
                <a:lnTo>
                  <a:pt x="1560057"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Tenant, phân quyền</a:t>
            </a:r>
            <a:endParaRPr lang="en-US" sz="1200" dirty="0"/>
          </a:p>
        </p:txBody>
      </p:sp>
      <p:sp>
        <p:nvSpPr>
          <p:cNvPr id="27" name="Text 23"/>
          <p:cNvSpPr/>
          <p:nvPr/>
        </p:nvSpPr>
        <p:spPr>
          <a:xfrm>
            <a:off x="3802573" y="3211029"/>
            <a:ext cx="1560057" cy="370012"/>
          </a:xfrm>
          <a:custGeom>
            <a:avLst/>
            <a:gdLst/>
            <a:ahLst/>
            <a:cxnLst/>
            <a:rect l="l" t="t" r="r" b="b"/>
            <a:pathLst>
              <a:path w="1560057" h="370012">
                <a:moveTo>
                  <a:pt x="73025" y="0"/>
                </a:moveTo>
                <a:lnTo>
                  <a:pt x="1487032" y="0"/>
                </a:lnTo>
                <a:arcTo hR="73025" wR="73025" stAng="16200000" swAng="5400000"/>
                <a:lnTo>
                  <a:pt x="1560057"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Sản phẩm, BOM</a:t>
            </a:r>
            <a:endParaRPr lang="en-US" sz="1200" dirty="0"/>
          </a:p>
        </p:txBody>
      </p:sp>
      <p:sp>
        <p:nvSpPr>
          <p:cNvPr id="28" name="Text 24"/>
          <p:cNvSpPr/>
          <p:nvPr/>
        </p:nvSpPr>
        <p:spPr>
          <a:xfrm>
            <a:off x="5432425" y="3211029"/>
            <a:ext cx="1560057" cy="370012"/>
          </a:xfrm>
          <a:custGeom>
            <a:avLst/>
            <a:gdLst/>
            <a:ahLst/>
            <a:cxnLst/>
            <a:rect l="l" t="t" r="r" b="b"/>
            <a:pathLst>
              <a:path w="1560057" h="370012">
                <a:moveTo>
                  <a:pt x="73025" y="0"/>
                </a:moveTo>
                <a:lnTo>
                  <a:pt x="1487032" y="0"/>
                </a:lnTo>
                <a:arcTo hR="73025" wR="73025" stAng="16200000" swAng="5400000"/>
                <a:lnTo>
                  <a:pt x="1560057"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Kho</a:t>
            </a:r>
            <a:endParaRPr lang="en-US" sz="1200" dirty="0"/>
          </a:p>
        </p:txBody>
      </p:sp>
      <p:sp>
        <p:nvSpPr>
          <p:cNvPr id="29" name="Text 25"/>
          <p:cNvSpPr/>
          <p:nvPr/>
        </p:nvSpPr>
        <p:spPr>
          <a:xfrm>
            <a:off x="7062277" y="3211029"/>
            <a:ext cx="1560140" cy="370012"/>
          </a:xfrm>
          <a:custGeom>
            <a:avLst/>
            <a:gdLst/>
            <a:ahLst/>
            <a:cxnLst/>
            <a:rect l="l" t="t" r="r" b="b"/>
            <a:pathLst>
              <a:path w="1560140" h="370012">
                <a:moveTo>
                  <a:pt x="73025" y="0"/>
                </a:moveTo>
                <a:lnTo>
                  <a:pt x="1487115" y="0"/>
                </a:lnTo>
                <a:arcTo hR="73025" wR="73025" stAng="16200000" swAng="5400000"/>
                <a:lnTo>
                  <a:pt x="1560140"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Đơn hàng</a:t>
            </a:r>
            <a:endParaRPr lang="en-US" sz="1200" dirty="0"/>
          </a:p>
        </p:txBody>
      </p:sp>
      <p:sp>
        <p:nvSpPr>
          <p:cNvPr id="30" name="Text 26"/>
          <p:cNvSpPr/>
          <p:nvPr/>
        </p:nvSpPr>
        <p:spPr>
          <a:xfrm>
            <a:off x="2175897" y="3654010"/>
            <a:ext cx="1553707" cy="363662"/>
          </a:xfrm>
          <a:custGeom>
            <a:avLst/>
            <a:gdLst/>
            <a:ahLst/>
            <a:cxnLst/>
            <a:rect l="l" t="t" r="r" b="b"/>
            <a:pathLst>
              <a:path w="1553707" h="363662">
                <a:moveTo>
                  <a:pt x="69850" y="0"/>
                </a:moveTo>
                <a:lnTo>
                  <a:pt x="1483857" y="0"/>
                </a:lnTo>
                <a:arcTo hR="69850" wR="69850" stAng="16200000" swAng="5400000"/>
                <a:lnTo>
                  <a:pt x="1553707" y="293812"/>
                </a:lnTo>
                <a:arcTo hR="69850" wR="69850" stAng="0" swAng="5400000"/>
                <a:lnTo>
                  <a:pt x="69850" y="363662"/>
                </a:lnTo>
                <a:arcTo hR="69850" wR="69850" stAng="5400000" swAng="5400000"/>
                <a:lnTo>
                  <a:pt x="0" y="69850"/>
                </a:lnTo>
                <a:arcTo hR="69850" wR="69850" stAng="10800000" swAng="5400000"/>
                <a:close/>
              </a:path>
            </a:pathLst>
          </a:custGeom>
          <a:solidFill>
            <a:srgbClr val="03C2F3">
              <a:alpha val="20000"/>
            </a:srgbClr>
          </a:solidFill>
          <a:ln w="12700">
            <a:solidFill>
              <a:srgbClr val="03C2F3"/>
            </a:solidFill>
            <a:prstDash val="solid"/>
          </a:ln>
        </p:spPr>
        <p:txBody>
          <a:bodyPr wrap="square" lIns="16952" tIns="74102" rIns="16952" bIns="48702" rtlCol="0" anchor="t">
            <a:normAutofit/>
          </a:bodyPr>
          <a:lstStyle/>
          <a:p>
            <a:pPr algn="ctr" indent="0" marL="0">
              <a:lnSpc>
                <a:spcPts val="1680"/>
              </a:lnSpc>
              <a:buNone/>
            </a:pPr>
            <a:r>
              <a:rPr lang="en-US" sz="1200" b="1" dirty="0">
                <a:solidFill>
                  <a:srgbClr val="F7F3EA"/>
                </a:solidFill>
                <a:latin typeface="Be Vietnam Pro" pitchFamily="34" charset="0"/>
                <a:ea typeface="Be Vietnam Pro" pitchFamily="34" charset="-122"/>
                <a:cs typeface="Be Vietnam Pro" pitchFamily="34" charset="-120"/>
              </a:rPr>
              <a:t>Chia đơn, SLA</a:t>
            </a:r>
            <a:endParaRPr lang="en-US" sz="1200" dirty="0"/>
          </a:p>
        </p:txBody>
      </p:sp>
      <p:sp>
        <p:nvSpPr>
          <p:cNvPr id="31" name="Text 27"/>
          <p:cNvSpPr/>
          <p:nvPr/>
        </p:nvSpPr>
        <p:spPr>
          <a:xfrm>
            <a:off x="3802573" y="3650835"/>
            <a:ext cx="1560057" cy="370012"/>
          </a:xfrm>
          <a:custGeom>
            <a:avLst/>
            <a:gdLst/>
            <a:ahLst/>
            <a:cxnLst/>
            <a:rect l="l" t="t" r="r" b="b"/>
            <a:pathLst>
              <a:path w="1560057" h="370012">
                <a:moveTo>
                  <a:pt x="73025" y="0"/>
                </a:moveTo>
                <a:lnTo>
                  <a:pt x="1487032" y="0"/>
                </a:lnTo>
                <a:arcTo hR="73025" wR="73025" stAng="16200000" swAng="5400000"/>
                <a:lnTo>
                  <a:pt x="1560057"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Hoa hồng, ví</a:t>
            </a:r>
            <a:endParaRPr lang="en-US" sz="1200" dirty="0"/>
          </a:p>
        </p:txBody>
      </p:sp>
      <p:sp>
        <p:nvSpPr>
          <p:cNvPr id="32" name="Text 28"/>
          <p:cNvSpPr/>
          <p:nvPr/>
        </p:nvSpPr>
        <p:spPr>
          <a:xfrm>
            <a:off x="5432425" y="3650835"/>
            <a:ext cx="1560057" cy="370012"/>
          </a:xfrm>
          <a:custGeom>
            <a:avLst/>
            <a:gdLst/>
            <a:ahLst/>
            <a:cxnLst/>
            <a:rect l="l" t="t" r="r" b="b"/>
            <a:pathLst>
              <a:path w="1560057" h="370012">
                <a:moveTo>
                  <a:pt x="73025" y="0"/>
                </a:moveTo>
                <a:lnTo>
                  <a:pt x="1487032" y="0"/>
                </a:lnTo>
                <a:arcTo hR="73025" wR="73025" stAng="16200000" swAng="5400000"/>
                <a:lnTo>
                  <a:pt x="1560057"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AI Gemini</a:t>
            </a:r>
            <a:endParaRPr lang="en-US" sz="1200" dirty="0"/>
          </a:p>
        </p:txBody>
      </p:sp>
      <p:sp>
        <p:nvSpPr>
          <p:cNvPr id="33" name="Text 29"/>
          <p:cNvSpPr/>
          <p:nvPr/>
        </p:nvSpPr>
        <p:spPr>
          <a:xfrm>
            <a:off x="7062277" y="3650835"/>
            <a:ext cx="1560140" cy="370012"/>
          </a:xfrm>
          <a:custGeom>
            <a:avLst/>
            <a:gdLst/>
            <a:ahLst/>
            <a:cxnLst/>
            <a:rect l="l" t="t" r="r" b="b"/>
            <a:pathLst>
              <a:path w="1560140" h="370012">
                <a:moveTo>
                  <a:pt x="73025" y="0"/>
                </a:moveTo>
                <a:lnTo>
                  <a:pt x="1487115" y="0"/>
                </a:lnTo>
                <a:arcTo hR="73025" wR="73025" stAng="16200000" swAng="5400000"/>
                <a:lnTo>
                  <a:pt x="1560140"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Landing, QR</a:t>
            </a:r>
            <a:endParaRPr lang="en-US" sz="1200" dirty="0"/>
          </a:p>
        </p:txBody>
      </p:sp>
      <p:pic>
        <p:nvPicPr>
          <p:cNvPr id="34" name="Image 2" descr="arrow-down">    </p:cNvPr>
          <p:cNvPicPr>
            <a:picLocks noChangeAspect="1"/>
          </p:cNvPicPr>
          <p:nvPr/>
        </p:nvPicPr>
        <p:blipFill>
          <a:blip r:embed="rId3"/>
          <a:srcRect l="0" r="0" t="-9" b="-9"/>
          <a:stretch/>
        </p:blipFill>
        <p:spPr>
          <a:xfrm>
            <a:off x="4692761" y="4186938"/>
            <a:ext cx="139645" cy="126972"/>
          </a:xfrm>
          <a:prstGeom prst="rect">
            <a:avLst/>
          </a:prstGeom>
        </p:spPr>
      </p:pic>
      <p:sp>
        <p:nvSpPr>
          <p:cNvPr id="35" name="Shape 30"/>
          <p:cNvSpPr/>
          <p:nvPr/>
        </p:nvSpPr>
        <p:spPr>
          <a:xfrm>
            <a:off x="765175" y="4367857"/>
            <a:ext cx="7994816" cy="634061"/>
          </a:xfrm>
          <a:prstGeom prst="roundRect">
            <a:avLst>
              <a:gd name="adj" fmla="val 17526"/>
            </a:avLst>
          </a:prstGeom>
          <a:solidFill>
            <a:srgbClr val="FFFFFF">
              <a:alpha val="5000"/>
            </a:srgbClr>
          </a:solidFill>
          <a:ln w="6350">
            <a:solidFill>
              <a:srgbClr val="FFFFFF">
                <a:alpha val="12000"/>
              </a:srgbClr>
            </a:solidFill>
            <a:prstDash val="solid"/>
          </a:ln>
        </p:spPr>
      </p:sp>
      <p:sp>
        <p:nvSpPr>
          <p:cNvPr id="36" name="Text 31"/>
          <p:cNvSpPr/>
          <p:nvPr/>
        </p:nvSpPr>
        <p:spPr>
          <a:xfrm>
            <a:off x="894273" y="4471529"/>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DC68E"/>
                </a:solidFill>
                <a:latin typeface="Be Vietnam Pro" pitchFamily="34" charset="0"/>
                <a:ea typeface="Be Vietnam Pro" pitchFamily="34" charset="-122"/>
                <a:cs typeface="Be Vietnam Pro" pitchFamily="34" charset="-120"/>
              </a:rPr>
              <a:t>04 · Bất</a:t>
            </a:r>
            <a:endParaRPr lang="en-US" sz="1200" dirty="0"/>
          </a:p>
        </p:txBody>
      </p:sp>
      <p:sp>
        <p:nvSpPr>
          <p:cNvPr id="37" name="Text 32"/>
          <p:cNvSpPr/>
          <p:nvPr/>
        </p:nvSpPr>
        <p:spPr>
          <a:xfrm>
            <a:off x="894273" y="4684892"/>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đồng bộ</a:t>
            </a:r>
            <a:endParaRPr lang="en-US" sz="1200" dirty="0"/>
          </a:p>
        </p:txBody>
      </p:sp>
      <p:sp>
        <p:nvSpPr>
          <p:cNvPr id="38" name="Text 33"/>
          <p:cNvSpPr/>
          <p:nvPr/>
        </p:nvSpPr>
        <p:spPr>
          <a:xfrm>
            <a:off x="2170596" y="4503062"/>
            <a:ext cx="1554701" cy="363662"/>
          </a:xfrm>
          <a:custGeom>
            <a:avLst/>
            <a:gdLst/>
            <a:ahLst/>
            <a:cxnLst/>
            <a:rect l="l" t="t" r="r" b="b"/>
            <a:pathLst>
              <a:path w="1554701" h="363662">
                <a:moveTo>
                  <a:pt x="69850" y="0"/>
                </a:moveTo>
                <a:lnTo>
                  <a:pt x="1484851" y="0"/>
                </a:lnTo>
                <a:arcTo hR="69850" wR="69850" stAng="16200000" swAng="5400000"/>
                <a:lnTo>
                  <a:pt x="1554701" y="293812"/>
                </a:lnTo>
                <a:arcTo hR="69850" wR="69850" stAng="0" swAng="5400000"/>
                <a:lnTo>
                  <a:pt x="69850" y="363662"/>
                </a:lnTo>
                <a:arcTo hR="69850" wR="69850" stAng="5400000" swAng="5400000"/>
                <a:lnTo>
                  <a:pt x="0" y="69850"/>
                </a:lnTo>
                <a:arcTo hR="69850" wR="69850" stAng="10800000" swAng="5400000"/>
                <a:close/>
              </a:path>
            </a:pathLst>
          </a:custGeom>
          <a:solidFill>
            <a:srgbClr val="03C2F3">
              <a:alpha val="20000"/>
            </a:srgbClr>
          </a:solidFill>
          <a:ln w="12700">
            <a:solidFill>
              <a:srgbClr val="03C2F3"/>
            </a:solidFill>
            <a:prstDash val="solid"/>
          </a:ln>
        </p:spPr>
        <p:txBody>
          <a:bodyPr wrap="square" lIns="16952" tIns="74102" rIns="16952" bIns="48702" rtlCol="0" anchor="t">
            <a:normAutofit/>
          </a:bodyPr>
          <a:lstStyle/>
          <a:p>
            <a:pPr algn="ctr" indent="0" marL="0">
              <a:lnSpc>
                <a:spcPts val="1680"/>
              </a:lnSpc>
              <a:buNone/>
            </a:pPr>
            <a:r>
              <a:rPr lang="en-US" sz="1200" b="1" dirty="0">
                <a:solidFill>
                  <a:srgbClr val="F7F3EA"/>
                </a:solidFill>
                <a:latin typeface="Be Vietnam Pro" pitchFamily="34" charset="0"/>
                <a:ea typeface="Be Vietnam Pro" pitchFamily="34" charset="-122"/>
                <a:cs typeface="Be Vietnam Pro" pitchFamily="34" charset="-120"/>
              </a:rPr>
              <a:t>Inbox · Outbox</a:t>
            </a:r>
            <a:endParaRPr lang="en-US" sz="1200" dirty="0"/>
          </a:p>
        </p:txBody>
      </p:sp>
      <p:sp>
        <p:nvSpPr>
          <p:cNvPr id="39" name="Text 34"/>
          <p:cNvSpPr/>
          <p:nvPr/>
        </p:nvSpPr>
        <p:spPr>
          <a:xfrm>
            <a:off x="3811022" y="4499887"/>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Hàng đợi</a:t>
            </a:r>
            <a:endParaRPr lang="en-US" sz="1200" dirty="0"/>
          </a:p>
        </p:txBody>
      </p:sp>
      <p:sp>
        <p:nvSpPr>
          <p:cNvPr id="40" name="Text 35"/>
          <p:cNvSpPr/>
          <p:nvPr/>
        </p:nvSpPr>
        <p:spPr>
          <a:xfrm>
            <a:off x="5444104" y="4499887"/>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Hẹn giờ, job 12h</a:t>
            </a:r>
            <a:endParaRPr lang="en-US" sz="1200" dirty="0"/>
          </a:p>
        </p:txBody>
      </p:sp>
      <p:sp>
        <p:nvSpPr>
          <p:cNvPr id="41" name="Text 36"/>
          <p:cNvSpPr/>
          <p:nvPr/>
        </p:nvSpPr>
        <p:spPr>
          <a:xfrm>
            <a:off x="7077186" y="4499887"/>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Đối chiếu SePay</a:t>
            </a:r>
            <a:endParaRPr lang="en-US" sz="1200" dirty="0"/>
          </a:p>
        </p:txBody>
      </p:sp>
      <p:pic>
        <p:nvPicPr>
          <p:cNvPr id="42" name="Image 3" descr="arrow-down">    </p:cNvPr>
          <p:cNvPicPr>
            <a:picLocks noChangeAspect="1"/>
          </p:cNvPicPr>
          <p:nvPr/>
        </p:nvPicPr>
        <p:blipFill>
          <a:blip r:embed="rId4"/>
          <a:srcRect l="0" r="0" t="-9" b="-9"/>
          <a:stretch/>
        </p:blipFill>
        <p:spPr>
          <a:xfrm>
            <a:off x="4692761" y="5055865"/>
            <a:ext cx="139645" cy="126972"/>
          </a:xfrm>
          <a:prstGeom prst="rect">
            <a:avLst/>
          </a:prstGeom>
        </p:spPr>
      </p:pic>
      <p:sp>
        <p:nvSpPr>
          <p:cNvPr id="43" name="Shape 37"/>
          <p:cNvSpPr/>
          <p:nvPr/>
        </p:nvSpPr>
        <p:spPr>
          <a:xfrm>
            <a:off x="765175" y="5236790"/>
            <a:ext cx="7994816" cy="634061"/>
          </a:xfrm>
          <a:prstGeom prst="roundRect">
            <a:avLst>
              <a:gd name="adj" fmla="val 17526"/>
            </a:avLst>
          </a:prstGeom>
          <a:solidFill>
            <a:srgbClr val="FFFFFF">
              <a:alpha val="5000"/>
            </a:srgbClr>
          </a:solidFill>
          <a:ln w="6350">
            <a:solidFill>
              <a:srgbClr val="FFFFFF">
                <a:alpha val="12000"/>
              </a:srgbClr>
            </a:solidFill>
            <a:prstDash val="solid"/>
          </a:ln>
        </p:spPr>
      </p:sp>
      <p:sp>
        <p:nvSpPr>
          <p:cNvPr id="44" name="Text 38"/>
          <p:cNvSpPr/>
          <p:nvPr/>
        </p:nvSpPr>
        <p:spPr>
          <a:xfrm>
            <a:off x="894273" y="5340455"/>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DC68E"/>
                </a:solidFill>
                <a:latin typeface="Be Vietnam Pro" pitchFamily="34" charset="0"/>
                <a:ea typeface="Be Vietnam Pro" pitchFamily="34" charset="-122"/>
                <a:cs typeface="Be Vietnam Pro" pitchFamily="34" charset="-120"/>
              </a:rPr>
              <a:t>05 · Dữ liệu</a:t>
            </a:r>
            <a:endParaRPr lang="en-US" sz="1200" dirty="0"/>
          </a:p>
        </p:txBody>
      </p:sp>
      <p:sp>
        <p:nvSpPr>
          <p:cNvPr id="45" name="Text 39"/>
          <p:cNvSpPr/>
          <p:nvPr/>
        </p:nvSpPr>
        <p:spPr>
          <a:xfrm>
            <a:off x="894273" y="5553819"/>
            <a:ext cx="1193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và lưu trữ</a:t>
            </a:r>
            <a:endParaRPr lang="en-US" sz="1200" dirty="0"/>
          </a:p>
        </p:txBody>
      </p:sp>
      <p:sp>
        <p:nvSpPr>
          <p:cNvPr id="46" name="Text 40"/>
          <p:cNvSpPr/>
          <p:nvPr/>
        </p:nvSpPr>
        <p:spPr>
          <a:xfrm>
            <a:off x="2170596" y="5371988"/>
            <a:ext cx="1554701" cy="363662"/>
          </a:xfrm>
          <a:custGeom>
            <a:avLst/>
            <a:gdLst/>
            <a:ahLst/>
            <a:cxnLst/>
            <a:rect l="l" t="t" r="r" b="b"/>
            <a:pathLst>
              <a:path w="1554701" h="363662">
                <a:moveTo>
                  <a:pt x="69850" y="0"/>
                </a:moveTo>
                <a:lnTo>
                  <a:pt x="1484851" y="0"/>
                </a:lnTo>
                <a:arcTo hR="69850" wR="69850" stAng="16200000" swAng="5400000"/>
                <a:lnTo>
                  <a:pt x="1554701" y="293812"/>
                </a:lnTo>
                <a:arcTo hR="69850" wR="69850" stAng="0" swAng="5400000"/>
                <a:lnTo>
                  <a:pt x="69850" y="363662"/>
                </a:lnTo>
                <a:arcTo hR="69850" wR="69850" stAng="5400000" swAng="5400000"/>
                <a:lnTo>
                  <a:pt x="0" y="69850"/>
                </a:lnTo>
                <a:arcTo hR="69850" wR="69850" stAng="10800000" swAng="5400000"/>
                <a:close/>
              </a:path>
            </a:pathLst>
          </a:custGeom>
          <a:solidFill>
            <a:srgbClr val="03C2F3">
              <a:alpha val="20000"/>
            </a:srgbClr>
          </a:solidFill>
          <a:ln w="12700">
            <a:solidFill>
              <a:srgbClr val="03C2F3"/>
            </a:solidFill>
            <a:prstDash val="solid"/>
          </a:ln>
        </p:spPr>
        <p:txBody>
          <a:bodyPr wrap="square" lIns="16952" tIns="74102" rIns="16952" bIns="48702" rtlCol="0" anchor="t">
            <a:normAutofit/>
          </a:bodyPr>
          <a:lstStyle/>
          <a:p>
            <a:pPr algn="ctr" indent="0" marL="0">
              <a:lnSpc>
                <a:spcPts val="1680"/>
              </a:lnSpc>
              <a:buNone/>
            </a:pPr>
            <a:r>
              <a:rPr lang="en-US" sz="1200" b="1" dirty="0">
                <a:solidFill>
                  <a:srgbClr val="F7F3EA"/>
                </a:solidFill>
                <a:latin typeface="Be Vietnam Pro" pitchFamily="34" charset="0"/>
                <a:ea typeface="Be Vietnam Pro" pitchFamily="34" charset="-122"/>
                <a:cs typeface="Be Vietnam Pro" pitchFamily="34" charset="-120"/>
              </a:rPr>
              <a:t>PostgreSQL</a:t>
            </a:r>
            <a:endParaRPr lang="en-US" sz="1200" dirty="0"/>
          </a:p>
        </p:txBody>
      </p:sp>
      <p:sp>
        <p:nvSpPr>
          <p:cNvPr id="47" name="Text 41"/>
          <p:cNvSpPr/>
          <p:nvPr/>
        </p:nvSpPr>
        <p:spPr>
          <a:xfrm>
            <a:off x="3811022" y="5368813"/>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Object Storage</a:t>
            </a:r>
            <a:endParaRPr lang="en-US" sz="1200" dirty="0"/>
          </a:p>
        </p:txBody>
      </p:sp>
      <p:sp>
        <p:nvSpPr>
          <p:cNvPr id="48" name="Text 42"/>
          <p:cNvSpPr/>
          <p:nvPr/>
        </p:nvSpPr>
        <p:spPr>
          <a:xfrm>
            <a:off x="5444104" y="5368813"/>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CDN ảnh</a:t>
            </a:r>
            <a:endParaRPr lang="en-US" sz="1200" dirty="0"/>
          </a:p>
        </p:txBody>
      </p:sp>
      <p:sp>
        <p:nvSpPr>
          <p:cNvPr id="49" name="Text 43"/>
          <p:cNvSpPr/>
          <p:nvPr/>
        </p:nvSpPr>
        <p:spPr>
          <a:xfrm>
            <a:off x="7077186" y="5368813"/>
            <a:ext cx="1550532" cy="370012"/>
          </a:xfrm>
          <a:custGeom>
            <a:avLst/>
            <a:gdLst/>
            <a:ahLst/>
            <a:cxnLst/>
            <a:rect l="l" t="t" r="r" b="b"/>
            <a:pathLst>
              <a:path w="1550532" h="370012">
                <a:moveTo>
                  <a:pt x="73025" y="0"/>
                </a:moveTo>
                <a:lnTo>
                  <a:pt x="1477507" y="0"/>
                </a:lnTo>
                <a:arcTo hR="73025" wR="73025" stAng="16200000" swAng="5400000"/>
                <a:lnTo>
                  <a:pt x="1550532" y="296987"/>
                </a:lnTo>
                <a:arcTo hR="73025" wR="73025" stAng="0" swAng="5400000"/>
                <a:lnTo>
                  <a:pt x="73025" y="370012"/>
                </a:lnTo>
                <a:arcTo hR="73025" wR="73025" stAng="5400000" swAng="5400000"/>
                <a:lnTo>
                  <a:pt x="0" y="73025"/>
                </a:lnTo>
                <a:arcTo hR="73025" wR="73025" stAng="10800000" swAng="5400000"/>
                <a:close/>
              </a:path>
            </a:pathLst>
          </a:custGeom>
          <a:solidFill>
            <a:srgbClr val="FFFFFF">
              <a:alpha val="8000"/>
            </a:srgbClr>
          </a:solidFill>
          <a:ln w="6350">
            <a:solidFill>
              <a:srgbClr val="FFFFFF">
                <a:alpha val="18000"/>
              </a:srgbClr>
            </a:solidFill>
            <a:prstDash val="solid"/>
          </a:ln>
        </p:spPr>
        <p:txBody>
          <a:bodyPr wrap="square" lIns="14826" tIns="78326" rIns="14826" bIns="52926"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Backup PITR</a:t>
            </a:r>
            <a:endParaRPr lang="en-US" sz="1200" dirty="0"/>
          </a:p>
        </p:txBody>
      </p:sp>
      <p:pic>
        <p:nvPicPr>
          <p:cNvPr id="50" name="Image 4" descr="arrow-right">    </p:cNvPr>
          <p:cNvPicPr>
            <a:picLocks noChangeAspect="1"/>
          </p:cNvPicPr>
          <p:nvPr/>
        </p:nvPicPr>
        <p:blipFill>
          <a:blip r:embed="rId5"/>
          <a:srcRect l="0" r="0" t="-11" b="-11"/>
          <a:stretch/>
        </p:blipFill>
        <p:spPr>
          <a:xfrm>
            <a:off x="8890139" y="3539734"/>
            <a:ext cx="253945" cy="152400"/>
          </a:xfrm>
          <a:prstGeom prst="rect">
            <a:avLst/>
          </a:prstGeom>
        </p:spPr>
      </p:pic>
      <p:sp>
        <p:nvSpPr>
          <p:cNvPr id="51" name="Shape 44"/>
          <p:cNvSpPr/>
          <p:nvPr/>
        </p:nvSpPr>
        <p:spPr>
          <a:xfrm>
            <a:off x="9274231" y="1477888"/>
            <a:ext cx="2152595" cy="4276008"/>
          </a:xfrm>
          <a:prstGeom prst="roundRect">
            <a:avLst>
              <a:gd name="adj" fmla="val 5162"/>
            </a:avLst>
          </a:prstGeom>
          <a:solidFill>
            <a:srgbClr val="FFFFFF">
              <a:alpha val="5000"/>
            </a:srgbClr>
          </a:solidFill>
          <a:ln w="6350">
            <a:solidFill>
              <a:srgbClr val="EDC68E"/>
            </a:solidFill>
            <a:prstDash val="dash"/>
          </a:ln>
        </p:spPr>
      </p:sp>
      <p:sp>
        <p:nvSpPr>
          <p:cNvPr id="52" name="Text 45"/>
          <p:cNvSpPr/>
          <p:nvPr/>
        </p:nvSpPr>
        <p:spPr>
          <a:xfrm>
            <a:off x="9441429" y="1645090"/>
            <a:ext cx="187274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C68E"/>
                </a:solidFill>
                <a:latin typeface="Be Vietnam Pro" pitchFamily="34" charset="0"/>
                <a:ea typeface="Be Vietnam Pro" pitchFamily="34" charset="-122"/>
                <a:cs typeface="Be Vietnam Pro" pitchFamily="34" charset="-120"/>
              </a:rPr>
              <a:t>Dịch vụ ngoài</a:t>
            </a:r>
            <a:endParaRPr lang="en-US" sz="1400" dirty="0"/>
          </a:p>
        </p:txBody>
      </p:sp>
      <p:sp>
        <p:nvSpPr>
          <p:cNvPr id="53" name="Text 46"/>
          <p:cNvSpPr/>
          <p:nvPr/>
        </p:nvSpPr>
        <p:spPr>
          <a:xfrm>
            <a:off x="9441429" y="1947323"/>
            <a:ext cx="187274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qua Integration Gateway</a:t>
            </a:r>
            <a:endParaRPr lang="en-US" sz="1200" dirty="0"/>
          </a:p>
        </p:txBody>
      </p:sp>
      <p:sp>
        <p:nvSpPr>
          <p:cNvPr id="54" name="Shape 47"/>
          <p:cNvSpPr/>
          <p:nvPr/>
        </p:nvSpPr>
        <p:spPr>
          <a:xfrm>
            <a:off x="9441429" y="2531492"/>
            <a:ext cx="76200" cy="76200"/>
          </a:xfrm>
          <a:prstGeom prst="roundRect">
            <a:avLst>
              <a:gd name="adj" fmla="val 50000"/>
            </a:avLst>
          </a:prstGeom>
          <a:solidFill>
            <a:srgbClr val="03C2F3"/>
          </a:solidFill>
          <a:ln/>
        </p:spPr>
      </p:sp>
      <p:sp>
        <p:nvSpPr>
          <p:cNvPr id="55" name="Text 48"/>
          <p:cNvSpPr/>
          <p:nvPr/>
        </p:nvSpPr>
        <p:spPr>
          <a:xfrm>
            <a:off x="9593829" y="2462913"/>
            <a:ext cx="8412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Gemini AI</a:t>
            </a:r>
            <a:endParaRPr lang="en-US" sz="1200" dirty="0"/>
          </a:p>
        </p:txBody>
      </p:sp>
      <p:sp>
        <p:nvSpPr>
          <p:cNvPr id="56" name="Shape 49"/>
          <p:cNvSpPr/>
          <p:nvPr/>
        </p:nvSpPr>
        <p:spPr>
          <a:xfrm>
            <a:off x="9441429" y="2833725"/>
            <a:ext cx="76200" cy="76200"/>
          </a:xfrm>
          <a:prstGeom prst="roundRect">
            <a:avLst>
              <a:gd name="adj" fmla="val 50000"/>
            </a:avLst>
          </a:prstGeom>
          <a:solidFill>
            <a:srgbClr val="03C2F3"/>
          </a:solidFill>
          <a:ln/>
        </p:spPr>
      </p:sp>
      <p:sp>
        <p:nvSpPr>
          <p:cNvPr id="57" name="Text 50"/>
          <p:cNvSpPr/>
          <p:nvPr/>
        </p:nvSpPr>
        <p:spPr>
          <a:xfrm>
            <a:off x="9593829" y="2765146"/>
            <a:ext cx="11891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Telegram Bot</a:t>
            </a:r>
            <a:endParaRPr lang="en-US" sz="1200" dirty="0"/>
          </a:p>
        </p:txBody>
      </p:sp>
      <p:sp>
        <p:nvSpPr>
          <p:cNvPr id="58" name="Shape 51"/>
          <p:cNvSpPr/>
          <p:nvPr/>
        </p:nvSpPr>
        <p:spPr>
          <a:xfrm>
            <a:off x="9441429" y="3135957"/>
            <a:ext cx="76200" cy="76200"/>
          </a:xfrm>
          <a:prstGeom prst="roundRect">
            <a:avLst>
              <a:gd name="adj" fmla="val 50000"/>
            </a:avLst>
          </a:prstGeom>
          <a:solidFill>
            <a:srgbClr val="03C2F3"/>
          </a:solidFill>
          <a:ln/>
        </p:spPr>
      </p:sp>
      <p:sp>
        <p:nvSpPr>
          <p:cNvPr id="59" name="Text 52"/>
          <p:cNvSpPr/>
          <p:nvPr/>
        </p:nvSpPr>
        <p:spPr>
          <a:xfrm>
            <a:off x="9593829" y="3067379"/>
            <a:ext cx="1490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SePay từng shop</a:t>
            </a:r>
            <a:endParaRPr lang="en-US" sz="1200" dirty="0"/>
          </a:p>
        </p:txBody>
      </p:sp>
      <p:sp>
        <p:nvSpPr>
          <p:cNvPr id="60" name="Shape 53"/>
          <p:cNvSpPr/>
          <p:nvPr/>
        </p:nvSpPr>
        <p:spPr>
          <a:xfrm>
            <a:off x="9441429" y="3438190"/>
            <a:ext cx="76200" cy="76200"/>
          </a:xfrm>
          <a:prstGeom prst="roundRect">
            <a:avLst>
              <a:gd name="adj" fmla="val 50000"/>
            </a:avLst>
          </a:prstGeom>
          <a:solidFill>
            <a:srgbClr val="03C2F3"/>
          </a:solidFill>
          <a:ln/>
        </p:spPr>
      </p:sp>
      <p:sp>
        <p:nvSpPr>
          <p:cNvPr id="61" name="Text 54"/>
          <p:cNvSpPr/>
          <p:nvPr/>
        </p:nvSpPr>
        <p:spPr>
          <a:xfrm>
            <a:off x="9593829" y="3369611"/>
            <a:ext cx="10360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SMTP email</a:t>
            </a:r>
            <a:endParaRPr lang="en-US" sz="1200" dirty="0"/>
          </a:p>
        </p:txBody>
      </p:sp>
      <p:sp>
        <p:nvSpPr>
          <p:cNvPr id="62" name="Shape 55"/>
          <p:cNvSpPr/>
          <p:nvPr/>
        </p:nvSpPr>
        <p:spPr>
          <a:xfrm>
            <a:off x="9441429" y="3671844"/>
            <a:ext cx="1818198" cy="6350"/>
          </a:xfrm>
          <a:prstGeom prst="rect">
            <a:avLst/>
          </a:prstGeom>
          <a:solidFill>
            <a:srgbClr val="FFFFFF">
              <a:alpha val="18000"/>
            </a:srgbClr>
          </a:solidFill>
          <a:ln/>
        </p:spPr>
      </p:sp>
      <p:sp>
        <p:nvSpPr>
          <p:cNvPr id="63" name="Text 56"/>
          <p:cNvSpPr/>
          <p:nvPr/>
        </p:nvSpPr>
        <p:spPr>
          <a:xfrm>
            <a:off x="9441429" y="3767013"/>
            <a:ext cx="1872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Giai đoạn sau</a:t>
            </a:r>
            <a:endParaRPr lang="en-US" sz="1200" dirty="0"/>
          </a:p>
        </p:txBody>
      </p:sp>
      <p:sp>
        <p:nvSpPr>
          <p:cNvPr id="64" name="Shape 57"/>
          <p:cNvSpPr/>
          <p:nvPr/>
        </p:nvSpPr>
        <p:spPr>
          <a:xfrm>
            <a:off x="9441429" y="4137825"/>
            <a:ext cx="76200" cy="76200"/>
          </a:xfrm>
          <a:prstGeom prst="roundRect">
            <a:avLst>
              <a:gd name="adj" fmla="val 50000"/>
            </a:avLst>
          </a:prstGeom>
          <a:solidFill>
            <a:srgbClr val="6B8594"/>
          </a:solidFill>
          <a:ln/>
        </p:spPr>
      </p:sp>
      <p:sp>
        <p:nvSpPr>
          <p:cNvPr id="65" name="Text 58"/>
          <p:cNvSpPr/>
          <p:nvPr/>
        </p:nvSpPr>
        <p:spPr>
          <a:xfrm>
            <a:off x="9593829" y="4069246"/>
            <a:ext cx="13990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Be Vietnam Pro" pitchFamily="34" charset="0"/>
                <a:ea typeface="Be Vietnam Pro" pitchFamily="34" charset="-122"/>
                <a:cs typeface="Be Vietnam Pro" pitchFamily="34" charset="-120"/>
              </a:rPr>
              <a:t>Zalo, Facebook</a:t>
            </a:r>
            <a:endParaRPr lang="en-US" sz="1200" dirty="0"/>
          </a:p>
        </p:txBody>
      </p:sp>
      <p:sp>
        <p:nvSpPr>
          <p:cNvPr id="66" name="Shape 59"/>
          <p:cNvSpPr/>
          <p:nvPr/>
        </p:nvSpPr>
        <p:spPr>
          <a:xfrm>
            <a:off x="9441429" y="4440058"/>
            <a:ext cx="76200" cy="76200"/>
          </a:xfrm>
          <a:prstGeom prst="roundRect">
            <a:avLst>
              <a:gd name="adj" fmla="val 50000"/>
            </a:avLst>
          </a:prstGeom>
          <a:solidFill>
            <a:srgbClr val="6B8594"/>
          </a:solidFill>
          <a:ln/>
        </p:spPr>
      </p:sp>
      <p:sp>
        <p:nvSpPr>
          <p:cNvPr id="67" name="Text 60"/>
          <p:cNvSpPr/>
          <p:nvPr/>
        </p:nvSpPr>
        <p:spPr>
          <a:xfrm>
            <a:off x="9593829" y="4371479"/>
            <a:ext cx="14104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Be Vietnam Pro" pitchFamily="34" charset="0"/>
                <a:ea typeface="Be Vietnam Pro" pitchFamily="34" charset="-122"/>
                <a:cs typeface="Be Vietnam Pro" pitchFamily="34" charset="-120"/>
              </a:rPr>
              <a:t>Hóa đơn điện tử</a:t>
            </a:r>
            <a:endParaRPr lang="en-US" sz="1200" dirty="0"/>
          </a:p>
        </p:txBody>
      </p:sp>
      <p:sp>
        <p:nvSpPr>
          <p:cNvPr id="68" name="Shape 61"/>
          <p:cNvSpPr/>
          <p:nvPr/>
        </p:nvSpPr>
        <p:spPr>
          <a:xfrm>
            <a:off x="9441429" y="4742290"/>
            <a:ext cx="76200" cy="76200"/>
          </a:xfrm>
          <a:prstGeom prst="roundRect">
            <a:avLst>
              <a:gd name="adj" fmla="val 50000"/>
            </a:avLst>
          </a:prstGeom>
          <a:solidFill>
            <a:srgbClr val="6B8594"/>
          </a:solidFill>
          <a:ln/>
        </p:spPr>
      </p:sp>
      <p:sp>
        <p:nvSpPr>
          <p:cNvPr id="69" name="Text 62"/>
          <p:cNvSpPr/>
          <p:nvPr/>
        </p:nvSpPr>
        <p:spPr>
          <a:xfrm>
            <a:off x="9593829" y="4673705"/>
            <a:ext cx="1104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CD6"/>
                </a:solidFill>
                <a:latin typeface="Be Vietnam Pro" pitchFamily="34" charset="0"/>
                <a:ea typeface="Be Vietnam Pro" pitchFamily="34" charset="-122"/>
                <a:cs typeface="Be Vietnam Pro" pitchFamily="34" charset="-120"/>
              </a:rPr>
              <a:t>Thẻ tín dụng</a:t>
            </a:r>
            <a:endParaRPr lang="en-US" sz="1200" dirty="0"/>
          </a:p>
        </p:txBody>
      </p:sp>
      <p:sp>
        <p:nvSpPr>
          <p:cNvPr id="70" name="Shape 63"/>
          <p:cNvSpPr/>
          <p:nvPr/>
        </p:nvSpPr>
        <p:spPr>
          <a:xfrm>
            <a:off x="9441429" y="4975938"/>
            <a:ext cx="1818198" cy="6350"/>
          </a:xfrm>
          <a:prstGeom prst="rect">
            <a:avLst/>
          </a:prstGeom>
          <a:solidFill>
            <a:srgbClr val="FFFFFF">
              <a:alpha val="18000"/>
            </a:srgbClr>
          </a:solidFill>
          <a:ln/>
        </p:spPr>
      </p:sp>
      <p:sp>
        <p:nvSpPr>
          <p:cNvPr id="71" name="Shape 64"/>
          <p:cNvSpPr/>
          <p:nvPr/>
        </p:nvSpPr>
        <p:spPr>
          <a:xfrm>
            <a:off x="9441429" y="5146067"/>
            <a:ext cx="228600" cy="63445"/>
          </a:xfrm>
          <a:prstGeom prst="roundRect">
            <a:avLst>
              <a:gd name="adj" fmla="val 50000"/>
            </a:avLst>
          </a:prstGeom>
          <a:solidFill>
            <a:srgbClr val="03C2F3"/>
          </a:solidFill>
          <a:ln/>
        </p:spPr>
      </p:sp>
      <p:sp>
        <p:nvSpPr>
          <p:cNvPr id="72" name="Text 65"/>
          <p:cNvSpPr/>
          <p:nvPr/>
        </p:nvSpPr>
        <p:spPr>
          <a:xfrm>
            <a:off x="9746229" y="5071108"/>
            <a:ext cx="15108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Đường đi đơn Avi</a:t>
            </a:r>
            <a:endParaRPr lang="en-US" sz="1200" dirty="0"/>
          </a:p>
        </p:txBody>
      </p:sp>
      <p:sp>
        <p:nvSpPr>
          <p:cNvPr id="73" name="Shape 66"/>
          <p:cNvSpPr/>
          <p:nvPr/>
        </p:nvSpPr>
        <p:spPr>
          <a:xfrm>
            <a:off x="9441429" y="5448300"/>
            <a:ext cx="228600" cy="63445"/>
          </a:xfrm>
          <a:prstGeom prst="roundRect">
            <a:avLst>
              <a:gd name="adj" fmla="val 50000"/>
            </a:avLst>
          </a:prstGeom>
          <a:solidFill>
            <a:srgbClr val="EDC68E"/>
          </a:solidFill>
          <a:ln/>
        </p:spPr>
      </p:sp>
      <p:sp>
        <p:nvSpPr>
          <p:cNvPr id="74" name="Text 67"/>
          <p:cNvSpPr/>
          <p:nvPr/>
        </p:nvSpPr>
        <p:spPr>
          <a:xfrm>
            <a:off x="9746229" y="5373340"/>
            <a:ext cx="11797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Lõi nghiệp vụ</a:t>
            </a:r>
            <a:endParaRPr lang="en-US" sz="1200" dirty="0"/>
          </a:p>
        </p:txBody>
      </p:sp>
      <p:sp>
        <p:nvSpPr>
          <p:cNvPr id="75" name="Text 68"/>
          <p:cNvSpPr/>
          <p:nvPr/>
        </p:nvSpPr>
        <p:spPr>
          <a:xfrm>
            <a:off x="762000" y="6365267"/>
            <a:ext cx="109879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BF"/>
                </a:solidFill>
                <a:latin typeface="Be Vietnam Pro" pitchFamily="34" charset="0"/>
                <a:ea typeface="Be Vietnam Pro" pitchFamily="34" charset="-122"/>
                <a:cs typeface="Be Vietnam Pro" pitchFamily="34" charset="-120"/>
              </a:rPr>
              <a:t>Máy chủ FPT Cloud 8 vCPU · 16 GB RAM · 220 GB NVMe · Windows Server 2022 · tách dần thành service khi tải tăng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62000" y="660369"/>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GIẢ ĐỊNH TẢI</a:t>
            </a:r>
            <a:endParaRPr lang="en-US" sz="1200" dirty="0"/>
          </a:p>
        </p:txBody>
      </p:sp>
      <p:sp>
        <p:nvSpPr>
          <p:cNvPr id="3" name="Text 1"/>
          <p:cNvSpPr/>
          <p:nvPr>
            <p:ph type="title"/>
          </p:nvPr>
        </p:nvSpPr>
        <p:spPr>
          <a:xfrm>
            <a:off x="762000" y="975277"/>
            <a:ext cx="10988041" cy="437874"/>
          </a:xfrm>
          <a:prstGeom prst="rect">
            <a:avLst/>
          </a:prstGeom>
          <a:noFill/>
          <a:ln/>
        </p:spPr>
        <p:txBody>
          <a:bodyPr wrap="square" lIns="0" tIns="0" rIns="0" bIns="0" rtlCol="0" anchor="t">
            <a:normAutofit/>
          </a:bodyPr>
          <a:lstStyle/>
          <a:p>
            <a:pPr algn="l" indent="0" marL="0">
              <a:lnSpc>
                <a:spcPts val="3248"/>
              </a:lnSpc>
              <a:buNone/>
            </a:pPr>
            <a:r>
              <a:rPr lang="en-US" sz="2900" b="1" i="0" dirty="0">
                <a:solidFill>
                  <a:srgbClr val="0D2636"/>
                </a:solidFill>
                <a:latin typeface="Playfair Display" pitchFamily="18" charset="0"/>
                <a:ea typeface="Playfair Display" pitchFamily="18" charset="-122"/>
                <a:cs typeface="Playfair Display" pitchFamily="18" charset="-120"/>
              </a:rPr>
              <a:t>Máy chủ hiện tại đủ cho 200 shop, kể cả ngày lễ</a:t>
            </a:r>
            <a:endParaRPr lang="en-US" sz="2900" dirty="0"/>
          </a:p>
        </p:txBody>
      </p:sp>
      <p:sp>
        <p:nvSpPr>
          <p:cNvPr id="4" name="Shape 2"/>
          <p:cNvSpPr/>
          <p:nvPr/>
        </p:nvSpPr>
        <p:spPr>
          <a:xfrm>
            <a:off x="762000" y="1489292"/>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1784511"/>
            <a:ext cx="6408862" cy="2777021"/>
          </a:xfrm>
          <a:prstGeom prst="roundRect">
            <a:avLst>
              <a:gd name="adj" fmla="val 4916"/>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81075" y="1974984"/>
          <a:ext cx="5987664" cy="2406678"/>
        </p:xfrm>
        <a:graphic>
          <a:graphicData uri="http://schemas.openxmlformats.org/drawingml/2006/table">
            <a:tbl>
              <a:tblPr/>
              <a:tblGrid>
                <a:gridCol w="2754325"/>
                <a:gridCol w="1616669"/>
                <a:gridCol w="1616669"/>
              </a:tblGrid>
              <a:tr h="343811">
                <a:tc>
                  <a:txBody>
                    <a:bodyPr/>
                    <a:lstStyle/>
                    <a:p>
                      <a:pPr indent="0" marL="0">
                        <a:lnSpc>
                          <a:spcPts val="1750"/>
                        </a:lnSpc>
                        <a:buNone/>
                      </a:pPr>
                      <a:r>
                        <a:rPr lang="en-US" sz="1250" b="1" dirty="0">
                          <a:solidFill>
                            <a:srgbClr val="066E96"/>
                          </a:solidFill>
                          <a:latin typeface="Be Vietnam Pro" pitchFamily="34" charset="0"/>
                          <a:ea typeface="Be Vietnam Pro" pitchFamily="34" charset="-122"/>
                          <a:cs typeface="Be Vietnam Pro" pitchFamily="34" charset="-120"/>
                        </a:rPr>
                        <a:t>Chỉ số lúc cao điểm</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750"/>
                        </a:lnSpc>
                        <a:buNone/>
                      </a:pPr>
                      <a:r>
                        <a:rPr lang="en-US" sz="1250" b="1" dirty="0">
                          <a:solidFill>
                            <a:srgbClr val="066E96"/>
                          </a:solidFill>
                          <a:latin typeface="Be Vietnam Pro" pitchFamily="34" charset="0"/>
                          <a:ea typeface="Be Vietnam Pro" pitchFamily="34" charset="-122"/>
                          <a:cs typeface="Be Vietnam Pro" pitchFamily="34" charset="-120"/>
                        </a:rPr>
                        <a:t>200 shop</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750"/>
                        </a:lnSpc>
                        <a:buNone/>
                      </a:pPr>
                      <a:r>
                        <a:rPr lang="en-US" sz="1250" b="1" dirty="0">
                          <a:solidFill>
                            <a:srgbClr val="066E96"/>
                          </a:solidFill>
                          <a:latin typeface="Be Vietnam Pro" pitchFamily="34" charset="0"/>
                          <a:ea typeface="Be Vietnam Pro" pitchFamily="34" charset="-122"/>
                          <a:cs typeface="Be Vietnam Pro" pitchFamily="34" charset="-120"/>
                        </a:rPr>
                        <a:t>1.000 shop</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3811">
                <a:tc>
                  <a:txBody>
                    <a:bodyPr/>
                    <a:lstStyle/>
                    <a:p>
                      <a:pP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Người dùng nội bộ đồng thời</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~600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~3.000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811">
                <a:tc>
                  <a:txBody>
                    <a:bodyPr/>
                    <a:lstStyle/>
                    <a:p>
                      <a:pP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Khách xem landing đồng thời</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~2.000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5C1B9"/>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~10.000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5C1B9"/>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r>
              <a:tr h="343811">
                <a:tc>
                  <a:txBody>
                    <a:bodyPr/>
                    <a:lstStyle/>
                    <a:p>
                      <a:pP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Đơn/ngày vào ngày lễ</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1B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~20.000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1B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~100.000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1B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811">
                <a:tc>
                  <a:txBody>
                    <a:bodyPr/>
                    <a:lstStyle/>
                    <a:p>
                      <a:pP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Yêu cầu API</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~150 req/s</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5C1B9"/>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~750 req/s</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5C1B9"/>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r>
              <a:tr h="343811">
                <a:tc>
                  <a:txBody>
                    <a:bodyPr/>
                    <a:lstStyle/>
                    <a:p>
                      <a:pP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Giao dịch ghi (đơn, tiền)</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1B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~5 TPS</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1B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~25 TPS</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1B9"/>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811">
                <a:tc>
                  <a:txBody>
                    <a:bodyPr/>
                    <a:lstStyle/>
                    <a:p>
                      <a:pP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Lượt AI phân tích/ngày</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~4.000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5C1B9"/>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c>
                  <a:txBody>
                    <a:bodyPr/>
                    <a:lstStyle/>
                    <a:p>
                      <a:pPr algn="r" indent="0" marL="0">
                        <a:lnSpc>
                          <a:spcPts val="1750"/>
                        </a:lnSpc>
                        <a:buNone/>
                      </a:pPr>
                      <a:r>
                        <a:rPr lang="en-US" sz="1250" dirty="0">
                          <a:solidFill>
                            <a:srgbClr val="0D2636"/>
                          </a:solidFill>
                          <a:latin typeface="Be Vietnam Pro" pitchFamily="34" charset="0"/>
                          <a:ea typeface="Be Vietnam Pro" pitchFamily="34" charset="-122"/>
                          <a:cs typeface="Be Vietnam Pro" pitchFamily="34" charset="-120"/>
                        </a:rPr>
                        <a:t>~20.000</a:t>
                      </a:r>
                      <a:endParaRPr lang="en-US" sz="1250" dirty="0">
                        <a:latin typeface="Be Vietnam Pro" charset="0"/>
                        <a:ea typeface="Be Vietnam Pro" charset="0"/>
                        <a:cs typeface="Be Vietnam Pro" charset="0"/>
                      </a:endParaRPr>
                    </a:p>
                  </a:txBody>
                  <a:tcPr marL="55563" marR="55563" marT="55563" marB="55563" anchor="t">
                    <a:lnL w="12700" cap="flat" cmpd="sng" algn="ctr">
                      <a:solidFill>
                        <a:srgbClr val="C5C1B9"/>
                      </a:solidFill>
                      <a:prstDash val="solid"/>
                      <a:round/>
                      <a:headEnd type="none" w="med" len="med"/>
                      <a:tailEnd type="none" w="med" len="med"/>
                    </a:lnL>
                    <a:lnR w="12700" cap="flat" cmpd="sng" algn="ctr">
                      <a:solidFill>
                        <a:srgbClr val="C5C1B9"/>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1B9"/>
                      </a:solidFill>
                      <a:prstDash val="solid"/>
                      <a:round/>
                      <a:headEnd type="none" w="med" len="med"/>
                      <a:tailEnd type="none" w="med" len="med"/>
                    </a:lnB>
                    <a:solidFill>
                      <a:srgbClr val="F7F2E8"/>
                    </a:solidFill>
                  </a:tcPr>
                </a:tc>
              </a:tr>
            </a:tbl>
          </a:graphicData>
        </a:graphic>
      </p:graphicFrame>
      <p:sp>
        <p:nvSpPr>
          <p:cNvPr id="7" name="Shape 4"/>
          <p:cNvSpPr/>
          <p:nvPr/>
        </p:nvSpPr>
        <p:spPr>
          <a:xfrm>
            <a:off x="7431157" y="1781336"/>
            <a:ext cx="3998844" cy="1318094"/>
          </a:xfrm>
          <a:prstGeom prst="roundRect">
            <a:avLst>
              <a:gd name="adj" fmla="val 8672"/>
            </a:avLst>
          </a:prstGeom>
          <a:solidFill>
            <a:srgbClr val="FFFFFF"/>
          </a:solidFill>
          <a:ln/>
          <a:effectLst>
            <a:outerShdw sx="100000" sy="100000" kx="0" ky="0" algn="bl" rotWithShape="0" blurRad="190500" dist="76200" dir="5400000">
              <a:srgbClr val="0D2636">
                <a:alpha val="6000"/>
              </a:srgbClr>
            </a:outerShdw>
          </a:effectLst>
        </p:spPr>
      </p:sp>
      <p:sp>
        <p:nvSpPr>
          <p:cNvPr id="8" name="Shape 5"/>
          <p:cNvSpPr/>
          <p:nvPr/>
        </p:nvSpPr>
        <p:spPr>
          <a:xfrm>
            <a:off x="7431157" y="1781336"/>
            <a:ext cx="3998844" cy="1318094"/>
          </a:xfrm>
          <a:custGeom>
            <a:avLst/>
            <a:gdLst/>
            <a:ahLst/>
            <a:cxnLst/>
            <a:rect l="l" t="t" r="r" b="b"/>
            <a:pathLst>
              <a:path w="3998844" h="1318094">
                <a:moveTo>
                  <a:pt x="114300" y="1318094"/>
                </a:moveTo>
                <a:lnTo>
                  <a:pt x="114300" y="1318094"/>
                </a:lnTo>
                <a:arcTo hR="114300" wR="114300" stAng="5400000" swAng="5400000"/>
                <a:lnTo>
                  <a:pt x="0" y="114300"/>
                </a:lnTo>
                <a:arcTo hR="114300" wR="114300" stAng="10800000" swAng="5400000"/>
                <a:lnTo>
                  <a:pt x="114300" y="0"/>
                </a:lnTo>
                <a:arcTo hR="114300" wR="76200" stAng="16200000" swAng="-5400000"/>
                <a:lnTo>
                  <a:pt x="38100" y="1203794"/>
                </a:lnTo>
                <a:arcTo hR="114300" wR="76200" stAng="10800000" swAng="-5400000"/>
                <a:close/>
              </a:path>
            </a:pathLst>
          </a:custGeom>
          <a:solidFill>
            <a:srgbClr val="03C2F3"/>
          </a:solidFill>
          <a:ln/>
        </p:spPr>
      </p:sp>
      <p:sp>
        <p:nvSpPr>
          <p:cNvPr id="9" name="Text 6"/>
          <p:cNvSpPr/>
          <p:nvPr/>
        </p:nvSpPr>
        <p:spPr>
          <a:xfrm>
            <a:off x="7646008" y="1959087"/>
            <a:ext cx="371443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Mục tiêu chất lượng</a:t>
            </a:r>
            <a:endParaRPr lang="en-US" sz="1400" dirty="0"/>
          </a:p>
        </p:txBody>
      </p:sp>
      <p:sp>
        <p:nvSpPr>
          <p:cNvPr id="10" name="Text 7"/>
          <p:cNvSpPr/>
          <p:nvPr/>
        </p:nvSpPr>
        <p:spPr>
          <a:xfrm>
            <a:off x="7646008" y="2235888"/>
            <a:ext cx="371443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B66"/>
                </a:solidFill>
                <a:latin typeface="Be Vietnam Pro" pitchFamily="34" charset="0"/>
                <a:ea typeface="Be Vietnam Pro" pitchFamily="34" charset="-122"/>
                <a:cs typeface="Be Vietnam Pro" pitchFamily="34" charset="-120"/>
              </a:rPr>
              <a:t>API p95 dưới 300 ms · đơn mới báo Telegram dưới 3 giây · AI chạy nền dưới 20 giây · sẵn sàng 99,5%</a:t>
            </a:r>
            <a:endParaRPr lang="en-US" sz="1200" dirty="0"/>
          </a:p>
        </p:txBody>
      </p:sp>
      <p:sp>
        <p:nvSpPr>
          <p:cNvPr id="11" name="Shape 8"/>
          <p:cNvSpPr/>
          <p:nvPr/>
        </p:nvSpPr>
        <p:spPr>
          <a:xfrm>
            <a:off x="7431157" y="3226408"/>
            <a:ext cx="3998844" cy="1089494"/>
          </a:xfrm>
          <a:prstGeom prst="roundRect">
            <a:avLst>
              <a:gd name="adj" fmla="val 10491"/>
            </a:avLst>
          </a:prstGeom>
          <a:gradFill rotWithShape="1">
            <a:gsLst>
              <a:gs pos="0">
                <a:srgbClr val="0D2636"/>
              </a:gs>
              <a:gs pos="100000">
                <a:srgbClr val="135A79"/>
              </a:gs>
            </a:gsLst>
            <a:lin ang="3600000" scaled="0"/>
          </a:gradFill>
          <a:ln/>
          <a:effectLst>
            <a:outerShdw sx="100000" sy="100000" kx="0" ky="0" algn="bl" rotWithShape="0" blurRad="254000" dist="114300" dir="5400000">
              <a:srgbClr val="0D2636">
                <a:alpha val="20000"/>
              </a:srgbClr>
            </a:outerShdw>
          </a:effectLst>
        </p:spPr>
      </p:sp>
      <p:sp>
        <p:nvSpPr>
          <p:cNvPr id="12" name="Text 9"/>
          <p:cNvSpPr/>
          <p:nvPr/>
        </p:nvSpPr>
        <p:spPr>
          <a:xfrm>
            <a:off x="7608901" y="3404152"/>
            <a:ext cx="375265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Khi tới 1.000 shop</a:t>
            </a:r>
            <a:endParaRPr lang="en-US" sz="1400" dirty="0"/>
          </a:p>
        </p:txBody>
      </p:sp>
      <p:sp>
        <p:nvSpPr>
          <p:cNvPr id="13" name="Text 10"/>
          <p:cNvSpPr/>
          <p:nvPr/>
        </p:nvSpPr>
        <p:spPr>
          <a:xfrm>
            <a:off x="7608901" y="3680954"/>
            <a:ext cx="3752655"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7F3EA"/>
                </a:solidFill>
                <a:latin typeface="Be Vietnam Pro" pitchFamily="34" charset="0"/>
                <a:ea typeface="Be Vietnam Pro" pitchFamily="34" charset="-122"/>
                <a:cs typeface="Be Vietnam Pro" pitchFamily="34" charset="-120"/>
              </a:rPr>
              <a:t>Tách PostgreSQL ra máy riêng, thêm máy chạy ứng dụng; ảnh và landing đã qua CDN</a:t>
            </a:r>
            <a:endParaRPr lang="en-US" sz="1200" dirty="0"/>
          </a:p>
        </p:txBody>
      </p:sp>
      <p:pic>
        <p:nvPicPr>
          <p:cNvPr id="14" name="Image 0" descr="AVI Group">    </p:cNvPr>
          <p:cNvPicPr>
            <a:picLocks noChangeAspect="1"/>
          </p:cNvPicPr>
          <p:nvPr/>
        </p:nvPicPr>
        <p:blipFill>
          <a:blip r:embed="rId1"/>
          <a:srcRect l="-5" r="-5" t="0" b="0"/>
          <a:stretch/>
        </p:blipFill>
        <p:spPr>
          <a:xfrm>
            <a:off x="762000" y="6324681"/>
            <a:ext cx="419100" cy="279372"/>
          </a:xfrm>
          <a:prstGeom prst="rect">
            <a:avLst/>
          </a:prstGeom>
        </p:spPr>
      </p:pic>
      <p:sp>
        <p:nvSpPr>
          <p:cNvPr id="15" name="Text 11"/>
          <p:cNvSpPr/>
          <p:nvPr/>
        </p:nvSpPr>
        <p:spPr>
          <a:xfrm>
            <a:off x="1269972" y="6339836"/>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Giả định: 3 người/shop, ngày lễ 100 đơn/shop trong 8 giờ, 20–50 yêu cầu API mỗi đơn · kiểm thử tải trước 14/2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F4EEE3"/>
              </a:gs>
              <a:gs pos="100000">
                <a:srgbClr val="FBF8F2"/>
              </a:gs>
            </a:gsLst>
            <a:lin ang="5400000" scaled="0"/>
          </a:gradFill>
          <a:ln/>
        </p:spPr>
      </p:sp>
      <p:sp>
        <p:nvSpPr>
          <p:cNvPr id="3" name="Text 1"/>
          <p:cNvSpPr/>
          <p:nvPr/>
        </p:nvSpPr>
        <p:spPr>
          <a:xfrm>
            <a:off x="762000" y="584169"/>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SẴN SÀNG · BACKUP · REPLAY</a:t>
            </a:r>
            <a:endParaRPr lang="en-US" sz="1200" dirty="0"/>
          </a:p>
        </p:txBody>
      </p:sp>
      <p:sp>
        <p:nvSpPr>
          <p:cNvPr id="4" name="Text 2"/>
          <p:cNvSpPr/>
          <p:nvPr>
            <p:ph type="title"/>
          </p:nvPr>
        </p:nvSpPr>
        <p:spPr>
          <a:xfrm>
            <a:off x="762000" y="886402"/>
            <a:ext cx="10988041" cy="409382"/>
          </a:xfrm>
          <a:prstGeom prst="rect">
            <a:avLst/>
          </a:prstGeom>
          <a:noFill/>
          <a:ln/>
        </p:spPr>
        <p:txBody>
          <a:bodyPr wrap="square" lIns="0" tIns="0" rIns="0" bIns="0" rtlCol="0" anchor="t">
            <a:normAutofit/>
          </a:bodyPr>
          <a:lstStyle/>
          <a:p>
            <a:pPr algn="l" indent="0" marL="0">
              <a:lnSpc>
                <a:spcPts val="3024"/>
              </a:lnSpc>
              <a:buNone/>
            </a:pPr>
            <a:r>
              <a:rPr lang="en-US" sz="2700" b="1" i="0" dirty="0">
                <a:solidFill>
                  <a:srgbClr val="0D2636"/>
                </a:solidFill>
                <a:latin typeface="Playfair Display" pitchFamily="18" charset="0"/>
                <a:ea typeface="Playfair Display" pitchFamily="18" charset="-122"/>
                <a:cs typeface="Playfair Display" pitchFamily="18" charset="-120"/>
              </a:rPr>
              <a:t>Chưa cần HA ngay, nhưng không để mất tiền và đơn</a:t>
            </a:r>
            <a:endParaRPr lang="en-US" sz="2700" dirty="0"/>
          </a:p>
        </p:txBody>
      </p:sp>
      <p:sp>
        <p:nvSpPr>
          <p:cNvPr id="5" name="Shape 3"/>
          <p:cNvSpPr/>
          <p:nvPr/>
        </p:nvSpPr>
        <p:spPr>
          <a:xfrm>
            <a:off x="762000" y="1359260"/>
            <a:ext cx="6096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2000" y="1600529"/>
            <a:ext cx="4444945" cy="996895"/>
          </a:xfrm>
          <a:prstGeom prst="roundRect">
            <a:avLst>
              <a:gd name="adj" fmla="val 10192"/>
            </a:avLst>
          </a:prstGeom>
          <a:solidFill>
            <a:srgbClr val="FFFFFF"/>
          </a:solidFill>
          <a:ln/>
          <a:effectLst>
            <a:outerShdw sx="100000" sy="100000" kx="0" ky="0" algn="bl" rotWithShape="0" blurRad="165100" dist="63500" dir="5400000">
              <a:srgbClr val="0D2636">
                <a:alpha val="6000"/>
              </a:srgbClr>
            </a:outerShdw>
          </a:effectLst>
        </p:spPr>
      </p:sp>
      <p:sp>
        <p:nvSpPr>
          <p:cNvPr id="7" name="Shape 5"/>
          <p:cNvSpPr/>
          <p:nvPr/>
        </p:nvSpPr>
        <p:spPr>
          <a:xfrm>
            <a:off x="762000" y="1600529"/>
            <a:ext cx="4444945" cy="996895"/>
          </a:xfrm>
          <a:custGeom>
            <a:avLst/>
            <a:gdLst/>
            <a:ahLst/>
            <a:cxnLst/>
            <a:rect l="l" t="t" r="r" b="b"/>
            <a:pathLst>
              <a:path w="4444945" h="996895">
                <a:moveTo>
                  <a:pt x="101600" y="996895"/>
                </a:moveTo>
                <a:lnTo>
                  <a:pt x="101600" y="996895"/>
                </a:lnTo>
                <a:arcTo hR="101600" wR="101600" stAng="5400000" swAng="5400000"/>
                <a:lnTo>
                  <a:pt x="0" y="101600"/>
                </a:lnTo>
                <a:arcTo hR="101600" wR="101600" stAng="10800000" swAng="5400000"/>
                <a:lnTo>
                  <a:pt x="101600" y="0"/>
                </a:lnTo>
                <a:arcTo hR="101600" wR="50800" stAng="16200000" swAng="-5400000"/>
                <a:lnTo>
                  <a:pt x="50800" y="895295"/>
                </a:lnTo>
                <a:arcTo hR="101600" wR="50800" stAng="10800000" swAng="-5400000"/>
                <a:close/>
              </a:path>
            </a:pathLst>
          </a:custGeom>
          <a:solidFill>
            <a:srgbClr val="8FA8B5"/>
          </a:solidFill>
          <a:ln/>
        </p:spPr>
      </p:sp>
      <p:sp>
        <p:nvSpPr>
          <p:cNvPr id="8" name="Text 6"/>
          <p:cNvSpPr/>
          <p:nvPr/>
        </p:nvSpPr>
        <p:spPr>
          <a:xfrm>
            <a:off x="974780" y="1727504"/>
            <a:ext cx="41891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B66"/>
                </a:solidFill>
                <a:latin typeface="Be Vietnam Pro" pitchFamily="34" charset="0"/>
                <a:ea typeface="Be Vietnam Pro" pitchFamily="34" charset="-122"/>
                <a:cs typeface="Be Vietnam Pro" pitchFamily="34" charset="-120"/>
              </a:rPr>
              <a:t>Giai đoạn 1</a:t>
            </a:r>
            <a:endParaRPr lang="en-US" sz="1200" dirty="0"/>
          </a:p>
        </p:txBody>
      </p:sp>
      <p:sp>
        <p:nvSpPr>
          <p:cNvPr id="9" name="Text 7"/>
          <p:cNvSpPr/>
          <p:nvPr/>
        </p:nvSpPr>
        <p:spPr>
          <a:xfrm>
            <a:off x="974780" y="1978961"/>
            <a:ext cx="4189105"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0D2636"/>
                </a:solidFill>
                <a:latin typeface="Be Vietnam Pro" pitchFamily="34" charset="0"/>
                <a:ea typeface="Be Vietnam Pro" pitchFamily="34" charset="-122"/>
                <a:cs typeface="Be Vietnam Pro" pitchFamily="34" charset="-120"/>
              </a:rPr>
              <a:t>Một máy chủ + backup liên tục</a:t>
            </a:r>
            <a:endParaRPr lang="en-US" sz="1350" dirty="0"/>
          </a:p>
        </p:txBody>
      </p:sp>
      <p:sp>
        <p:nvSpPr>
          <p:cNvPr id="10" name="Text 8"/>
          <p:cNvSpPr/>
          <p:nvPr/>
        </p:nvSpPr>
        <p:spPr>
          <a:xfrm>
            <a:off x="974780" y="2257090"/>
            <a:ext cx="4189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6"/>
                </a:solidFill>
                <a:latin typeface="Be Vietnam Pro" pitchFamily="34" charset="0"/>
                <a:ea typeface="Be Vietnam Pro" pitchFamily="34" charset="-122"/>
                <a:cs typeface="Be Vietnam Pro" pitchFamily="34" charset="-120"/>
              </a:rPr>
              <a:t>Mất tối đa 5 phút dữ liệu · khôi phục ≤ 4 giờ</a:t>
            </a:r>
            <a:endParaRPr lang="en-US" sz="1200" dirty="0"/>
          </a:p>
        </p:txBody>
      </p:sp>
      <p:sp>
        <p:nvSpPr>
          <p:cNvPr id="11" name="Shape 9"/>
          <p:cNvSpPr/>
          <p:nvPr/>
        </p:nvSpPr>
        <p:spPr>
          <a:xfrm>
            <a:off x="762000" y="2686298"/>
            <a:ext cx="4444945" cy="996895"/>
          </a:xfrm>
          <a:prstGeom prst="roundRect">
            <a:avLst>
              <a:gd name="adj" fmla="val 10192"/>
            </a:avLst>
          </a:prstGeom>
          <a:solidFill>
            <a:srgbClr val="FFFFFF"/>
          </a:solidFill>
          <a:ln/>
          <a:effectLst>
            <a:outerShdw sx="100000" sy="100000" kx="0" ky="0" algn="bl" rotWithShape="0" blurRad="165100" dist="63500" dir="5400000">
              <a:srgbClr val="0D2636">
                <a:alpha val="6000"/>
              </a:srgbClr>
            </a:outerShdw>
          </a:effectLst>
        </p:spPr>
      </p:sp>
      <p:sp>
        <p:nvSpPr>
          <p:cNvPr id="12" name="Shape 10"/>
          <p:cNvSpPr/>
          <p:nvPr/>
        </p:nvSpPr>
        <p:spPr>
          <a:xfrm>
            <a:off x="762000" y="2686298"/>
            <a:ext cx="4444945" cy="996895"/>
          </a:xfrm>
          <a:custGeom>
            <a:avLst/>
            <a:gdLst/>
            <a:ahLst/>
            <a:cxnLst/>
            <a:rect l="l" t="t" r="r" b="b"/>
            <a:pathLst>
              <a:path w="4444945" h="996895">
                <a:moveTo>
                  <a:pt x="101600" y="996895"/>
                </a:moveTo>
                <a:lnTo>
                  <a:pt x="101600" y="996895"/>
                </a:lnTo>
                <a:arcTo hR="101600" wR="101600" stAng="5400000" swAng="5400000"/>
                <a:lnTo>
                  <a:pt x="0" y="101600"/>
                </a:lnTo>
                <a:arcTo hR="101600" wR="101600" stAng="10800000" swAng="5400000"/>
                <a:lnTo>
                  <a:pt x="101600" y="0"/>
                </a:lnTo>
                <a:arcTo hR="101600" wR="50800" stAng="16200000" swAng="-5400000"/>
                <a:lnTo>
                  <a:pt x="50800" y="895295"/>
                </a:lnTo>
                <a:arcTo hR="101600" wR="50800" stAng="10800000" swAng="-5400000"/>
                <a:close/>
              </a:path>
            </a:pathLst>
          </a:custGeom>
          <a:solidFill>
            <a:srgbClr val="03C2F3"/>
          </a:solidFill>
          <a:ln/>
        </p:spPr>
      </p:sp>
      <p:sp>
        <p:nvSpPr>
          <p:cNvPr id="13" name="Text 11"/>
          <p:cNvSpPr/>
          <p:nvPr/>
        </p:nvSpPr>
        <p:spPr>
          <a:xfrm>
            <a:off x="974780" y="2813267"/>
            <a:ext cx="41891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Trước cao điểm 14/2/2027</a:t>
            </a:r>
            <a:endParaRPr lang="en-US" sz="1200" dirty="0"/>
          </a:p>
        </p:txBody>
      </p:sp>
      <p:sp>
        <p:nvSpPr>
          <p:cNvPr id="14" name="Text 12"/>
          <p:cNvSpPr/>
          <p:nvPr/>
        </p:nvSpPr>
        <p:spPr>
          <a:xfrm>
            <a:off x="974780" y="3064731"/>
            <a:ext cx="4189105"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0D2636"/>
                </a:solidFill>
                <a:latin typeface="Be Vietnam Pro" pitchFamily="34" charset="0"/>
                <a:ea typeface="Be Vietnam Pro" pitchFamily="34" charset="-122"/>
                <a:cs typeface="Be Vietnam Pro" pitchFamily="34" charset="-120"/>
              </a:rPr>
              <a:t>Thêm máy dự phòng nóng</a:t>
            </a:r>
            <a:endParaRPr lang="en-US" sz="1350" dirty="0"/>
          </a:p>
        </p:txBody>
      </p:sp>
      <p:sp>
        <p:nvSpPr>
          <p:cNvPr id="15" name="Text 13"/>
          <p:cNvSpPr/>
          <p:nvPr/>
        </p:nvSpPr>
        <p:spPr>
          <a:xfrm>
            <a:off x="974780" y="3342860"/>
            <a:ext cx="4189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6"/>
                </a:solidFill>
                <a:latin typeface="Be Vietnam Pro" pitchFamily="34" charset="0"/>
                <a:ea typeface="Be Vietnam Pro" pitchFamily="34" charset="-122"/>
                <a:cs typeface="Be Vietnam Pro" pitchFamily="34" charset="-120"/>
              </a:rPr>
              <a:t>Mất tối đa 1 phút · khôi phục ≤ 30 phút</a:t>
            </a:r>
            <a:endParaRPr lang="en-US" sz="1200" dirty="0"/>
          </a:p>
        </p:txBody>
      </p:sp>
      <p:sp>
        <p:nvSpPr>
          <p:cNvPr id="16" name="Shape 14"/>
          <p:cNvSpPr/>
          <p:nvPr/>
        </p:nvSpPr>
        <p:spPr>
          <a:xfrm>
            <a:off x="762000" y="3772061"/>
            <a:ext cx="4444945" cy="996895"/>
          </a:xfrm>
          <a:prstGeom prst="roundRect">
            <a:avLst>
              <a:gd name="adj" fmla="val 10192"/>
            </a:avLst>
          </a:prstGeom>
          <a:solidFill>
            <a:srgbClr val="FFFFFF"/>
          </a:solidFill>
          <a:ln/>
          <a:effectLst>
            <a:outerShdw sx="100000" sy="100000" kx="0" ky="0" algn="bl" rotWithShape="0" blurRad="165100" dist="63500" dir="5400000">
              <a:srgbClr val="0D2636">
                <a:alpha val="6000"/>
              </a:srgbClr>
            </a:outerShdw>
          </a:effectLst>
        </p:spPr>
      </p:sp>
      <p:sp>
        <p:nvSpPr>
          <p:cNvPr id="17" name="Shape 15"/>
          <p:cNvSpPr/>
          <p:nvPr/>
        </p:nvSpPr>
        <p:spPr>
          <a:xfrm>
            <a:off x="762000" y="3772061"/>
            <a:ext cx="4444945" cy="996895"/>
          </a:xfrm>
          <a:custGeom>
            <a:avLst/>
            <a:gdLst/>
            <a:ahLst/>
            <a:cxnLst/>
            <a:rect l="l" t="t" r="r" b="b"/>
            <a:pathLst>
              <a:path w="4444945" h="996895">
                <a:moveTo>
                  <a:pt x="101600" y="996895"/>
                </a:moveTo>
                <a:lnTo>
                  <a:pt x="101600" y="996895"/>
                </a:lnTo>
                <a:arcTo hR="101600" wR="101600" stAng="5400000" swAng="5400000"/>
                <a:lnTo>
                  <a:pt x="0" y="101600"/>
                </a:lnTo>
                <a:arcTo hR="101600" wR="101600" stAng="10800000" swAng="5400000"/>
                <a:lnTo>
                  <a:pt x="101600" y="0"/>
                </a:lnTo>
                <a:arcTo hR="101600" wR="50800" stAng="16200000" swAng="-5400000"/>
                <a:lnTo>
                  <a:pt x="50800" y="895295"/>
                </a:lnTo>
                <a:arcTo hR="101600" wR="50800" stAng="10800000" swAng="-5400000"/>
                <a:close/>
              </a:path>
            </a:pathLst>
          </a:custGeom>
          <a:solidFill>
            <a:srgbClr val="EDC68E"/>
          </a:solidFill>
          <a:ln/>
        </p:spPr>
      </p:sp>
      <p:sp>
        <p:nvSpPr>
          <p:cNvPr id="18" name="Text 16"/>
          <p:cNvSpPr/>
          <p:nvPr/>
        </p:nvSpPr>
        <p:spPr>
          <a:xfrm>
            <a:off x="974780" y="3899036"/>
            <a:ext cx="41891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A12"/>
                </a:solidFill>
                <a:latin typeface="Be Vietnam Pro" pitchFamily="34" charset="0"/>
                <a:ea typeface="Be Vietnam Pro" pitchFamily="34" charset="-122"/>
                <a:cs typeface="Be Vietnam Pro" pitchFamily="34" charset="-120"/>
              </a:rPr>
              <a:t>Trên 1.000 shop</a:t>
            </a:r>
            <a:endParaRPr lang="en-US" sz="1200" dirty="0"/>
          </a:p>
        </p:txBody>
      </p:sp>
      <p:sp>
        <p:nvSpPr>
          <p:cNvPr id="19" name="Text 17"/>
          <p:cNvSpPr/>
          <p:nvPr/>
        </p:nvSpPr>
        <p:spPr>
          <a:xfrm>
            <a:off x="974780" y="4150494"/>
            <a:ext cx="4189105" cy="26543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0D2636"/>
                </a:solidFill>
                <a:latin typeface="Be Vietnam Pro" pitchFamily="34" charset="0"/>
                <a:ea typeface="Be Vietnam Pro" pitchFamily="34" charset="-122"/>
                <a:cs typeface="Be Vietnam Pro" pitchFamily="34" charset="-120"/>
              </a:rPr>
              <a:t>HA đầy đủ, tự chuyển máy</a:t>
            </a:r>
            <a:endParaRPr lang="en-US" sz="1350" dirty="0"/>
          </a:p>
        </p:txBody>
      </p:sp>
      <p:sp>
        <p:nvSpPr>
          <p:cNvPr id="20" name="Text 18"/>
          <p:cNvSpPr/>
          <p:nvPr/>
        </p:nvSpPr>
        <p:spPr>
          <a:xfrm>
            <a:off x="974780" y="4428629"/>
            <a:ext cx="4189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6"/>
                </a:solidFill>
                <a:latin typeface="Be Vietnam Pro" pitchFamily="34" charset="0"/>
                <a:ea typeface="Be Vietnam Pro" pitchFamily="34" charset="-122"/>
                <a:cs typeface="Be Vietnam Pro" pitchFamily="34" charset="-120"/>
              </a:rPr>
              <a:t>Gần như không mất dữ liệu · khôi phục vài phút</a:t>
            </a:r>
            <a:endParaRPr lang="en-US" sz="1200" dirty="0"/>
          </a:p>
        </p:txBody>
      </p:sp>
      <p:sp>
        <p:nvSpPr>
          <p:cNvPr id="21" name="Shape 19"/>
          <p:cNvSpPr/>
          <p:nvPr/>
        </p:nvSpPr>
        <p:spPr>
          <a:xfrm>
            <a:off x="762000" y="4857831"/>
            <a:ext cx="4444945" cy="1168345"/>
          </a:xfrm>
          <a:prstGeom prst="roundRect">
            <a:avLst>
              <a:gd name="adj" fmla="val 8696"/>
            </a:avLst>
          </a:prstGeom>
          <a:gradFill rotWithShape="1">
            <a:gsLst>
              <a:gs pos="0">
                <a:srgbClr val="0D2636"/>
              </a:gs>
              <a:gs pos="100000">
                <a:srgbClr val="135A79"/>
              </a:gs>
            </a:gsLst>
            <a:lin ang="3600000" scaled="0"/>
          </a:gradFill>
          <a:ln/>
        </p:spPr>
      </p:sp>
      <p:sp>
        <p:nvSpPr>
          <p:cNvPr id="22" name="Text 20"/>
          <p:cNvSpPr/>
          <p:nvPr/>
        </p:nvSpPr>
        <p:spPr>
          <a:xfrm>
            <a:off x="927072" y="4984806"/>
            <a:ext cx="423824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EEF2E"/>
                </a:solidFill>
                <a:latin typeface="Be Vietnam Pro" pitchFamily="34" charset="0"/>
                <a:ea typeface="Be Vietnam Pro" pitchFamily="34" charset="-122"/>
                <a:cs typeface="Be Vietnam Pro" pitchFamily="34" charset="-120"/>
              </a:rPr>
              <a:t>Backup</a:t>
            </a:r>
            <a:endParaRPr lang="en-US" sz="1200" dirty="0"/>
          </a:p>
        </p:txBody>
      </p:sp>
      <p:sp>
        <p:nvSpPr>
          <p:cNvPr id="23" name="Text 21"/>
          <p:cNvSpPr/>
          <p:nvPr/>
        </p:nvSpPr>
        <p:spPr>
          <a:xfrm>
            <a:off x="927072" y="5236263"/>
            <a:ext cx="4238244"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F7F3EA"/>
                </a:solidFill>
                <a:latin typeface="Be Vietnam Pro" pitchFamily="34" charset="0"/>
                <a:ea typeface="Be Vietnam Pro" pitchFamily="34" charset="-122"/>
                <a:cs typeface="Be Vietnam Pro" pitchFamily="34" charset="-120"/>
              </a:rPr>
              <a:t>Log liên tục + bản đầy đủ hằng ngày · giữ 7 ngày, 4 tuần, 6 tháng · bản sao ngoài FPT · diễn tập khôi phục hằng tháng</a:t>
            </a:r>
            <a:endParaRPr lang="en-US" sz="1200" dirty="0"/>
          </a:p>
        </p:txBody>
      </p:sp>
      <p:sp>
        <p:nvSpPr>
          <p:cNvPr id="24" name="Shape 22"/>
          <p:cNvSpPr/>
          <p:nvPr/>
        </p:nvSpPr>
        <p:spPr>
          <a:xfrm>
            <a:off x="5435545" y="1600529"/>
            <a:ext cx="5994455" cy="4425647"/>
          </a:xfrm>
          <a:prstGeom prst="roundRect">
            <a:avLst>
              <a:gd name="adj" fmla="val 3157"/>
            </a:avLst>
          </a:prstGeom>
          <a:gradFill rotWithShape="1">
            <a:gsLst>
              <a:gs pos="0">
                <a:srgbClr val="0D2636"/>
              </a:gs>
              <a:gs pos="100000">
                <a:srgbClr val="135A79"/>
              </a:gs>
            </a:gsLst>
            <a:lin ang="3600000" scaled="0"/>
          </a:gradFill>
          <a:ln/>
          <a:effectLst>
            <a:outerShdw sx="100000" sy="100000" kx="0" ky="0" algn="bl" rotWithShape="0" blurRad="279400" dist="127000" dir="5400000">
              <a:srgbClr val="0D2636">
                <a:alpha val="22000"/>
              </a:srgbClr>
            </a:outerShdw>
          </a:effectLst>
        </p:spPr>
      </p:sp>
      <p:sp>
        <p:nvSpPr>
          <p:cNvPr id="25" name="Text 23"/>
          <p:cNvSpPr/>
          <p:nvPr/>
        </p:nvSpPr>
        <p:spPr>
          <a:xfrm>
            <a:off x="5613290" y="1778273"/>
            <a:ext cx="580813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DC68E"/>
                </a:solidFill>
                <a:latin typeface="Be Vietnam Pro" pitchFamily="34" charset="0"/>
                <a:ea typeface="Be Vietnam Pro" pitchFamily="34" charset="-122"/>
                <a:cs typeface="Be Vietnam Pro" pitchFamily="34" charset="-120"/>
              </a:rPr>
              <a:t>REPLAY TIỀN VÀ ĐƠN</a:t>
            </a:r>
            <a:endParaRPr lang="en-US" sz="1200" dirty="0"/>
          </a:p>
        </p:txBody>
      </p:sp>
      <p:sp>
        <p:nvSpPr>
          <p:cNvPr id="26" name="Text 24"/>
          <p:cNvSpPr/>
          <p:nvPr/>
        </p:nvSpPr>
        <p:spPr>
          <a:xfrm>
            <a:off x="5616465" y="2045581"/>
            <a:ext cx="5632616" cy="370012"/>
          </a:xfrm>
          <a:prstGeom prst="roundRect">
            <a:avLst>
              <a:gd name="adj" fmla="val 19736"/>
            </a:avLst>
          </a:prstGeom>
          <a:solidFill>
            <a:srgbClr val="FFFFFF">
              <a:alpha val="8000"/>
            </a:srgbClr>
          </a:solidFill>
          <a:ln w="6350">
            <a:solidFill>
              <a:srgbClr val="FFFFFF">
                <a:alpha val="18000"/>
              </a:srgbClr>
            </a:solidFill>
            <a:prstDash val="solid"/>
          </a:ln>
        </p:spPr>
        <p:txBody>
          <a:bodyPr wrap="square" lIns="0" tIns="56938" rIns="0" bIns="31538"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Đơn Avi · webhook SePay · Telegram</a:t>
            </a:r>
            <a:endParaRPr lang="en-US" sz="1200" dirty="0"/>
          </a:p>
        </p:txBody>
      </p:sp>
      <p:pic>
        <p:nvPicPr>
          <p:cNvPr id="27" name="Image 0" descr="arrow-down">    </p:cNvPr>
          <p:cNvPicPr>
            <a:picLocks noChangeAspect="1"/>
          </p:cNvPicPr>
          <p:nvPr/>
        </p:nvPicPr>
        <p:blipFill>
          <a:blip r:embed="rId1"/>
          <a:srcRect l="0" r="0" t="0" b="0"/>
          <a:stretch/>
        </p:blipFill>
        <p:spPr>
          <a:xfrm>
            <a:off x="8362951" y="2469542"/>
            <a:ext cx="139645" cy="139645"/>
          </a:xfrm>
          <a:prstGeom prst="rect">
            <a:avLst/>
          </a:prstGeom>
        </p:spPr>
      </p:pic>
      <p:sp>
        <p:nvSpPr>
          <p:cNvPr id="28" name="Text 25"/>
          <p:cNvSpPr/>
          <p:nvPr/>
        </p:nvSpPr>
        <p:spPr>
          <a:xfrm>
            <a:off x="5619640" y="2666305"/>
            <a:ext cx="5626266" cy="361508"/>
          </a:xfrm>
          <a:prstGeom prst="roundRect">
            <a:avLst>
              <a:gd name="adj" fmla="val 19322"/>
            </a:avLst>
          </a:prstGeom>
          <a:solidFill>
            <a:srgbClr val="03C2F3">
              <a:alpha val="20000"/>
            </a:srgbClr>
          </a:solidFill>
          <a:ln w="12700">
            <a:solidFill>
              <a:srgbClr val="03C2F3"/>
            </a:solidFill>
            <a:prstDash val="solid"/>
          </a:ln>
        </p:spPr>
        <p:txBody>
          <a:bodyPr wrap="square" lIns="0" tIns="53643" rIns="0" bIns="28243" rtlCol="0" anchor="t">
            <a:normAutofit/>
          </a:bodyPr>
          <a:lstStyle/>
          <a:p>
            <a:pPr algn="ctr" indent="0" marL="0">
              <a:lnSpc>
                <a:spcPts val="1680"/>
              </a:lnSpc>
              <a:buNone/>
            </a:pPr>
            <a:r>
              <a:rPr lang="en-US" sz="1200" b="1" dirty="0">
                <a:solidFill>
                  <a:srgbClr val="F7F3EA"/>
                </a:solidFill>
                <a:latin typeface="Be Vietnam Pro" pitchFamily="34" charset="0"/>
                <a:ea typeface="Be Vietnam Pro" pitchFamily="34" charset="-122"/>
                <a:cs typeface="Be Vietnam Pro" pitchFamily="34" charset="-120"/>
              </a:rPr>
              <a:t>Inbox: lưu nguyên bản, chống trùng</a:t>
            </a:r>
            <a:endParaRPr lang="en-US" sz="1200" dirty="0"/>
          </a:p>
        </p:txBody>
      </p:sp>
      <p:pic>
        <p:nvPicPr>
          <p:cNvPr id="29" name="Image 1" descr="arrow-down">    </p:cNvPr>
          <p:cNvPicPr>
            <a:picLocks noChangeAspect="1"/>
          </p:cNvPicPr>
          <p:nvPr/>
        </p:nvPicPr>
        <p:blipFill>
          <a:blip r:embed="rId2"/>
          <a:srcRect l="0" r="0" t="0" b="0"/>
          <a:stretch/>
        </p:blipFill>
        <p:spPr>
          <a:xfrm>
            <a:off x="8362951" y="3084940"/>
            <a:ext cx="139645" cy="139645"/>
          </a:xfrm>
          <a:prstGeom prst="rect">
            <a:avLst/>
          </a:prstGeom>
        </p:spPr>
      </p:pic>
      <p:sp>
        <p:nvSpPr>
          <p:cNvPr id="30" name="Text 26"/>
          <p:cNvSpPr/>
          <p:nvPr/>
        </p:nvSpPr>
        <p:spPr>
          <a:xfrm>
            <a:off x="5616465" y="3278529"/>
            <a:ext cx="2659739" cy="370012"/>
          </a:xfrm>
          <a:prstGeom prst="roundRect">
            <a:avLst>
              <a:gd name="adj" fmla="val 19736"/>
            </a:avLst>
          </a:prstGeom>
          <a:solidFill>
            <a:srgbClr val="FFFFFF">
              <a:alpha val="8000"/>
            </a:srgbClr>
          </a:solidFill>
          <a:ln w="6350">
            <a:solidFill>
              <a:srgbClr val="FFFFFF">
                <a:alpha val="18000"/>
              </a:srgbClr>
            </a:solidFill>
            <a:prstDash val="solid"/>
          </a:ln>
        </p:spPr>
        <p:txBody>
          <a:bodyPr wrap="square" lIns="19391" tIns="56938" rIns="19391" bIns="31538"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Hàng đợi, gửi lại</a:t>
            </a:r>
            <a:endParaRPr lang="en-US" sz="1200" dirty="0"/>
          </a:p>
        </p:txBody>
      </p:sp>
      <p:pic>
        <p:nvPicPr>
          <p:cNvPr id="31" name="Image 2" descr="arrow-right">    </p:cNvPr>
          <p:cNvPicPr>
            <a:picLocks noChangeAspect="1"/>
          </p:cNvPicPr>
          <p:nvPr/>
        </p:nvPicPr>
        <p:blipFill>
          <a:blip r:embed="rId3"/>
          <a:srcRect l="0" r="0" t="0" b="0"/>
          <a:stretch/>
        </p:blipFill>
        <p:spPr>
          <a:xfrm>
            <a:off x="8342824" y="3406384"/>
            <a:ext cx="190500" cy="114300"/>
          </a:xfrm>
          <a:prstGeom prst="rect">
            <a:avLst/>
          </a:prstGeom>
        </p:spPr>
      </p:pic>
      <p:sp>
        <p:nvSpPr>
          <p:cNvPr id="32" name="Text 27"/>
          <p:cNvSpPr/>
          <p:nvPr/>
        </p:nvSpPr>
        <p:spPr>
          <a:xfrm>
            <a:off x="8596768" y="3280656"/>
            <a:ext cx="2655487" cy="365760"/>
          </a:xfrm>
          <a:prstGeom prst="roundRect">
            <a:avLst>
              <a:gd name="adj" fmla="val 20833"/>
            </a:avLst>
          </a:prstGeom>
          <a:gradFill rotWithShape="1">
            <a:gsLst>
              <a:gs pos="0">
                <a:srgbClr val="FEEF2E"/>
              </a:gs>
              <a:gs pos="100000">
                <a:srgbClr val="EDC68E"/>
              </a:gs>
            </a:gsLst>
            <a:lin ang="2700000" scaled="0"/>
          </a:gradFill>
          <a:ln/>
        </p:spPr>
        <p:txBody>
          <a:bodyPr wrap="square" lIns="16335" tIns="53882" rIns="16335" bIns="28482" rtlCol="0" anchor="t">
            <a:normAutofit/>
          </a:bodyPr>
          <a:lstStyle/>
          <a:p>
            <a:pPr algn="ct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Lỗi → Admin chạy lại</a:t>
            </a:r>
            <a:endParaRPr lang="en-US" sz="1200" dirty="0"/>
          </a:p>
        </p:txBody>
      </p:sp>
      <p:pic>
        <p:nvPicPr>
          <p:cNvPr id="33" name="Image 3" descr="arrow-down">    </p:cNvPr>
          <p:cNvPicPr>
            <a:picLocks noChangeAspect="1"/>
          </p:cNvPicPr>
          <p:nvPr/>
        </p:nvPicPr>
        <p:blipFill>
          <a:blip r:embed="rId4"/>
          <a:srcRect l="0" r="0" t="0" b="0"/>
          <a:stretch/>
        </p:blipFill>
        <p:spPr>
          <a:xfrm>
            <a:off x="8362951" y="3702490"/>
            <a:ext cx="139645" cy="139645"/>
          </a:xfrm>
          <a:prstGeom prst="rect">
            <a:avLst/>
          </a:prstGeom>
        </p:spPr>
      </p:pic>
      <p:sp>
        <p:nvSpPr>
          <p:cNvPr id="34" name="Text 28"/>
          <p:cNvSpPr/>
          <p:nvPr/>
        </p:nvSpPr>
        <p:spPr>
          <a:xfrm>
            <a:off x="5616465" y="3896085"/>
            <a:ext cx="5632616" cy="370012"/>
          </a:xfrm>
          <a:prstGeom prst="roundRect">
            <a:avLst>
              <a:gd name="adj" fmla="val 19736"/>
            </a:avLst>
          </a:prstGeom>
          <a:solidFill>
            <a:srgbClr val="FFFFFF">
              <a:alpha val="8000"/>
            </a:srgbClr>
          </a:solidFill>
          <a:ln w="6350">
            <a:solidFill>
              <a:srgbClr val="FFFFFF">
                <a:alpha val="18000"/>
              </a:srgbClr>
            </a:solidFill>
            <a:prstDash val="solid"/>
          </a:ln>
        </p:spPr>
        <p:txBody>
          <a:bodyPr wrap="square" lIns="0" tIns="56938" rIns="0" bIns="31538"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Đơn hàng · sổ cái chỉ ghi thêm</a:t>
            </a:r>
            <a:endParaRPr lang="en-US" sz="1200" dirty="0"/>
          </a:p>
        </p:txBody>
      </p:sp>
      <p:pic>
        <p:nvPicPr>
          <p:cNvPr id="35" name="Image 4" descr="arrow-down">    </p:cNvPr>
          <p:cNvPicPr>
            <a:picLocks noChangeAspect="1"/>
          </p:cNvPicPr>
          <p:nvPr/>
        </p:nvPicPr>
        <p:blipFill>
          <a:blip r:embed="rId5"/>
          <a:srcRect l="0" r="0" t="0" b="0"/>
          <a:stretch/>
        </p:blipFill>
        <p:spPr>
          <a:xfrm>
            <a:off x="8362951" y="4320040"/>
            <a:ext cx="139645" cy="139645"/>
          </a:xfrm>
          <a:prstGeom prst="rect">
            <a:avLst/>
          </a:prstGeom>
        </p:spPr>
      </p:pic>
      <p:sp>
        <p:nvSpPr>
          <p:cNvPr id="36" name="Text 29"/>
          <p:cNvSpPr/>
          <p:nvPr/>
        </p:nvSpPr>
        <p:spPr>
          <a:xfrm>
            <a:off x="5619640" y="4516810"/>
            <a:ext cx="5626266" cy="361508"/>
          </a:xfrm>
          <a:prstGeom prst="roundRect">
            <a:avLst>
              <a:gd name="adj" fmla="val 19322"/>
            </a:avLst>
          </a:prstGeom>
          <a:noFill/>
          <a:ln w="12700">
            <a:solidFill>
              <a:srgbClr val="EDC68E"/>
            </a:solidFill>
            <a:prstDash val="dash"/>
          </a:ln>
        </p:spPr>
        <p:txBody>
          <a:bodyPr wrap="square" lIns="0" tIns="53643" rIns="0" bIns="28243" rtlCol="0" anchor="t">
            <a:normAutofit/>
          </a:bodyPr>
          <a:lstStyle/>
          <a:p>
            <a:pPr algn="ctr" indent="0" marL="0">
              <a:lnSpc>
                <a:spcPts val="1680"/>
              </a:lnSpc>
              <a:buNone/>
            </a:pPr>
            <a:r>
              <a:rPr lang="en-US" sz="1200" dirty="0">
                <a:solidFill>
                  <a:srgbClr val="F7F3EA"/>
                </a:solidFill>
                <a:latin typeface="Be Vietnam Pro" pitchFamily="34" charset="0"/>
                <a:ea typeface="Be Vietnam Pro" pitchFamily="34" charset="-122"/>
                <a:cs typeface="Be Vietnam Pro" pitchFamily="34" charset="-120"/>
              </a:rPr>
              <a:t>Đối chiếu SePay 15 phút · tiền ↔ đơn hằng ngày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62000" y="634944"/>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PHẠM VI GIAI ĐOẠN 1 · KHOẢNG 6 TUẦN</a:t>
            </a:r>
            <a:endParaRPr lang="en-US" sz="1200" dirty="0"/>
          </a:p>
        </p:txBody>
      </p:sp>
      <p:sp>
        <p:nvSpPr>
          <p:cNvPr id="3" name="Text 1"/>
          <p:cNvSpPr/>
          <p:nvPr>
            <p:ph type="title"/>
          </p:nvPr>
        </p:nvSpPr>
        <p:spPr>
          <a:xfrm>
            <a:off x="762000" y="937177"/>
            <a:ext cx="10988041" cy="4236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0D2636"/>
                </a:solidFill>
                <a:latin typeface="Playfair Display" pitchFamily="18" charset="0"/>
                <a:ea typeface="Playfair Display" pitchFamily="18" charset="-122"/>
                <a:cs typeface="Playfair Display" pitchFamily="18" charset="-120"/>
              </a:rPr>
              <a:t>Hai mốc bàn giao, ranh giới phạm vi rõ ràng</a:t>
            </a:r>
            <a:endParaRPr lang="en-US" sz="2800" dirty="0"/>
          </a:p>
        </p:txBody>
      </p:sp>
      <p:sp>
        <p:nvSpPr>
          <p:cNvPr id="4" name="Shape 2"/>
          <p:cNvSpPr/>
          <p:nvPr/>
        </p:nvSpPr>
        <p:spPr>
          <a:xfrm>
            <a:off x="762000" y="1424279"/>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2000" y="1690979"/>
            <a:ext cx="3443743" cy="2684725"/>
          </a:xfrm>
          <a:prstGeom prst="roundRect">
            <a:avLst>
              <a:gd name="adj" fmla="val 5204"/>
            </a:avLst>
          </a:prstGeom>
          <a:gradFill rotWithShape="1">
            <a:gsLst>
              <a:gs pos="0">
                <a:srgbClr val="0D2636"/>
              </a:gs>
              <a:gs pos="100000">
                <a:srgbClr val="135A79"/>
              </a:gs>
            </a:gsLst>
            <a:lin ang="3600000" scaled="0"/>
          </a:gradFill>
          <a:ln/>
          <a:effectLst>
            <a:outerShdw sx="100000" sy="100000" kx="0" ky="0" algn="bl" rotWithShape="0" blurRad="279400" dist="127000" dir="5400000">
              <a:srgbClr val="0D2636">
                <a:alpha val="22000"/>
              </a:srgbClr>
            </a:outerShdw>
          </a:effectLst>
        </p:spPr>
      </p:sp>
      <p:sp>
        <p:nvSpPr>
          <p:cNvPr id="6" name="Text 4"/>
          <p:cNvSpPr/>
          <p:nvPr/>
        </p:nvSpPr>
        <p:spPr>
          <a:xfrm>
            <a:off x="965172" y="1894148"/>
            <a:ext cx="312852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EEF2E"/>
                </a:solidFill>
                <a:latin typeface="Be Vietnam Pro" pitchFamily="34" charset="0"/>
                <a:ea typeface="Be Vietnam Pro" pitchFamily="34" charset="-122"/>
                <a:cs typeface="Be Vietnam Pro" pitchFamily="34" charset="-120"/>
              </a:rPr>
              <a:t>MỐC 1 · 15 NGÀY</a:t>
            </a:r>
            <a:endParaRPr lang="en-US" sz="1200" dirty="0"/>
          </a:p>
        </p:txBody>
      </p:sp>
      <p:sp>
        <p:nvSpPr>
          <p:cNvPr id="7" name="Text 5"/>
          <p:cNvSpPr/>
          <p:nvPr/>
        </p:nvSpPr>
        <p:spPr>
          <a:xfrm>
            <a:off x="1063978" y="2183712"/>
            <a:ext cx="3022094" cy="201422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Chuỗi – chi nhánh, đủ vai trò</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Sản phẩm, BOM, mã Avi</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Đơn hàng, ảnh, trạng thái</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Nhận đơn Avi, Telegram, chuyển tiếp</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Hoa hồng, job 12h</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AI: ảnh + mô tả → giá</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Đặt hoa theo yêu cầu</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Landing 4 template, tên miền con</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PWA, thông báo</a:t>
            </a:r>
            <a:endParaRPr lang="en-US" sz="1200" dirty="0"/>
          </a:p>
        </p:txBody>
      </p:sp>
      <p:sp>
        <p:nvSpPr>
          <p:cNvPr id="8" name="Shape 6"/>
          <p:cNvSpPr/>
          <p:nvPr/>
        </p:nvSpPr>
        <p:spPr>
          <a:xfrm>
            <a:off x="4361318" y="1694154"/>
            <a:ext cx="3448078" cy="2678375"/>
          </a:xfrm>
          <a:prstGeom prst="roundRect">
            <a:avLst>
              <a:gd name="adj" fmla="val 5097"/>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9" name="Text 7"/>
          <p:cNvSpPr/>
          <p:nvPr/>
        </p:nvSpPr>
        <p:spPr>
          <a:xfrm>
            <a:off x="4566617" y="1899450"/>
            <a:ext cx="312860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66E96"/>
                </a:solidFill>
                <a:latin typeface="Be Vietnam Pro" pitchFamily="34" charset="0"/>
                <a:ea typeface="Be Vietnam Pro" pitchFamily="34" charset="-122"/>
                <a:cs typeface="Be Vietnam Pro" pitchFamily="34" charset="-120"/>
              </a:rPr>
              <a:t>MỐC 2 · TUẦN 3–6</a:t>
            </a:r>
            <a:endParaRPr lang="en-US" sz="1200" dirty="0"/>
          </a:p>
        </p:txBody>
      </p:sp>
      <p:sp>
        <p:nvSpPr>
          <p:cNvPr id="10" name="Text 8"/>
          <p:cNvSpPr/>
          <p:nvPr/>
        </p:nvSpPr>
        <p:spPr>
          <a:xfrm>
            <a:off x="4665423" y="2189007"/>
            <a:ext cx="3022180" cy="179324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SePay từng shop, tự xác nhận</a:t>
            </a:r>
            <a:endParaRPr lang="en-US" sz="1200" dirty="0"/>
          </a:p>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Ví, rút tiền hoa hồng</a:t>
            </a:r>
            <a:endParaRPr lang="en-US" sz="1200" dirty="0"/>
          </a:p>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AI báo giá, content, gợi ý template</a:t>
            </a:r>
            <a:endParaRPr lang="en-US" sz="1200" dirty="0"/>
          </a:p>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Thẻ sản phẩm, QR</a:t>
            </a:r>
            <a:endParaRPr lang="en-US" sz="1200" dirty="0"/>
          </a:p>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Khuyến mại, CRM, email SMTP</a:t>
            </a:r>
            <a:endParaRPr lang="en-US" sz="1200" dirty="0"/>
          </a:p>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Chatbot theo kịch bản</a:t>
            </a:r>
            <a:endParaRPr lang="en-US" sz="1200" dirty="0"/>
          </a:p>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Báo cáo, replay sự kiện</a:t>
            </a:r>
            <a:endParaRPr lang="en-US" sz="1200" dirty="0"/>
          </a:p>
          <a:p>
            <a:pPr algn="l" marL="155194" indent="-155194">
              <a:lnSpc>
                <a:spcPts val="1740"/>
              </a:lnSpc>
              <a:buSzPct val="100000"/>
              <a:buChar char="•"/>
            </a:pPr>
            <a:r>
              <a:rPr lang="en-US" sz="1200" dirty="0">
                <a:solidFill>
                  <a:srgbClr val="0D2636"/>
                </a:solidFill>
                <a:latin typeface="Be Vietnam Pro" pitchFamily="34" charset="0"/>
                <a:ea typeface="Be Vietnam Pro" pitchFamily="34" charset="-122"/>
                <a:cs typeface="Be Vietnam Pro" pitchFamily="34" charset="-120"/>
              </a:rPr>
              <a:t>Kiểm thử tải, diễn tập khôi phục</a:t>
            </a:r>
            <a:endParaRPr lang="en-US" sz="1200" dirty="0"/>
          </a:p>
        </p:txBody>
      </p:sp>
      <p:sp>
        <p:nvSpPr>
          <p:cNvPr id="11" name="Shape 9"/>
          <p:cNvSpPr/>
          <p:nvPr/>
        </p:nvSpPr>
        <p:spPr>
          <a:xfrm>
            <a:off x="7971321" y="1697329"/>
            <a:ext cx="3452330" cy="2672025"/>
          </a:xfrm>
          <a:prstGeom prst="roundRect">
            <a:avLst>
              <a:gd name="adj" fmla="val 4991"/>
            </a:avLst>
          </a:prstGeom>
          <a:solidFill>
            <a:srgbClr val="F4EEE3"/>
          </a:solidFill>
          <a:ln w="12700">
            <a:solidFill>
              <a:srgbClr val="D9B98A"/>
            </a:solidFill>
            <a:prstDash val="dash"/>
          </a:ln>
        </p:spPr>
      </p:sp>
      <p:sp>
        <p:nvSpPr>
          <p:cNvPr id="12" name="Text 10"/>
          <p:cNvSpPr/>
          <p:nvPr/>
        </p:nvSpPr>
        <p:spPr>
          <a:xfrm>
            <a:off x="8178745" y="1904752"/>
            <a:ext cx="312860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12"/>
                </a:solidFill>
                <a:latin typeface="Be Vietnam Pro" pitchFamily="34" charset="0"/>
                <a:ea typeface="Be Vietnam Pro" pitchFamily="34" charset="-122"/>
                <a:cs typeface="Be Vietnam Pro" pitchFamily="34" charset="-120"/>
              </a:rPr>
              <a:t>NGOÀI GIAI ĐOẠN 1</a:t>
            </a:r>
            <a:endParaRPr lang="en-US" sz="1200" dirty="0"/>
          </a:p>
        </p:txBody>
      </p:sp>
      <p:sp>
        <p:nvSpPr>
          <p:cNvPr id="13" name="Text 11"/>
          <p:cNvSpPr/>
          <p:nvPr/>
        </p:nvSpPr>
        <p:spPr>
          <a:xfrm>
            <a:off x="8277551" y="2194309"/>
            <a:ext cx="3022180" cy="157226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4A5B66"/>
                </a:solidFill>
                <a:latin typeface="Be Vietnam Pro" pitchFamily="34" charset="0"/>
                <a:ea typeface="Be Vietnam Pro" pitchFamily="34" charset="-122"/>
                <a:cs typeface="Be Vietnam Pro" pitchFamily="34" charset="-120"/>
              </a:rPr>
              <a:t>Zalo, Facebook</a:t>
            </a:r>
            <a:endParaRPr lang="en-US" sz="1200" dirty="0"/>
          </a:p>
          <a:p>
            <a:pPr algn="l" marL="155194" indent="-155194">
              <a:lnSpc>
                <a:spcPts val="1740"/>
              </a:lnSpc>
              <a:buSzPct val="100000"/>
              <a:buChar char="•"/>
            </a:pPr>
            <a:r>
              <a:rPr lang="en-US" sz="1200" dirty="0">
                <a:solidFill>
                  <a:srgbClr val="4A5B66"/>
                </a:solidFill>
                <a:latin typeface="Be Vietnam Pro" pitchFamily="34" charset="0"/>
                <a:ea typeface="Be Vietnam Pro" pitchFamily="34" charset="-122"/>
                <a:cs typeface="Be Vietnam Pro" pitchFamily="34" charset="-120"/>
              </a:rPr>
              <a:t>Hóa đơn điện tử</a:t>
            </a:r>
            <a:endParaRPr lang="en-US" sz="1200" dirty="0"/>
          </a:p>
          <a:p>
            <a:pPr algn="l" marL="155194" indent="-155194">
              <a:lnSpc>
                <a:spcPts val="1740"/>
              </a:lnSpc>
              <a:buSzPct val="100000"/>
              <a:buChar char="•"/>
            </a:pPr>
            <a:r>
              <a:rPr lang="en-US" sz="1200" dirty="0">
                <a:solidFill>
                  <a:srgbClr val="4A5B66"/>
                </a:solidFill>
                <a:latin typeface="Be Vietnam Pro" pitchFamily="34" charset="0"/>
                <a:ea typeface="Be Vietnam Pro" pitchFamily="34" charset="-122"/>
                <a:cs typeface="Be Vietnam Pro" pitchFamily="34" charset="-120"/>
              </a:rPr>
              <a:t>Thanh toán thẻ tín dụng</a:t>
            </a:r>
            <a:endParaRPr lang="en-US" sz="1200" dirty="0"/>
          </a:p>
          <a:p>
            <a:pPr algn="l" marL="155194" indent="-155194">
              <a:lnSpc>
                <a:spcPts val="1740"/>
              </a:lnSpc>
              <a:buSzPct val="100000"/>
              <a:buChar char="•"/>
            </a:pPr>
            <a:r>
              <a:rPr lang="en-US" sz="1200" dirty="0">
                <a:solidFill>
                  <a:srgbClr val="4A5B66"/>
                </a:solidFill>
                <a:latin typeface="Be Vietnam Pro" pitchFamily="34" charset="0"/>
                <a:ea typeface="Be Vietnam Pro" pitchFamily="34" charset="-122"/>
                <a:cs typeface="Be Vietnam Pro" pitchFamily="34" charset="-120"/>
              </a:rPr>
              <a:t>Chatbot AI</a:t>
            </a:r>
            <a:endParaRPr lang="en-US" sz="1200" dirty="0"/>
          </a:p>
          <a:p>
            <a:pPr algn="l" marL="155194" indent="-155194">
              <a:lnSpc>
                <a:spcPts val="1740"/>
              </a:lnSpc>
              <a:buSzPct val="100000"/>
              <a:buChar char="•"/>
            </a:pPr>
            <a:r>
              <a:rPr lang="en-US" sz="1200" dirty="0">
                <a:solidFill>
                  <a:srgbClr val="4A5B66"/>
                </a:solidFill>
                <a:latin typeface="Be Vietnam Pro" pitchFamily="34" charset="0"/>
                <a:ea typeface="Be Vietnam Pro" pitchFamily="34" charset="-122"/>
                <a:cs typeface="Be Vietnam Pro" pitchFamily="34" charset="-120"/>
              </a:rPr>
              <a:t>Hệ thống điện hoa riêng</a:t>
            </a:r>
            <a:endParaRPr lang="en-US" sz="1200" dirty="0"/>
          </a:p>
          <a:p>
            <a:pPr algn="l" marL="155194" indent="-155194">
              <a:lnSpc>
                <a:spcPts val="1740"/>
              </a:lnSpc>
              <a:buSzPct val="100000"/>
              <a:buChar char="•"/>
            </a:pPr>
            <a:r>
              <a:rPr lang="en-US" sz="1200" dirty="0">
                <a:solidFill>
                  <a:srgbClr val="4A5B66"/>
                </a:solidFill>
                <a:latin typeface="Be Vietnam Pro" pitchFamily="34" charset="0"/>
                <a:ea typeface="Be Vietnam Pro" pitchFamily="34" charset="-122"/>
                <a:cs typeface="Be Vietnam Pro" pitchFamily="34" charset="-120"/>
              </a:rPr>
              <a:t>HA đầy đủ</a:t>
            </a:r>
            <a:endParaRPr lang="en-US" sz="1200" dirty="0"/>
          </a:p>
          <a:p>
            <a:pPr algn="l" marL="155194" indent="-155194">
              <a:lnSpc>
                <a:spcPts val="1740"/>
              </a:lnSpc>
              <a:buSzPct val="100000"/>
              <a:buChar char="•"/>
            </a:pPr>
            <a:r>
              <a:rPr lang="en-US" sz="1200" dirty="0">
                <a:solidFill>
                  <a:srgbClr val="4A5B66"/>
                </a:solidFill>
                <a:latin typeface="Be Vietnam Pro" pitchFamily="34" charset="0"/>
                <a:ea typeface="Be Vietnam Pro" pitchFamily="34" charset="-122"/>
                <a:cs typeface="Be Vietnam Pro" pitchFamily="34" charset="-120"/>
              </a:rPr>
              <a:t>Thu phí thuê bao shop</a:t>
            </a:r>
            <a:endParaRPr lang="en-US" sz="1200" dirty="0"/>
          </a:p>
        </p:txBody>
      </p:sp>
      <p:pic>
        <p:nvPicPr>
          <p:cNvPr id="14" name="Image 0" descr="AVI Group">    </p:cNvPr>
          <p:cNvPicPr>
            <a:picLocks noChangeAspect="1"/>
          </p:cNvPicPr>
          <p:nvPr/>
        </p:nvPicPr>
        <p:blipFill>
          <a:blip r:embed="rId1"/>
          <a:srcRect l="-5" r="-5" t="0" b="0"/>
          <a:stretch/>
        </p:blipFill>
        <p:spPr>
          <a:xfrm>
            <a:off x="762000" y="6324681"/>
            <a:ext cx="419100" cy="279372"/>
          </a:xfrm>
          <a:prstGeom prst="rect">
            <a:avLst/>
          </a:prstGeom>
        </p:spPr>
      </p:pic>
      <p:sp>
        <p:nvSpPr>
          <p:cNvPr id="15" name="Text 12"/>
          <p:cNvSpPr/>
          <p:nvPr/>
        </p:nvSpPr>
        <p:spPr>
          <a:xfrm>
            <a:off x="1269972" y="6339836"/>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Avi cấp tài khoản cho shop · shop dùng miễn phí khi thí điểm · yêu cầu ngoài phạm vi tính theo MD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F4EEE3"/>
              </a:gs>
              <a:gs pos="100000">
                <a:srgbClr val="FBF8F2"/>
              </a:gs>
            </a:gsLst>
            <a:lin ang="5400000" scaled="0"/>
          </a:gradFill>
          <a:ln/>
        </p:spPr>
      </p:sp>
      <p:sp>
        <p:nvSpPr>
          <p:cNvPr id="3" name="Text 1"/>
          <p:cNvSpPr/>
          <p:nvPr/>
        </p:nvSpPr>
        <p:spPr>
          <a:xfrm>
            <a:off x="762000" y="584169"/>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CÔNG SỨC GIAI ĐOẠN 1</a:t>
            </a:r>
            <a:endParaRPr lang="en-US" sz="1200" dirty="0"/>
          </a:p>
        </p:txBody>
      </p:sp>
      <p:sp>
        <p:nvSpPr>
          <p:cNvPr id="4" name="Text 2"/>
          <p:cNvSpPr/>
          <p:nvPr>
            <p:ph type="title"/>
          </p:nvPr>
        </p:nvSpPr>
        <p:spPr>
          <a:xfrm>
            <a:off x="762000" y="886402"/>
            <a:ext cx="10988041" cy="409382"/>
          </a:xfrm>
          <a:prstGeom prst="rect">
            <a:avLst/>
          </a:prstGeom>
          <a:noFill/>
          <a:ln/>
        </p:spPr>
        <p:txBody>
          <a:bodyPr wrap="square" lIns="0" tIns="0" rIns="0" bIns="0" rtlCol="0" anchor="t">
            <a:normAutofit/>
          </a:bodyPr>
          <a:lstStyle/>
          <a:p>
            <a:pPr algn="l" indent="0" marL="0">
              <a:lnSpc>
                <a:spcPts val="3024"/>
              </a:lnSpc>
              <a:buNone/>
            </a:pPr>
            <a:r>
              <a:rPr lang="en-US" sz="2700" b="1" i="0" dirty="0">
                <a:solidFill>
                  <a:srgbClr val="0D2636"/>
                </a:solidFill>
                <a:latin typeface="Playfair Display" pitchFamily="18" charset="0"/>
                <a:ea typeface="Playfair Display" pitchFamily="18" charset="-122"/>
                <a:cs typeface="Playfair Display" pitchFamily="18" charset="-120"/>
              </a:rPr>
              <a:t>Gần một nửa công sức dev là tích hợp</a:t>
            </a:r>
            <a:endParaRPr lang="en-US" sz="2700" dirty="0"/>
          </a:p>
        </p:txBody>
      </p:sp>
      <p:sp>
        <p:nvSpPr>
          <p:cNvPr id="5" name="Shape 3"/>
          <p:cNvSpPr/>
          <p:nvPr/>
        </p:nvSpPr>
        <p:spPr>
          <a:xfrm>
            <a:off x="762000" y="1359260"/>
            <a:ext cx="6096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5175" y="1591035"/>
            <a:ext cx="7207306" cy="3214426"/>
          </a:xfrm>
          <a:prstGeom prst="roundRect">
            <a:avLst>
              <a:gd name="adj" fmla="val 4247"/>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7" name="Text 5"/>
          <p:cNvSpPr/>
          <p:nvPr/>
        </p:nvSpPr>
        <p:spPr>
          <a:xfrm>
            <a:off x="970473" y="1770906"/>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Bộ skill AI Gemini</a:t>
            </a:r>
            <a:endParaRPr lang="en-US" sz="1200" dirty="0"/>
          </a:p>
        </p:txBody>
      </p:sp>
      <p:sp>
        <p:nvSpPr>
          <p:cNvPr id="8" name="Shape 6"/>
          <p:cNvSpPr/>
          <p:nvPr/>
        </p:nvSpPr>
        <p:spPr>
          <a:xfrm>
            <a:off x="3611963" y="1795004"/>
            <a:ext cx="2857500" cy="165072"/>
          </a:xfrm>
          <a:prstGeom prst="roundRect">
            <a:avLst>
              <a:gd name="adj" fmla="val 50000"/>
            </a:avLst>
          </a:prstGeom>
          <a:gradFill rotWithShape="1">
            <a:gsLst>
              <a:gs pos="0">
                <a:srgbClr val="5ED6F8"/>
              </a:gs>
              <a:gs pos="100000">
                <a:srgbClr val="0394C9"/>
              </a:gs>
            </a:gsLst>
            <a:lin ang="0" scaled="0"/>
          </a:gradFill>
          <a:ln/>
        </p:spPr>
      </p:sp>
      <p:sp>
        <p:nvSpPr>
          <p:cNvPr id="9" name="Text 7"/>
          <p:cNvSpPr/>
          <p:nvPr/>
        </p:nvSpPr>
        <p:spPr>
          <a:xfrm>
            <a:off x="6571008" y="1770906"/>
            <a:ext cx="1574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9</a:t>
            </a:r>
            <a:endParaRPr lang="en-US" sz="1200" dirty="0"/>
          </a:p>
        </p:txBody>
      </p:sp>
      <p:sp>
        <p:nvSpPr>
          <p:cNvPr id="10" name="Text 8"/>
          <p:cNvSpPr/>
          <p:nvPr/>
        </p:nvSpPr>
        <p:spPr>
          <a:xfrm>
            <a:off x="970473" y="2035039"/>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Cổng nhận đơn Avi</a:t>
            </a:r>
            <a:endParaRPr lang="en-US" sz="1200" dirty="0"/>
          </a:p>
        </p:txBody>
      </p:sp>
      <p:sp>
        <p:nvSpPr>
          <p:cNvPr id="11" name="Shape 9"/>
          <p:cNvSpPr/>
          <p:nvPr/>
        </p:nvSpPr>
        <p:spPr>
          <a:xfrm>
            <a:off x="3611963" y="2059136"/>
            <a:ext cx="2539945" cy="165072"/>
          </a:xfrm>
          <a:prstGeom prst="roundRect">
            <a:avLst>
              <a:gd name="adj" fmla="val 50000"/>
            </a:avLst>
          </a:prstGeom>
          <a:gradFill rotWithShape="1">
            <a:gsLst>
              <a:gs pos="0">
                <a:srgbClr val="5ED6F8"/>
              </a:gs>
              <a:gs pos="100000">
                <a:srgbClr val="0394C9"/>
              </a:gs>
            </a:gsLst>
            <a:lin ang="0" scaled="0"/>
          </a:gradFill>
          <a:ln/>
        </p:spPr>
      </p:sp>
      <p:sp>
        <p:nvSpPr>
          <p:cNvPr id="12" name="Text 10"/>
          <p:cNvSpPr/>
          <p:nvPr/>
        </p:nvSpPr>
        <p:spPr>
          <a:xfrm>
            <a:off x="6253453" y="2035039"/>
            <a:ext cx="1526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8</a:t>
            </a:r>
            <a:endParaRPr lang="en-US" sz="1200" dirty="0"/>
          </a:p>
        </p:txBody>
      </p:sp>
      <p:sp>
        <p:nvSpPr>
          <p:cNvPr id="13" name="Text 11"/>
          <p:cNvSpPr/>
          <p:nvPr/>
        </p:nvSpPr>
        <p:spPr>
          <a:xfrm>
            <a:off x="970473" y="2299171"/>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Telegram bot tương tác</a:t>
            </a:r>
            <a:endParaRPr lang="en-US" sz="1200" dirty="0"/>
          </a:p>
        </p:txBody>
      </p:sp>
      <p:sp>
        <p:nvSpPr>
          <p:cNvPr id="14" name="Shape 12"/>
          <p:cNvSpPr/>
          <p:nvPr/>
        </p:nvSpPr>
        <p:spPr>
          <a:xfrm>
            <a:off x="3611963" y="2323269"/>
            <a:ext cx="1269972" cy="165072"/>
          </a:xfrm>
          <a:prstGeom prst="roundRect">
            <a:avLst>
              <a:gd name="adj" fmla="val 50000"/>
            </a:avLst>
          </a:prstGeom>
          <a:gradFill rotWithShape="1">
            <a:gsLst>
              <a:gs pos="0">
                <a:srgbClr val="5ED6F8"/>
              </a:gs>
              <a:gs pos="100000">
                <a:srgbClr val="0394C9"/>
              </a:gs>
            </a:gsLst>
            <a:lin ang="0" scaled="0"/>
          </a:gradFill>
          <a:ln/>
        </p:spPr>
      </p:sp>
      <p:sp>
        <p:nvSpPr>
          <p:cNvPr id="15" name="Text 13"/>
          <p:cNvSpPr/>
          <p:nvPr/>
        </p:nvSpPr>
        <p:spPr>
          <a:xfrm>
            <a:off x="4983480" y="2299171"/>
            <a:ext cx="160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4</a:t>
            </a:r>
            <a:endParaRPr lang="en-US" sz="1200" dirty="0"/>
          </a:p>
        </p:txBody>
      </p:sp>
      <p:sp>
        <p:nvSpPr>
          <p:cNvPr id="16" name="Text 14"/>
          <p:cNvSpPr/>
          <p:nvPr/>
        </p:nvSpPr>
        <p:spPr>
          <a:xfrm>
            <a:off x="970473" y="2563304"/>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SePay QR, webhook</a:t>
            </a:r>
            <a:endParaRPr lang="en-US" sz="1200" dirty="0"/>
          </a:p>
        </p:txBody>
      </p:sp>
      <p:sp>
        <p:nvSpPr>
          <p:cNvPr id="17" name="Shape 15"/>
          <p:cNvSpPr/>
          <p:nvPr/>
        </p:nvSpPr>
        <p:spPr>
          <a:xfrm>
            <a:off x="3611963" y="2587402"/>
            <a:ext cx="1269972" cy="165072"/>
          </a:xfrm>
          <a:prstGeom prst="roundRect">
            <a:avLst>
              <a:gd name="adj" fmla="val 50000"/>
            </a:avLst>
          </a:prstGeom>
          <a:gradFill rotWithShape="1">
            <a:gsLst>
              <a:gs pos="0">
                <a:srgbClr val="5ED6F8"/>
              </a:gs>
              <a:gs pos="100000">
                <a:srgbClr val="0394C9"/>
              </a:gs>
            </a:gsLst>
            <a:lin ang="0" scaled="0"/>
          </a:gradFill>
          <a:ln/>
        </p:spPr>
      </p:sp>
      <p:sp>
        <p:nvSpPr>
          <p:cNvPr id="18" name="Text 16"/>
          <p:cNvSpPr/>
          <p:nvPr/>
        </p:nvSpPr>
        <p:spPr>
          <a:xfrm>
            <a:off x="4983480" y="2563304"/>
            <a:ext cx="160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4</a:t>
            </a:r>
            <a:endParaRPr lang="en-US" sz="1200" dirty="0"/>
          </a:p>
        </p:txBody>
      </p:sp>
      <p:sp>
        <p:nvSpPr>
          <p:cNvPr id="19" name="Text 17"/>
          <p:cNvSpPr/>
          <p:nvPr/>
        </p:nvSpPr>
        <p:spPr>
          <a:xfrm>
            <a:off x="970473" y="2827431"/>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SMTP, lưu ảnh, backup</a:t>
            </a:r>
            <a:endParaRPr lang="en-US" sz="1200" dirty="0"/>
          </a:p>
        </p:txBody>
      </p:sp>
      <p:sp>
        <p:nvSpPr>
          <p:cNvPr id="20" name="Shape 18"/>
          <p:cNvSpPr/>
          <p:nvPr/>
        </p:nvSpPr>
        <p:spPr>
          <a:xfrm>
            <a:off x="3611963" y="2851534"/>
            <a:ext cx="1269972" cy="165072"/>
          </a:xfrm>
          <a:prstGeom prst="roundRect">
            <a:avLst>
              <a:gd name="adj" fmla="val 50000"/>
            </a:avLst>
          </a:prstGeom>
          <a:gradFill rotWithShape="1">
            <a:gsLst>
              <a:gs pos="0">
                <a:srgbClr val="5ED6F8"/>
              </a:gs>
              <a:gs pos="100000">
                <a:srgbClr val="0394C9"/>
              </a:gs>
            </a:gsLst>
            <a:lin ang="0" scaled="0"/>
          </a:gradFill>
          <a:ln/>
        </p:spPr>
      </p:sp>
      <p:sp>
        <p:nvSpPr>
          <p:cNvPr id="21" name="Text 19"/>
          <p:cNvSpPr/>
          <p:nvPr/>
        </p:nvSpPr>
        <p:spPr>
          <a:xfrm>
            <a:off x="4983480" y="2827431"/>
            <a:ext cx="160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4</a:t>
            </a:r>
            <a:endParaRPr lang="en-US" sz="1200" dirty="0"/>
          </a:p>
        </p:txBody>
      </p:sp>
      <p:sp>
        <p:nvSpPr>
          <p:cNvPr id="22" name="Text 20"/>
          <p:cNvSpPr/>
          <p:nvPr/>
        </p:nvSpPr>
        <p:spPr>
          <a:xfrm>
            <a:off x="970473" y="3091563"/>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Landing, thanh toán, thẻ, QR</a:t>
            </a:r>
            <a:endParaRPr lang="en-US" sz="1200" dirty="0"/>
          </a:p>
        </p:txBody>
      </p:sp>
      <p:sp>
        <p:nvSpPr>
          <p:cNvPr id="23" name="Shape 21"/>
          <p:cNvSpPr/>
          <p:nvPr/>
        </p:nvSpPr>
        <p:spPr>
          <a:xfrm>
            <a:off x="3611963" y="3115667"/>
            <a:ext cx="2222472" cy="165072"/>
          </a:xfrm>
          <a:prstGeom prst="roundRect">
            <a:avLst>
              <a:gd name="adj" fmla="val 50000"/>
            </a:avLst>
          </a:prstGeom>
          <a:gradFill rotWithShape="1">
            <a:gsLst>
              <a:gs pos="0">
                <a:srgbClr val="F6E2BD"/>
              </a:gs>
              <a:gs pos="100000">
                <a:srgbClr val="D9AE6F"/>
              </a:gs>
            </a:gsLst>
            <a:lin ang="0" scaled="0"/>
          </a:gradFill>
          <a:ln/>
        </p:spPr>
      </p:sp>
      <p:sp>
        <p:nvSpPr>
          <p:cNvPr id="24" name="Text 22"/>
          <p:cNvSpPr/>
          <p:nvPr/>
        </p:nvSpPr>
        <p:spPr>
          <a:xfrm>
            <a:off x="5935980" y="3091563"/>
            <a:ext cx="1419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7</a:t>
            </a:r>
            <a:endParaRPr lang="en-US" sz="1200" dirty="0"/>
          </a:p>
        </p:txBody>
      </p:sp>
      <p:sp>
        <p:nvSpPr>
          <p:cNvPr id="25" name="Text 23"/>
          <p:cNvSpPr/>
          <p:nvPr/>
        </p:nvSpPr>
        <p:spPr>
          <a:xfrm>
            <a:off x="970473" y="3355696"/>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Tenant, phân quyền, Admin</a:t>
            </a:r>
            <a:endParaRPr lang="en-US" sz="1200" dirty="0"/>
          </a:p>
        </p:txBody>
      </p:sp>
      <p:sp>
        <p:nvSpPr>
          <p:cNvPr id="26" name="Shape 24"/>
          <p:cNvSpPr/>
          <p:nvPr/>
        </p:nvSpPr>
        <p:spPr>
          <a:xfrm>
            <a:off x="3611963" y="3379800"/>
            <a:ext cx="1587445" cy="165072"/>
          </a:xfrm>
          <a:prstGeom prst="roundRect">
            <a:avLst>
              <a:gd name="adj" fmla="val 50000"/>
            </a:avLst>
          </a:prstGeom>
          <a:gradFill rotWithShape="1">
            <a:gsLst>
              <a:gs pos="0">
                <a:srgbClr val="F6E2BD"/>
              </a:gs>
              <a:gs pos="100000">
                <a:srgbClr val="D9AE6F"/>
              </a:gs>
            </a:gsLst>
            <a:lin ang="0" scaled="0"/>
          </a:gradFill>
          <a:ln/>
        </p:spPr>
      </p:sp>
      <p:sp>
        <p:nvSpPr>
          <p:cNvPr id="27" name="Text 25"/>
          <p:cNvSpPr/>
          <p:nvPr/>
        </p:nvSpPr>
        <p:spPr>
          <a:xfrm>
            <a:off x="5300953" y="3355696"/>
            <a:ext cx="1547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5</a:t>
            </a:r>
            <a:endParaRPr lang="en-US" sz="1200" dirty="0"/>
          </a:p>
        </p:txBody>
      </p:sp>
      <p:sp>
        <p:nvSpPr>
          <p:cNvPr id="28" name="Text 26"/>
          <p:cNvSpPr/>
          <p:nvPr/>
        </p:nvSpPr>
        <p:spPr>
          <a:xfrm>
            <a:off x="970473" y="3619829"/>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Sản phẩm, BOM, kho</a:t>
            </a:r>
            <a:endParaRPr lang="en-US" sz="1200" dirty="0"/>
          </a:p>
        </p:txBody>
      </p:sp>
      <p:sp>
        <p:nvSpPr>
          <p:cNvPr id="29" name="Shape 27"/>
          <p:cNvSpPr/>
          <p:nvPr/>
        </p:nvSpPr>
        <p:spPr>
          <a:xfrm>
            <a:off x="3611963" y="3643933"/>
            <a:ext cx="1587445" cy="165072"/>
          </a:xfrm>
          <a:prstGeom prst="roundRect">
            <a:avLst>
              <a:gd name="adj" fmla="val 50000"/>
            </a:avLst>
          </a:prstGeom>
          <a:gradFill rotWithShape="1">
            <a:gsLst>
              <a:gs pos="0">
                <a:srgbClr val="F6E2BD"/>
              </a:gs>
              <a:gs pos="100000">
                <a:srgbClr val="D9AE6F"/>
              </a:gs>
            </a:gsLst>
            <a:lin ang="0" scaled="0"/>
          </a:gradFill>
          <a:ln/>
        </p:spPr>
      </p:sp>
      <p:sp>
        <p:nvSpPr>
          <p:cNvPr id="30" name="Text 28"/>
          <p:cNvSpPr/>
          <p:nvPr/>
        </p:nvSpPr>
        <p:spPr>
          <a:xfrm>
            <a:off x="5300953" y="3619829"/>
            <a:ext cx="1547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5</a:t>
            </a:r>
            <a:endParaRPr lang="en-US" sz="1200" dirty="0"/>
          </a:p>
        </p:txBody>
      </p:sp>
      <p:sp>
        <p:nvSpPr>
          <p:cNvPr id="31" name="Text 29"/>
          <p:cNvSpPr/>
          <p:nvPr/>
        </p:nvSpPr>
        <p:spPr>
          <a:xfrm>
            <a:off x="970473" y="3883961"/>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Đơn hàng, trạng thái</a:t>
            </a:r>
            <a:endParaRPr lang="en-US" sz="1200" dirty="0"/>
          </a:p>
        </p:txBody>
      </p:sp>
      <p:sp>
        <p:nvSpPr>
          <p:cNvPr id="32" name="Shape 30"/>
          <p:cNvSpPr/>
          <p:nvPr/>
        </p:nvSpPr>
        <p:spPr>
          <a:xfrm>
            <a:off x="3611963" y="3908065"/>
            <a:ext cx="1587445" cy="165072"/>
          </a:xfrm>
          <a:prstGeom prst="roundRect">
            <a:avLst>
              <a:gd name="adj" fmla="val 50000"/>
            </a:avLst>
          </a:prstGeom>
          <a:gradFill rotWithShape="1">
            <a:gsLst>
              <a:gs pos="0">
                <a:srgbClr val="F6E2BD"/>
              </a:gs>
              <a:gs pos="100000">
                <a:srgbClr val="D9AE6F"/>
              </a:gs>
            </a:gsLst>
            <a:lin ang="0" scaled="0"/>
          </a:gradFill>
          <a:ln/>
        </p:spPr>
      </p:sp>
      <p:sp>
        <p:nvSpPr>
          <p:cNvPr id="33" name="Text 31"/>
          <p:cNvSpPr/>
          <p:nvPr/>
        </p:nvSpPr>
        <p:spPr>
          <a:xfrm>
            <a:off x="5300953" y="3883961"/>
            <a:ext cx="1547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5</a:t>
            </a:r>
            <a:endParaRPr lang="en-US" sz="1200" dirty="0"/>
          </a:p>
        </p:txBody>
      </p:sp>
      <p:sp>
        <p:nvSpPr>
          <p:cNvPr id="34" name="Text 32"/>
          <p:cNvSpPr/>
          <p:nvPr/>
        </p:nvSpPr>
        <p:spPr>
          <a:xfrm>
            <a:off x="970473" y="4148094"/>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Hoa hồng, ví, replay</a:t>
            </a:r>
            <a:endParaRPr lang="en-US" sz="1200" dirty="0"/>
          </a:p>
        </p:txBody>
      </p:sp>
      <p:sp>
        <p:nvSpPr>
          <p:cNvPr id="35" name="Shape 33"/>
          <p:cNvSpPr/>
          <p:nvPr/>
        </p:nvSpPr>
        <p:spPr>
          <a:xfrm>
            <a:off x="3611963" y="4172198"/>
            <a:ext cx="1587445" cy="165072"/>
          </a:xfrm>
          <a:prstGeom prst="roundRect">
            <a:avLst>
              <a:gd name="adj" fmla="val 50000"/>
            </a:avLst>
          </a:prstGeom>
          <a:gradFill rotWithShape="1">
            <a:gsLst>
              <a:gs pos="0">
                <a:srgbClr val="F6E2BD"/>
              </a:gs>
              <a:gs pos="100000">
                <a:srgbClr val="D9AE6F"/>
              </a:gs>
            </a:gsLst>
            <a:lin ang="0" scaled="0"/>
          </a:gradFill>
          <a:ln/>
        </p:spPr>
      </p:sp>
      <p:sp>
        <p:nvSpPr>
          <p:cNvPr id="36" name="Text 34"/>
          <p:cNvSpPr/>
          <p:nvPr/>
        </p:nvSpPr>
        <p:spPr>
          <a:xfrm>
            <a:off x="5300953" y="4148094"/>
            <a:ext cx="15474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5</a:t>
            </a:r>
            <a:endParaRPr lang="en-US" sz="1200" dirty="0"/>
          </a:p>
        </p:txBody>
      </p:sp>
      <p:sp>
        <p:nvSpPr>
          <p:cNvPr id="37" name="Text 35"/>
          <p:cNvSpPr/>
          <p:nvPr/>
        </p:nvSpPr>
        <p:spPr>
          <a:xfrm>
            <a:off x="970473" y="4412227"/>
            <a:ext cx="26161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Khuyến mại, CRM, báo cáo</a:t>
            </a:r>
            <a:endParaRPr lang="en-US" sz="1200" dirty="0"/>
          </a:p>
        </p:txBody>
      </p:sp>
      <p:sp>
        <p:nvSpPr>
          <p:cNvPr id="38" name="Shape 36"/>
          <p:cNvSpPr/>
          <p:nvPr/>
        </p:nvSpPr>
        <p:spPr>
          <a:xfrm>
            <a:off x="3611963" y="4436331"/>
            <a:ext cx="1269972" cy="165072"/>
          </a:xfrm>
          <a:prstGeom prst="roundRect">
            <a:avLst>
              <a:gd name="adj" fmla="val 50000"/>
            </a:avLst>
          </a:prstGeom>
          <a:gradFill rotWithShape="1">
            <a:gsLst>
              <a:gs pos="0">
                <a:srgbClr val="F6E2BD"/>
              </a:gs>
              <a:gs pos="100000">
                <a:srgbClr val="D9AE6F"/>
              </a:gs>
            </a:gsLst>
            <a:lin ang="0" scaled="0"/>
          </a:gradFill>
          <a:ln/>
        </p:spPr>
      </p:sp>
      <p:sp>
        <p:nvSpPr>
          <p:cNvPr id="39" name="Text 37"/>
          <p:cNvSpPr/>
          <p:nvPr/>
        </p:nvSpPr>
        <p:spPr>
          <a:xfrm>
            <a:off x="4983480" y="4412227"/>
            <a:ext cx="16054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4</a:t>
            </a:r>
            <a:endParaRPr lang="en-US" sz="1200" dirty="0"/>
          </a:p>
        </p:txBody>
      </p:sp>
      <p:sp>
        <p:nvSpPr>
          <p:cNvPr id="40" name="Shape 38"/>
          <p:cNvSpPr/>
          <p:nvPr/>
        </p:nvSpPr>
        <p:spPr>
          <a:xfrm>
            <a:off x="8255028" y="1587860"/>
            <a:ext cx="1543050" cy="883754"/>
          </a:xfrm>
          <a:prstGeom prst="roundRect">
            <a:avLst>
              <a:gd name="adj" fmla="val 12933"/>
            </a:avLst>
          </a:prstGeom>
          <a:gradFill rotWithShape="1">
            <a:gsLst>
              <a:gs pos="0">
                <a:srgbClr val="5ED6F8"/>
              </a:gs>
              <a:gs pos="100000">
                <a:srgbClr val="0394C9"/>
              </a:gs>
            </a:gsLst>
            <a:lin ang="2700000" scaled="0"/>
          </a:gradFill>
          <a:ln/>
        </p:spPr>
      </p:sp>
      <p:sp>
        <p:nvSpPr>
          <p:cNvPr id="41" name="Text 39"/>
          <p:cNvSpPr/>
          <p:nvPr/>
        </p:nvSpPr>
        <p:spPr>
          <a:xfrm>
            <a:off x="8382001" y="1714829"/>
            <a:ext cx="1339905" cy="416505"/>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FFFF"/>
                </a:solidFill>
                <a:latin typeface="Be Vietnam Pro" pitchFamily="34" charset="0"/>
                <a:ea typeface="Be Vietnam Pro" pitchFamily="34" charset="-122"/>
                <a:cs typeface="Be Vietnam Pro" pitchFamily="34" charset="-120"/>
              </a:rPr>
              <a:t>29</a:t>
            </a:r>
            <a:endParaRPr lang="en-US" sz="2200" dirty="0"/>
          </a:p>
        </p:txBody>
      </p:sp>
      <p:sp>
        <p:nvSpPr>
          <p:cNvPr id="42" name="Text 40"/>
          <p:cNvSpPr/>
          <p:nvPr/>
        </p:nvSpPr>
        <p:spPr>
          <a:xfrm>
            <a:off x="8382001" y="2131281"/>
            <a:ext cx="13399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Be Vietnam Pro" pitchFamily="34" charset="0"/>
                <a:ea typeface="Be Vietnam Pro" pitchFamily="34" charset="-122"/>
                <a:cs typeface="Be Vietnam Pro" pitchFamily="34" charset="-120"/>
              </a:rPr>
              <a:t>MD tích hợp</a:t>
            </a:r>
            <a:endParaRPr lang="en-US" sz="1200" dirty="0"/>
          </a:p>
        </p:txBody>
      </p:sp>
      <p:sp>
        <p:nvSpPr>
          <p:cNvPr id="43" name="Shape 41"/>
          <p:cNvSpPr/>
          <p:nvPr/>
        </p:nvSpPr>
        <p:spPr>
          <a:xfrm>
            <a:off x="9886951" y="1587860"/>
            <a:ext cx="1543050" cy="883754"/>
          </a:xfrm>
          <a:prstGeom prst="roundRect">
            <a:avLst>
              <a:gd name="adj" fmla="val 12933"/>
            </a:avLst>
          </a:prstGeom>
          <a:gradFill rotWithShape="1">
            <a:gsLst>
              <a:gs pos="0">
                <a:srgbClr val="F6E2BD"/>
              </a:gs>
              <a:gs pos="100000">
                <a:srgbClr val="D9AE6F"/>
              </a:gs>
            </a:gsLst>
            <a:lin ang="2700000" scaled="0"/>
          </a:gradFill>
          <a:ln/>
        </p:spPr>
      </p:sp>
      <p:sp>
        <p:nvSpPr>
          <p:cNvPr id="44" name="Text 42"/>
          <p:cNvSpPr/>
          <p:nvPr/>
        </p:nvSpPr>
        <p:spPr>
          <a:xfrm>
            <a:off x="10013923" y="1714829"/>
            <a:ext cx="1339905" cy="416505"/>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D2636"/>
                </a:solidFill>
                <a:latin typeface="Be Vietnam Pro" pitchFamily="34" charset="0"/>
                <a:ea typeface="Be Vietnam Pro" pitchFamily="34" charset="-122"/>
                <a:cs typeface="Be Vietnam Pro" pitchFamily="34" charset="-120"/>
              </a:rPr>
              <a:t>31</a:t>
            </a:r>
            <a:endParaRPr lang="en-US" sz="2200" dirty="0"/>
          </a:p>
        </p:txBody>
      </p:sp>
      <p:sp>
        <p:nvSpPr>
          <p:cNvPr id="45" name="Text 43"/>
          <p:cNvSpPr/>
          <p:nvPr/>
        </p:nvSpPr>
        <p:spPr>
          <a:xfrm>
            <a:off x="10013923" y="2131281"/>
            <a:ext cx="13399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MD lõi</a:t>
            </a:r>
            <a:endParaRPr lang="en-US" sz="1200" dirty="0"/>
          </a:p>
        </p:txBody>
      </p:sp>
      <p:sp>
        <p:nvSpPr>
          <p:cNvPr id="46" name="Shape 44"/>
          <p:cNvSpPr/>
          <p:nvPr/>
        </p:nvSpPr>
        <p:spPr>
          <a:xfrm>
            <a:off x="8255028" y="2585913"/>
            <a:ext cx="3174973" cy="1958174"/>
          </a:xfrm>
          <a:prstGeom prst="roundRect">
            <a:avLst>
              <a:gd name="adj" fmla="val 6486"/>
            </a:avLst>
          </a:prstGeom>
          <a:gradFill rotWithShape="1">
            <a:gsLst>
              <a:gs pos="0">
                <a:srgbClr val="0D2636"/>
              </a:gs>
              <a:gs pos="100000">
                <a:srgbClr val="135A79"/>
              </a:gs>
            </a:gsLst>
            <a:lin ang="3600000" scaled="0"/>
          </a:gradFill>
          <a:ln/>
        </p:spPr>
      </p:sp>
      <p:sp>
        <p:nvSpPr>
          <p:cNvPr id="47" name="Text 45"/>
          <p:cNvSpPr/>
          <p:nvPr/>
        </p:nvSpPr>
        <p:spPr>
          <a:xfrm>
            <a:off x="8432773" y="2763658"/>
            <a:ext cx="29040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Vì sao tích hợp tốn công</a:t>
            </a:r>
            <a:endParaRPr lang="en-US" sz="1400" dirty="0"/>
          </a:p>
        </p:txBody>
      </p:sp>
      <p:sp>
        <p:nvSpPr>
          <p:cNvPr id="48" name="Text 46"/>
          <p:cNvSpPr/>
          <p:nvPr/>
        </p:nvSpPr>
        <p:spPr>
          <a:xfrm>
            <a:off x="8531579" y="3040459"/>
            <a:ext cx="2797641" cy="135128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Phụ thuộc tài liệu, môi trường thử của bên thứ ba</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Xử lý lỗi, hết giờ, gửi lại, chống trùng</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Đối chiếu dữ liệu tiền và đơn</a:t>
            </a:r>
            <a:endParaRPr lang="en-US" sz="1200" dirty="0"/>
          </a:p>
          <a:p>
            <a:pPr algn="l" marL="155194" indent="-155194">
              <a:lnSpc>
                <a:spcPts val="1740"/>
              </a:lnSpc>
              <a:buSzPct val="100000"/>
              <a:buChar char="•"/>
            </a:pPr>
            <a:r>
              <a:rPr lang="en-US" sz="1200" dirty="0">
                <a:solidFill>
                  <a:srgbClr val="F7F3EA"/>
                </a:solidFill>
                <a:latin typeface="Be Vietnam Pro" pitchFamily="34" charset="0"/>
                <a:ea typeface="Be Vietnam Pro" pitchFamily="34" charset="-122"/>
                <a:cs typeface="Be Vietnam Pro" pitchFamily="34" charset="-120"/>
              </a:rPr>
              <a:t>Kiểm thử đầu cuối với dịch vụ thật</a:t>
            </a:r>
            <a:endParaRPr lang="en-US" sz="1200" dirty="0"/>
          </a:p>
        </p:txBody>
      </p:sp>
      <p:pic>
        <p:nvPicPr>
          <p:cNvPr id="49" name="Image 0" descr="AVI Group">    </p:cNvPr>
          <p:cNvPicPr>
            <a:picLocks noChangeAspect="1"/>
          </p:cNvPicPr>
          <p:nvPr/>
        </p:nvPicPr>
        <p:blipFill>
          <a:blip r:embed="rId1"/>
          <a:srcRect l="-5" r="-5" t="0" b="0"/>
          <a:stretch/>
        </p:blipFill>
        <p:spPr>
          <a:xfrm>
            <a:off x="762000" y="6324681"/>
            <a:ext cx="419100" cy="279372"/>
          </a:xfrm>
          <a:prstGeom prst="rect">
            <a:avLst/>
          </a:prstGeom>
        </p:spPr>
      </p:pic>
      <p:sp>
        <p:nvSpPr>
          <p:cNvPr id="50" name="Text 47"/>
          <p:cNvSpPr/>
          <p:nvPr/>
        </p:nvSpPr>
        <p:spPr>
          <a:xfrm>
            <a:off x="1269972" y="6339842"/>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Đơn vị: MD dev · 60 MD dev (2 dev × 6 tuần) + ~30 MD BA + ~30 MD kiểm thử</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62000" y="660375"/>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GIẢ ĐỊNH TEMPLATE WEBSITE</a:t>
            </a:r>
            <a:endParaRPr lang="en-US" sz="1200" dirty="0"/>
          </a:p>
        </p:txBody>
      </p:sp>
      <p:sp>
        <p:nvSpPr>
          <p:cNvPr id="3" name="Text 1"/>
          <p:cNvSpPr/>
          <p:nvPr>
            <p:ph type="title"/>
          </p:nvPr>
        </p:nvSpPr>
        <p:spPr>
          <a:xfrm>
            <a:off x="762000" y="962602"/>
            <a:ext cx="10988041" cy="4236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0D2636"/>
                </a:solidFill>
                <a:latin typeface="Playfair Display" pitchFamily="18" charset="0"/>
                <a:ea typeface="Playfair Display" pitchFamily="18" charset="-122"/>
                <a:cs typeface="Playfair Display" pitchFamily="18" charset="-120"/>
              </a:rPr>
              <a:t>Mỗi template một phong cách, shop đổi màu và bo góc</a:t>
            </a:r>
            <a:endParaRPr lang="en-US" sz="2800" dirty="0"/>
          </a:p>
        </p:txBody>
      </p:sp>
      <p:sp>
        <p:nvSpPr>
          <p:cNvPr id="4" name="Shape 2"/>
          <p:cNvSpPr/>
          <p:nvPr/>
        </p:nvSpPr>
        <p:spPr>
          <a:xfrm>
            <a:off x="762000" y="1449704"/>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1744923"/>
            <a:ext cx="2546350" cy="2008229"/>
          </a:xfrm>
          <a:prstGeom prst="roundRect">
            <a:avLst>
              <a:gd name="adj" fmla="val 6798"/>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6" name="Text 4"/>
          <p:cNvSpPr/>
          <p:nvPr/>
        </p:nvSpPr>
        <p:spPr>
          <a:xfrm>
            <a:off x="970473" y="1950225"/>
            <a:ext cx="2199826" cy="59433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66E96"/>
                </a:solidFill>
                <a:latin typeface="Playfair Display" pitchFamily="18" charset="0"/>
                <a:ea typeface="Playfair Display" pitchFamily="18" charset="-122"/>
                <a:cs typeface="Playfair Display" pitchFamily="18" charset="-120"/>
              </a:rPr>
              <a:t>4</a:t>
            </a:r>
            <a:endParaRPr lang="en-US" sz="3200" dirty="0"/>
          </a:p>
        </p:txBody>
      </p:sp>
      <p:sp>
        <p:nvSpPr>
          <p:cNvPr id="7" name="Text 5"/>
          <p:cNvSpPr/>
          <p:nvPr/>
        </p:nvSpPr>
        <p:spPr>
          <a:xfrm>
            <a:off x="970473" y="2595358"/>
            <a:ext cx="219982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Phong cách</a:t>
            </a:r>
            <a:endParaRPr lang="en-US" sz="1400" dirty="0"/>
          </a:p>
        </p:txBody>
      </p:sp>
      <p:sp>
        <p:nvSpPr>
          <p:cNvPr id="8" name="Text 6"/>
          <p:cNvSpPr/>
          <p:nvPr/>
        </p:nvSpPr>
        <p:spPr>
          <a:xfrm>
            <a:off x="970473" y="2884915"/>
            <a:ext cx="2199826"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Sang trọng · Hiện đại tối giản · Lãng mạn vintage · Tươi trẻ</a:t>
            </a:r>
            <a:endParaRPr lang="en-US" sz="1200" dirty="0"/>
          </a:p>
        </p:txBody>
      </p:sp>
      <p:sp>
        <p:nvSpPr>
          <p:cNvPr id="9" name="Shape 7"/>
          <p:cNvSpPr/>
          <p:nvPr/>
        </p:nvSpPr>
        <p:spPr>
          <a:xfrm>
            <a:off x="3470275" y="1744923"/>
            <a:ext cx="2546350" cy="2008229"/>
          </a:xfrm>
          <a:prstGeom prst="roundRect">
            <a:avLst>
              <a:gd name="adj" fmla="val 6798"/>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10" name="Text 8"/>
          <p:cNvSpPr/>
          <p:nvPr/>
        </p:nvSpPr>
        <p:spPr>
          <a:xfrm>
            <a:off x="3675573" y="1950225"/>
            <a:ext cx="2199826" cy="59433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66E96"/>
                </a:solidFill>
                <a:latin typeface="Playfair Display" pitchFamily="18" charset="0"/>
                <a:ea typeface="Playfair Display" pitchFamily="18" charset="-122"/>
                <a:cs typeface="Playfair Display" pitchFamily="18" charset="-120"/>
              </a:rPr>
              <a:t>12</a:t>
            </a:r>
            <a:endParaRPr lang="en-US" sz="3200" dirty="0"/>
          </a:p>
        </p:txBody>
      </p:sp>
      <p:sp>
        <p:nvSpPr>
          <p:cNvPr id="11" name="Text 9"/>
          <p:cNvSpPr/>
          <p:nvPr/>
        </p:nvSpPr>
        <p:spPr>
          <a:xfrm>
            <a:off x="3675573" y="2595358"/>
            <a:ext cx="219982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Template</a:t>
            </a:r>
            <a:endParaRPr lang="en-US" sz="1400" dirty="0"/>
          </a:p>
        </p:txBody>
      </p:sp>
      <p:sp>
        <p:nvSpPr>
          <p:cNvPr id="12" name="Text 10"/>
          <p:cNvSpPr/>
          <p:nvPr/>
        </p:nvSpPr>
        <p:spPr>
          <a:xfrm>
            <a:off x="3675573" y="2884915"/>
            <a:ext cx="2199826"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3 template mỗi phong cách, bố cục mặc định cố định</a:t>
            </a:r>
            <a:endParaRPr lang="en-US" sz="1200" dirty="0"/>
          </a:p>
        </p:txBody>
      </p:sp>
      <p:sp>
        <p:nvSpPr>
          <p:cNvPr id="13" name="Shape 11"/>
          <p:cNvSpPr/>
          <p:nvPr/>
        </p:nvSpPr>
        <p:spPr>
          <a:xfrm>
            <a:off x="6175375" y="1744923"/>
            <a:ext cx="2546350" cy="2008229"/>
          </a:xfrm>
          <a:prstGeom prst="roundRect">
            <a:avLst>
              <a:gd name="adj" fmla="val 6798"/>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14" name="Text 12"/>
          <p:cNvSpPr/>
          <p:nvPr/>
        </p:nvSpPr>
        <p:spPr>
          <a:xfrm>
            <a:off x="6380674" y="1950225"/>
            <a:ext cx="2199826" cy="59433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66E96"/>
                </a:solidFill>
                <a:latin typeface="Playfair Display" pitchFamily="18" charset="0"/>
                <a:ea typeface="Playfair Display" pitchFamily="18" charset="-122"/>
                <a:cs typeface="Playfair Display" pitchFamily="18" charset="-120"/>
              </a:rPr>
              <a:t>6</a:t>
            </a:r>
            <a:endParaRPr lang="en-US" sz="3200" dirty="0"/>
          </a:p>
        </p:txBody>
      </p:sp>
      <p:sp>
        <p:nvSpPr>
          <p:cNvPr id="15" name="Text 13"/>
          <p:cNvSpPr/>
          <p:nvPr/>
        </p:nvSpPr>
        <p:spPr>
          <a:xfrm>
            <a:off x="6380674" y="2595358"/>
            <a:ext cx="219982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Bảng màu</a:t>
            </a:r>
            <a:endParaRPr lang="en-US" sz="1400" dirty="0"/>
          </a:p>
        </p:txBody>
      </p:sp>
      <p:sp>
        <p:nvSpPr>
          <p:cNvPr id="16" name="Shape 14"/>
          <p:cNvSpPr/>
          <p:nvPr/>
        </p:nvSpPr>
        <p:spPr>
          <a:xfrm>
            <a:off x="6380674" y="2884915"/>
            <a:ext cx="266700" cy="266700"/>
          </a:xfrm>
          <a:prstGeom prst="roundRect">
            <a:avLst>
              <a:gd name="adj" fmla="val 50000"/>
            </a:avLst>
          </a:prstGeom>
          <a:solidFill>
            <a:srgbClr val="F4C6CF"/>
          </a:solidFill>
          <a:ln/>
        </p:spPr>
      </p:sp>
      <p:sp>
        <p:nvSpPr>
          <p:cNvPr id="17" name="Shape 15"/>
          <p:cNvSpPr/>
          <p:nvPr/>
        </p:nvSpPr>
        <p:spPr>
          <a:xfrm>
            <a:off x="6698146" y="2884915"/>
            <a:ext cx="266700" cy="266700"/>
          </a:xfrm>
          <a:prstGeom prst="roundRect">
            <a:avLst>
              <a:gd name="adj" fmla="val 50000"/>
            </a:avLst>
          </a:prstGeom>
          <a:solidFill>
            <a:srgbClr val="7A1F2B"/>
          </a:solidFill>
          <a:ln/>
        </p:spPr>
      </p:sp>
      <p:sp>
        <p:nvSpPr>
          <p:cNvPr id="18" name="Shape 16"/>
          <p:cNvSpPr/>
          <p:nvPr/>
        </p:nvSpPr>
        <p:spPr>
          <a:xfrm>
            <a:off x="7015618" y="2884915"/>
            <a:ext cx="266700" cy="266700"/>
          </a:xfrm>
          <a:prstGeom prst="roundRect">
            <a:avLst>
              <a:gd name="adj" fmla="val 50000"/>
            </a:avLst>
          </a:prstGeom>
          <a:gradFill rotWithShape="1">
            <a:gsLst>
              <a:gs pos="50000">
                <a:srgbClr val="F7F7F2"/>
              </a:gs>
              <a:gs pos="50000">
                <a:srgbClr val="6E9B5C"/>
              </a:gs>
            </a:gsLst>
            <a:lin ang="2700000" scaled="0"/>
          </a:gradFill>
          <a:ln/>
        </p:spPr>
      </p:sp>
      <p:sp>
        <p:nvSpPr>
          <p:cNvPr id="19" name="Shape 17"/>
          <p:cNvSpPr/>
          <p:nvPr/>
        </p:nvSpPr>
        <p:spPr>
          <a:xfrm>
            <a:off x="7333091" y="2884915"/>
            <a:ext cx="266700" cy="266700"/>
          </a:xfrm>
          <a:prstGeom prst="roundRect">
            <a:avLst>
              <a:gd name="adj" fmla="val 50000"/>
            </a:avLst>
          </a:prstGeom>
          <a:solidFill>
            <a:srgbClr val="C9B8E3"/>
          </a:solidFill>
          <a:ln/>
        </p:spPr>
      </p:sp>
      <p:sp>
        <p:nvSpPr>
          <p:cNvPr id="20" name="Shape 18"/>
          <p:cNvSpPr/>
          <p:nvPr/>
        </p:nvSpPr>
        <p:spPr>
          <a:xfrm>
            <a:off x="7650563" y="2884915"/>
            <a:ext cx="266700" cy="266700"/>
          </a:xfrm>
          <a:prstGeom prst="roundRect">
            <a:avLst>
              <a:gd name="adj" fmla="val 50000"/>
            </a:avLst>
          </a:prstGeom>
          <a:solidFill>
            <a:srgbClr val="F3E3B5"/>
          </a:solidFill>
          <a:ln/>
        </p:spPr>
      </p:sp>
      <p:sp>
        <p:nvSpPr>
          <p:cNvPr id="21" name="Shape 19"/>
          <p:cNvSpPr/>
          <p:nvPr/>
        </p:nvSpPr>
        <p:spPr>
          <a:xfrm>
            <a:off x="7968035" y="2884915"/>
            <a:ext cx="266700" cy="266700"/>
          </a:xfrm>
          <a:prstGeom prst="roundRect">
            <a:avLst>
              <a:gd name="adj" fmla="val 50000"/>
            </a:avLst>
          </a:prstGeom>
          <a:gradFill rotWithShape="1">
            <a:gsLst>
              <a:gs pos="50000">
                <a:srgbClr val="1E1E1E"/>
              </a:gs>
              <a:gs pos="50000">
                <a:srgbClr val="C9A24A"/>
              </a:gs>
            </a:gsLst>
            <a:lin ang="2700000" scaled="0"/>
          </a:gradFill>
          <a:ln/>
        </p:spPr>
      </p:sp>
      <p:sp>
        <p:nvSpPr>
          <p:cNvPr id="22" name="Shape 20"/>
          <p:cNvSpPr/>
          <p:nvPr/>
        </p:nvSpPr>
        <p:spPr>
          <a:xfrm>
            <a:off x="8880476" y="1744923"/>
            <a:ext cx="2546350" cy="2008229"/>
          </a:xfrm>
          <a:prstGeom prst="roundRect">
            <a:avLst>
              <a:gd name="adj" fmla="val 6798"/>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23" name="Text 21"/>
          <p:cNvSpPr/>
          <p:nvPr/>
        </p:nvSpPr>
        <p:spPr>
          <a:xfrm>
            <a:off x="9085774" y="1950225"/>
            <a:ext cx="2199826" cy="594332"/>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66E96"/>
                </a:solidFill>
                <a:latin typeface="Playfair Display" pitchFamily="18" charset="0"/>
                <a:ea typeface="Playfair Display" pitchFamily="18" charset="-122"/>
                <a:cs typeface="Playfair Display" pitchFamily="18" charset="-120"/>
              </a:rPr>
              <a:t>3</a:t>
            </a:r>
            <a:endParaRPr lang="en-US" sz="3200" dirty="0"/>
          </a:p>
        </p:txBody>
      </p:sp>
      <p:sp>
        <p:nvSpPr>
          <p:cNvPr id="24" name="Text 22"/>
          <p:cNvSpPr/>
          <p:nvPr/>
        </p:nvSpPr>
        <p:spPr>
          <a:xfrm>
            <a:off x="9085774" y="2595358"/>
            <a:ext cx="219982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D2636"/>
                </a:solidFill>
                <a:latin typeface="Be Vietnam Pro" pitchFamily="34" charset="0"/>
                <a:ea typeface="Be Vietnam Pro" pitchFamily="34" charset="-122"/>
                <a:cs typeface="Be Vietnam Pro" pitchFamily="34" charset="-120"/>
              </a:rPr>
              <a:t>Bo góc</a:t>
            </a:r>
            <a:endParaRPr lang="en-US" sz="1400" dirty="0"/>
          </a:p>
        </p:txBody>
      </p:sp>
      <p:sp>
        <p:nvSpPr>
          <p:cNvPr id="25" name="Shape 23"/>
          <p:cNvSpPr/>
          <p:nvPr/>
        </p:nvSpPr>
        <p:spPr>
          <a:xfrm>
            <a:off x="9095299" y="2894440"/>
            <a:ext cx="285750" cy="285750"/>
          </a:xfrm>
          <a:prstGeom prst="rect">
            <a:avLst/>
          </a:prstGeom>
          <a:noFill/>
          <a:ln w="19050">
            <a:solidFill>
              <a:srgbClr val="0D2636"/>
            </a:solidFill>
            <a:prstDash val="solid"/>
          </a:ln>
        </p:spPr>
      </p:sp>
      <p:sp>
        <p:nvSpPr>
          <p:cNvPr id="26" name="Shape 24"/>
          <p:cNvSpPr/>
          <p:nvPr/>
        </p:nvSpPr>
        <p:spPr>
          <a:xfrm>
            <a:off x="9476299" y="2894440"/>
            <a:ext cx="285750" cy="285750"/>
          </a:xfrm>
          <a:prstGeom prst="roundRect">
            <a:avLst>
              <a:gd name="adj" fmla="val 23333"/>
            </a:avLst>
          </a:prstGeom>
          <a:noFill/>
          <a:ln w="19050">
            <a:solidFill>
              <a:srgbClr val="0D2636"/>
            </a:solidFill>
            <a:prstDash val="solid"/>
          </a:ln>
        </p:spPr>
      </p:sp>
      <p:sp>
        <p:nvSpPr>
          <p:cNvPr id="27" name="Shape 25"/>
          <p:cNvSpPr/>
          <p:nvPr/>
        </p:nvSpPr>
        <p:spPr>
          <a:xfrm>
            <a:off x="9857299" y="2894440"/>
            <a:ext cx="285750" cy="285750"/>
          </a:xfrm>
          <a:prstGeom prst="roundRect">
            <a:avLst>
              <a:gd name="adj" fmla="val 50000"/>
            </a:avLst>
          </a:prstGeom>
          <a:noFill/>
          <a:ln w="19050">
            <a:solidFill>
              <a:srgbClr val="0D2636"/>
            </a:solidFill>
            <a:prstDash val="solid"/>
          </a:ln>
        </p:spPr>
      </p:sp>
      <p:sp>
        <p:nvSpPr>
          <p:cNvPr id="28" name="Shape 26"/>
          <p:cNvSpPr/>
          <p:nvPr/>
        </p:nvSpPr>
        <p:spPr>
          <a:xfrm>
            <a:off x="762000" y="4010273"/>
            <a:ext cx="5257800" cy="873650"/>
          </a:xfrm>
          <a:prstGeom prst="roundRect">
            <a:avLst>
              <a:gd name="adj" fmla="val 14537"/>
            </a:avLst>
          </a:prstGeom>
          <a:gradFill rotWithShape="1">
            <a:gsLst>
              <a:gs pos="0">
                <a:srgbClr val="0D2636"/>
              </a:gs>
              <a:gs pos="100000">
                <a:srgbClr val="135A79"/>
              </a:gs>
            </a:gsLst>
            <a:lin ang="3600000" scaled="0"/>
          </a:gradFill>
          <a:ln/>
        </p:spPr>
      </p:sp>
      <p:sp>
        <p:nvSpPr>
          <p:cNvPr id="29" name="Text 27"/>
          <p:cNvSpPr/>
          <p:nvPr/>
        </p:nvSpPr>
        <p:spPr>
          <a:xfrm>
            <a:off x="965172" y="4188017"/>
            <a:ext cx="499699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DC68E"/>
                </a:solidFill>
                <a:latin typeface="Be Vietnam Pro" pitchFamily="34" charset="0"/>
                <a:ea typeface="Be Vietnam Pro" pitchFamily="34" charset="-122"/>
                <a:cs typeface="Be Vietnam Pro" pitchFamily="34" charset="-120"/>
              </a:rPr>
              <a:t>ĐẦY ĐỦ</a:t>
            </a:r>
            <a:endParaRPr lang="en-US" sz="1200" dirty="0"/>
          </a:p>
        </p:txBody>
      </p:sp>
      <p:sp>
        <p:nvSpPr>
          <p:cNvPr id="30" name="Text 28"/>
          <p:cNvSpPr/>
          <p:nvPr/>
        </p:nvSpPr>
        <p:spPr>
          <a:xfrm>
            <a:off x="965172" y="4439481"/>
            <a:ext cx="499699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7F3EA"/>
                </a:solidFill>
                <a:latin typeface="Be Vietnam Pro" pitchFamily="34" charset="0"/>
                <a:ea typeface="Be Vietnam Pro" pitchFamily="34" charset="-122"/>
                <a:cs typeface="Be Vietnam Pro" pitchFamily="34" charset="-120"/>
              </a:rPr>
              <a:t>12 template × 6 màu × 3 bo góc = 216 biến thể</a:t>
            </a:r>
            <a:endParaRPr lang="en-US" sz="1500" dirty="0"/>
          </a:p>
        </p:txBody>
      </p:sp>
      <p:sp>
        <p:nvSpPr>
          <p:cNvPr id="31" name="Shape 29"/>
          <p:cNvSpPr/>
          <p:nvPr/>
        </p:nvSpPr>
        <p:spPr>
          <a:xfrm>
            <a:off x="6172200" y="4010273"/>
            <a:ext cx="5257800" cy="873650"/>
          </a:xfrm>
          <a:prstGeom prst="roundRect">
            <a:avLst>
              <a:gd name="adj" fmla="val 14537"/>
            </a:avLst>
          </a:prstGeom>
          <a:gradFill rotWithShape="1">
            <a:gsLst>
              <a:gs pos="0">
                <a:srgbClr val="FFF8D6"/>
              </a:gs>
              <a:gs pos="100000">
                <a:srgbClr val="F6E2BD"/>
              </a:gs>
            </a:gsLst>
            <a:lin ang="2700000" scaled="0"/>
          </a:gradFill>
          <a:ln/>
        </p:spPr>
      </p:sp>
      <p:sp>
        <p:nvSpPr>
          <p:cNvPr id="32" name="Text 30"/>
          <p:cNvSpPr/>
          <p:nvPr/>
        </p:nvSpPr>
        <p:spPr>
          <a:xfrm>
            <a:off x="6375373" y="4188017"/>
            <a:ext cx="4996999"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12"/>
                </a:solidFill>
                <a:latin typeface="Be Vietnam Pro" pitchFamily="34" charset="0"/>
                <a:ea typeface="Be Vietnam Pro" pitchFamily="34" charset="-122"/>
                <a:cs typeface="Be Vietnam Pro" pitchFamily="34" charset="-120"/>
              </a:rPr>
              <a:t>GIAI ĐOẠN 1</a:t>
            </a:r>
            <a:endParaRPr lang="en-US" sz="1200" dirty="0"/>
          </a:p>
        </p:txBody>
      </p:sp>
      <p:sp>
        <p:nvSpPr>
          <p:cNvPr id="33" name="Text 31"/>
          <p:cNvSpPr/>
          <p:nvPr/>
        </p:nvSpPr>
        <p:spPr>
          <a:xfrm>
            <a:off x="6375373" y="4439481"/>
            <a:ext cx="499699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D2636"/>
                </a:solidFill>
                <a:latin typeface="Be Vietnam Pro" pitchFamily="34" charset="0"/>
                <a:ea typeface="Be Vietnam Pro" pitchFamily="34" charset="-122"/>
                <a:cs typeface="Be Vietnam Pro" pitchFamily="34" charset="-120"/>
              </a:rPr>
              <a:t>4 template × 6 màu × 3 bo góc = 72 biến thể</a:t>
            </a:r>
            <a:endParaRPr lang="en-US" sz="1500" dirty="0"/>
          </a:p>
        </p:txBody>
      </p:sp>
      <p:pic>
        <p:nvPicPr>
          <p:cNvPr id="34" name="Image 0" descr="AVI Group">    </p:cNvPr>
          <p:cNvPicPr>
            <a:picLocks noChangeAspect="1"/>
          </p:cNvPicPr>
          <p:nvPr/>
        </p:nvPicPr>
        <p:blipFill>
          <a:blip r:embed="rId1"/>
          <a:srcRect l="-5" r="-5" t="0" b="0"/>
          <a:stretch/>
        </p:blipFill>
        <p:spPr>
          <a:xfrm>
            <a:off x="762000" y="6324681"/>
            <a:ext cx="419100" cy="279372"/>
          </a:xfrm>
          <a:prstGeom prst="rect">
            <a:avLst/>
          </a:prstGeom>
        </p:spPr>
      </p:pic>
      <p:sp>
        <p:nvSpPr>
          <p:cNvPr id="35" name="Text 32"/>
          <p:cNvSpPr/>
          <p:nvPr/>
        </p:nvSpPr>
        <p:spPr>
          <a:xfrm>
            <a:off x="1269972" y="6339842"/>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Landing chạy trên tên miền con · gợi ý template theo câu trả lời trong form của shop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62000" y="660375"/>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KẾ HOẠCH GIAI ĐOẠN 1</a:t>
            </a:r>
            <a:endParaRPr lang="en-US" sz="1200" dirty="0"/>
          </a:p>
        </p:txBody>
      </p:sp>
      <p:sp>
        <p:nvSpPr>
          <p:cNvPr id="3" name="Text 1"/>
          <p:cNvSpPr/>
          <p:nvPr>
            <p:ph type="title"/>
          </p:nvPr>
        </p:nvSpPr>
        <p:spPr>
          <a:xfrm>
            <a:off x="762000" y="962608"/>
            <a:ext cx="10988041" cy="4236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0D2636"/>
                </a:solidFill>
                <a:latin typeface="Playfair Display" pitchFamily="18" charset="0"/>
                <a:ea typeface="Playfair Display" pitchFamily="18" charset="-122"/>
                <a:cs typeface="Playfair Display" pitchFamily="18" charset="-120"/>
              </a:rPr>
              <a:t>Thí điểm sau 15 ngày, nghiệm thu sau 6 tuần</a:t>
            </a:r>
            <a:endParaRPr lang="en-US" sz="2800" dirty="0"/>
          </a:p>
        </p:txBody>
      </p:sp>
      <p:sp>
        <p:nvSpPr>
          <p:cNvPr id="4" name="Shape 2"/>
          <p:cNvSpPr/>
          <p:nvPr/>
        </p:nvSpPr>
        <p:spPr>
          <a:xfrm>
            <a:off x="762000" y="1449704"/>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1719579"/>
            <a:ext cx="10661568" cy="3295595"/>
          </a:xfrm>
          <a:prstGeom prst="roundRect">
            <a:avLst>
              <a:gd name="adj" fmla="val 4143"/>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6" name="Text 4"/>
          <p:cNvSpPr/>
          <p:nvPr/>
        </p:nvSpPr>
        <p:spPr>
          <a:xfrm>
            <a:off x="3746472" y="1868804"/>
            <a:ext cx="9397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6"/>
                </a:solidFill>
                <a:latin typeface="Be Vietnam Pro" pitchFamily="34" charset="0"/>
                <a:ea typeface="Be Vietnam Pro" pitchFamily="34" charset="-122"/>
                <a:cs typeface="Be Vietnam Pro" pitchFamily="34" charset="-120"/>
              </a:rPr>
              <a:t>Ngày 1</a:t>
            </a:r>
            <a:endParaRPr lang="en-US" sz="1200" dirty="0"/>
          </a:p>
        </p:txBody>
      </p:sp>
      <p:sp>
        <p:nvSpPr>
          <p:cNvPr id="7" name="Text 5"/>
          <p:cNvSpPr/>
          <p:nvPr/>
        </p:nvSpPr>
        <p:spPr>
          <a:xfrm>
            <a:off x="5841973" y="1868804"/>
            <a:ext cx="132077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Ngày 15 · Mốc 1</a:t>
            </a:r>
            <a:endParaRPr lang="en-US" sz="1200" dirty="0"/>
          </a:p>
        </p:txBody>
      </p:sp>
      <p:sp>
        <p:nvSpPr>
          <p:cNvPr id="8" name="Text 6"/>
          <p:cNvSpPr/>
          <p:nvPr/>
        </p:nvSpPr>
        <p:spPr>
          <a:xfrm>
            <a:off x="9474201" y="1868804"/>
            <a:ext cx="170177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8A5A12"/>
                </a:solidFill>
                <a:latin typeface="Be Vietnam Pro" pitchFamily="34" charset="0"/>
                <a:ea typeface="Be Vietnam Pro" pitchFamily="34" charset="-122"/>
                <a:cs typeface="Be Vietnam Pro" pitchFamily="34" charset="-120"/>
              </a:rPr>
              <a:t>Tuần 6 · Mốc 2</a:t>
            </a:r>
            <a:endParaRPr lang="en-US" sz="1200" dirty="0"/>
          </a:p>
        </p:txBody>
      </p:sp>
      <p:sp>
        <p:nvSpPr>
          <p:cNvPr id="9" name="Shape 7"/>
          <p:cNvSpPr/>
          <p:nvPr/>
        </p:nvSpPr>
        <p:spPr>
          <a:xfrm>
            <a:off x="6426200" y="2122754"/>
            <a:ext cx="0" cy="2730445"/>
          </a:xfrm>
          <a:prstGeom prst="line">
            <a:avLst/>
          </a:prstGeom>
          <a:noFill/>
          <a:ln w="12700">
            <a:solidFill>
              <a:srgbClr val="03C2F3"/>
            </a:solidFill>
            <a:prstDash val="dash"/>
          </a:ln>
        </p:spPr>
      </p:sp>
      <p:sp>
        <p:nvSpPr>
          <p:cNvPr id="10" name="Text 8"/>
          <p:cNvSpPr/>
          <p:nvPr/>
        </p:nvSpPr>
        <p:spPr>
          <a:xfrm>
            <a:off x="990600" y="2249804"/>
            <a:ext cx="27469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Hạ tầng, thiết kế</a:t>
            </a:r>
            <a:endParaRPr lang="en-US" sz="1200" dirty="0"/>
          </a:p>
        </p:txBody>
      </p:sp>
      <p:sp>
        <p:nvSpPr>
          <p:cNvPr id="11" name="Text 9"/>
          <p:cNvSpPr/>
          <p:nvPr/>
        </p:nvSpPr>
        <p:spPr>
          <a:xfrm>
            <a:off x="990600" y="2630804"/>
            <a:ext cx="27469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Chi nhánh, sản phẩm, đơn</a:t>
            </a:r>
            <a:endParaRPr lang="en-US" sz="1200" dirty="0"/>
          </a:p>
        </p:txBody>
      </p:sp>
      <p:sp>
        <p:nvSpPr>
          <p:cNvPr id="12" name="Text 10"/>
          <p:cNvSpPr/>
          <p:nvPr/>
        </p:nvSpPr>
        <p:spPr>
          <a:xfrm>
            <a:off x="990600" y="3011717"/>
            <a:ext cx="274692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Đơn Avi, Telegram, hoa hồng</a:t>
            </a:r>
            <a:endParaRPr lang="en-US" sz="1200" dirty="0"/>
          </a:p>
        </p:txBody>
      </p:sp>
      <p:sp>
        <p:nvSpPr>
          <p:cNvPr id="13" name="Text 11"/>
          <p:cNvSpPr/>
          <p:nvPr/>
        </p:nvSpPr>
        <p:spPr>
          <a:xfrm>
            <a:off x="990600" y="3392804"/>
            <a:ext cx="27469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AI, landing, thanh toán</a:t>
            </a:r>
            <a:endParaRPr lang="en-US" sz="1200" dirty="0"/>
          </a:p>
        </p:txBody>
      </p:sp>
      <p:sp>
        <p:nvSpPr>
          <p:cNvPr id="14" name="Text 12"/>
          <p:cNvSpPr/>
          <p:nvPr/>
        </p:nvSpPr>
        <p:spPr>
          <a:xfrm>
            <a:off x="990600" y="3773804"/>
            <a:ext cx="27469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Kiểm thử, bàn giao thí điểm</a:t>
            </a:r>
            <a:endParaRPr lang="en-US" sz="1200" dirty="0"/>
          </a:p>
        </p:txBody>
      </p:sp>
      <p:sp>
        <p:nvSpPr>
          <p:cNvPr id="15" name="Text 13"/>
          <p:cNvSpPr/>
          <p:nvPr/>
        </p:nvSpPr>
        <p:spPr>
          <a:xfrm>
            <a:off x="990600" y="4154804"/>
            <a:ext cx="27469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SePay, ví, AI, marketing</a:t>
            </a:r>
            <a:endParaRPr lang="en-US" sz="1200" dirty="0"/>
          </a:p>
        </p:txBody>
      </p:sp>
      <p:sp>
        <p:nvSpPr>
          <p:cNvPr id="16" name="Text 14"/>
          <p:cNvSpPr/>
          <p:nvPr/>
        </p:nvSpPr>
        <p:spPr>
          <a:xfrm>
            <a:off x="990600" y="4535804"/>
            <a:ext cx="27469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Kiểm thử tải, nghiệm thu</a:t>
            </a:r>
            <a:endParaRPr lang="en-US" sz="1200" dirty="0"/>
          </a:p>
        </p:txBody>
      </p:sp>
      <p:sp>
        <p:nvSpPr>
          <p:cNvPr id="17" name="Shape 15"/>
          <p:cNvSpPr/>
          <p:nvPr/>
        </p:nvSpPr>
        <p:spPr>
          <a:xfrm>
            <a:off x="3746472" y="2224379"/>
            <a:ext cx="349195" cy="228600"/>
          </a:xfrm>
          <a:prstGeom prst="roundRect">
            <a:avLst>
              <a:gd name="adj" fmla="val 50000"/>
            </a:avLst>
          </a:prstGeom>
          <a:gradFill rotWithShape="1">
            <a:gsLst>
              <a:gs pos="0">
                <a:srgbClr val="C9D8E0"/>
              </a:gs>
              <a:gs pos="100000">
                <a:srgbClr val="8FA8B5"/>
              </a:gs>
            </a:gsLst>
            <a:lin ang="0" scaled="0"/>
          </a:gradFill>
          <a:ln/>
        </p:spPr>
      </p:sp>
      <p:sp>
        <p:nvSpPr>
          <p:cNvPr id="18" name="Shape 16"/>
          <p:cNvSpPr/>
          <p:nvPr/>
        </p:nvSpPr>
        <p:spPr>
          <a:xfrm>
            <a:off x="4095750" y="2605379"/>
            <a:ext cx="888972" cy="228600"/>
          </a:xfrm>
          <a:prstGeom prst="roundRect">
            <a:avLst>
              <a:gd name="adj" fmla="val 50000"/>
            </a:avLst>
          </a:prstGeom>
          <a:gradFill rotWithShape="1">
            <a:gsLst>
              <a:gs pos="0">
                <a:srgbClr val="135A79"/>
              </a:gs>
              <a:gs pos="100000">
                <a:srgbClr val="0D2636"/>
              </a:gs>
            </a:gsLst>
            <a:lin ang="0" scaled="0"/>
          </a:gradFill>
          <a:ln/>
        </p:spPr>
      </p:sp>
      <p:sp>
        <p:nvSpPr>
          <p:cNvPr id="19" name="Shape 17"/>
          <p:cNvSpPr/>
          <p:nvPr/>
        </p:nvSpPr>
        <p:spPr>
          <a:xfrm>
            <a:off x="4444945" y="2986379"/>
            <a:ext cx="1066800" cy="228600"/>
          </a:xfrm>
          <a:prstGeom prst="roundRect">
            <a:avLst>
              <a:gd name="adj" fmla="val 50000"/>
            </a:avLst>
          </a:prstGeom>
          <a:gradFill rotWithShape="1">
            <a:gsLst>
              <a:gs pos="0">
                <a:srgbClr val="5ED6F8"/>
              </a:gs>
              <a:gs pos="100000">
                <a:srgbClr val="0394C9"/>
              </a:gs>
            </a:gsLst>
            <a:lin ang="0" scaled="0"/>
          </a:gradFill>
          <a:ln/>
        </p:spPr>
      </p:sp>
      <p:sp>
        <p:nvSpPr>
          <p:cNvPr id="20" name="Shape 18"/>
          <p:cNvSpPr/>
          <p:nvPr/>
        </p:nvSpPr>
        <p:spPr>
          <a:xfrm>
            <a:off x="4984723" y="3367379"/>
            <a:ext cx="888972" cy="228600"/>
          </a:xfrm>
          <a:prstGeom prst="roundRect">
            <a:avLst>
              <a:gd name="adj" fmla="val 50000"/>
            </a:avLst>
          </a:prstGeom>
          <a:gradFill rotWithShape="1">
            <a:gsLst>
              <a:gs pos="0">
                <a:srgbClr val="135A79"/>
              </a:gs>
              <a:gs pos="100000">
                <a:srgbClr val="0D2636"/>
              </a:gs>
            </a:gsLst>
            <a:lin ang="0" scaled="0"/>
          </a:gradFill>
          <a:ln/>
        </p:spPr>
      </p:sp>
      <p:sp>
        <p:nvSpPr>
          <p:cNvPr id="21" name="Shape 19"/>
          <p:cNvSpPr/>
          <p:nvPr/>
        </p:nvSpPr>
        <p:spPr>
          <a:xfrm>
            <a:off x="5873695" y="3748379"/>
            <a:ext cx="539695" cy="228600"/>
          </a:xfrm>
          <a:prstGeom prst="roundRect">
            <a:avLst>
              <a:gd name="adj" fmla="val 50000"/>
            </a:avLst>
          </a:prstGeom>
          <a:gradFill rotWithShape="1">
            <a:gsLst>
              <a:gs pos="0">
                <a:srgbClr val="C9D8E0"/>
              </a:gs>
              <a:gs pos="100000">
                <a:srgbClr val="8FA8B5"/>
              </a:gs>
            </a:gsLst>
            <a:lin ang="0" scaled="0"/>
          </a:gradFill>
          <a:ln/>
        </p:spPr>
      </p:sp>
      <p:sp>
        <p:nvSpPr>
          <p:cNvPr id="22" name="Shape 20"/>
          <p:cNvSpPr/>
          <p:nvPr/>
        </p:nvSpPr>
        <p:spPr>
          <a:xfrm>
            <a:off x="6432523" y="4129379"/>
            <a:ext cx="3555972" cy="228600"/>
          </a:xfrm>
          <a:prstGeom prst="roundRect">
            <a:avLst>
              <a:gd name="adj" fmla="val 50000"/>
            </a:avLst>
          </a:prstGeom>
          <a:gradFill rotWithShape="1">
            <a:gsLst>
              <a:gs pos="0">
                <a:srgbClr val="F6E2BD"/>
              </a:gs>
              <a:gs pos="100000">
                <a:srgbClr val="D9AE6F"/>
              </a:gs>
            </a:gsLst>
            <a:lin ang="0" scaled="0"/>
          </a:gradFill>
          <a:ln/>
        </p:spPr>
      </p:sp>
      <p:sp>
        <p:nvSpPr>
          <p:cNvPr id="23" name="Shape 21"/>
          <p:cNvSpPr/>
          <p:nvPr/>
        </p:nvSpPr>
        <p:spPr>
          <a:xfrm>
            <a:off x="9988496" y="4510379"/>
            <a:ext cx="1206445" cy="228600"/>
          </a:xfrm>
          <a:prstGeom prst="roundRect">
            <a:avLst>
              <a:gd name="adj" fmla="val 50000"/>
            </a:avLst>
          </a:prstGeom>
          <a:gradFill rotWithShape="1">
            <a:gsLst>
              <a:gs pos="0">
                <a:srgbClr val="FEEF2E"/>
              </a:gs>
              <a:gs pos="100000">
                <a:srgbClr val="EDC68E"/>
              </a:gs>
            </a:gsLst>
            <a:lin ang="0" scaled="0"/>
          </a:gradFill>
          <a:ln/>
        </p:spPr>
      </p:sp>
      <p:pic>
        <p:nvPicPr>
          <p:cNvPr id="24" name="Image 0" descr="AVI Group">    </p:cNvPr>
          <p:cNvPicPr>
            <a:picLocks noChangeAspect="1"/>
          </p:cNvPicPr>
          <p:nvPr/>
        </p:nvPicPr>
        <p:blipFill>
          <a:blip r:embed="rId1"/>
          <a:srcRect l="-5" r="-5" t="0" b="0"/>
          <a:stretch/>
        </p:blipFill>
        <p:spPr>
          <a:xfrm>
            <a:off x="762000" y="6324681"/>
            <a:ext cx="419100" cy="279372"/>
          </a:xfrm>
          <a:prstGeom prst="rect">
            <a:avLst/>
          </a:prstGeom>
        </p:spPr>
      </p:pic>
      <p:sp>
        <p:nvSpPr>
          <p:cNvPr id="25" name="Text 22"/>
          <p:cNvSpPr/>
          <p:nvPr/>
        </p:nvSpPr>
        <p:spPr>
          <a:xfrm>
            <a:off x="1269972" y="6339836"/>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Đội 4 người · mục tiêu 200 shop vào tháng 1/2027 · máy dự phòng nóng trước 14/2/2027 · ngày bắt đầu theo hợp đồng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F4EEE3"/>
              </a:gs>
              <a:gs pos="100000">
                <a:srgbClr val="FBF8F2"/>
              </a:gs>
            </a:gsLst>
            <a:lin ang="5400000" scaled="0"/>
          </a:gradFill>
          <a:ln/>
        </p:spPr>
      </p:sp>
      <p:sp>
        <p:nvSpPr>
          <p:cNvPr id="3" name="Text 1"/>
          <p:cNvSpPr/>
          <p:nvPr/>
        </p:nvSpPr>
        <p:spPr>
          <a:xfrm>
            <a:off x="762000" y="660363"/>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ĐỘI NGŨ ĐỒNG HÀNH</a:t>
            </a:r>
            <a:endParaRPr lang="en-US" sz="1200" dirty="0"/>
          </a:p>
        </p:txBody>
      </p:sp>
      <p:sp>
        <p:nvSpPr>
          <p:cNvPr id="4" name="Text 2"/>
          <p:cNvSpPr/>
          <p:nvPr>
            <p:ph type="title"/>
          </p:nvPr>
        </p:nvSpPr>
        <p:spPr>
          <a:xfrm>
            <a:off x="762000" y="962596"/>
            <a:ext cx="10988041" cy="4236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0D2636"/>
                </a:solidFill>
                <a:latin typeface="Playfair Display" pitchFamily="18" charset="0"/>
                <a:ea typeface="Playfair Display" pitchFamily="18" charset="-122"/>
                <a:cs typeface="Playfair Display" pitchFamily="18" charset="-120"/>
              </a:rPr>
              <a:t>Bốn người làm giai đoạn 1, gọn nhẹ khi vận hành</a:t>
            </a:r>
            <a:endParaRPr lang="en-US" sz="2800" dirty="0"/>
          </a:p>
        </p:txBody>
      </p:sp>
      <p:sp>
        <p:nvSpPr>
          <p:cNvPr id="5" name="Shape 3"/>
          <p:cNvSpPr/>
          <p:nvPr/>
        </p:nvSpPr>
        <p:spPr>
          <a:xfrm>
            <a:off x="762000" y="1449698"/>
            <a:ext cx="6096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2000" y="1741748"/>
            <a:ext cx="3447305" cy="1938296"/>
          </a:xfrm>
          <a:prstGeom prst="roundRect">
            <a:avLst>
              <a:gd name="adj" fmla="val 7207"/>
            </a:avLst>
          </a:prstGeom>
          <a:gradFill rotWithShape="1">
            <a:gsLst>
              <a:gs pos="0">
                <a:srgbClr val="0D2636"/>
              </a:gs>
              <a:gs pos="100000">
                <a:srgbClr val="135A79"/>
              </a:gs>
            </a:gsLst>
            <a:lin ang="3600000" scaled="0"/>
          </a:gradFill>
          <a:ln/>
          <a:effectLst>
            <a:outerShdw sx="100000" sy="100000" kx="0" ky="0" algn="bl" rotWithShape="0" blurRad="279400" dist="127000" dir="5400000">
              <a:srgbClr val="0D2636">
                <a:alpha val="22000"/>
              </a:srgbClr>
            </a:outerShdw>
          </a:effectLst>
        </p:spPr>
      </p:sp>
      <p:pic>
        <p:nvPicPr>
          <p:cNvPr id="7" name="Image 0" descr="Users">    </p:cNvPr>
          <p:cNvPicPr>
            <a:picLocks noChangeAspect="1"/>
          </p:cNvPicPr>
          <p:nvPr/>
        </p:nvPicPr>
        <p:blipFill>
          <a:blip r:embed="rId1"/>
          <a:srcRect l="0" r="0" t="0" b="0"/>
          <a:stretch/>
        </p:blipFill>
        <p:spPr>
          <a:xfrm>
            <a:off x="990600" y="1970348"/>
            <a:ext cx="304800" cy="304800"/>
          </a:xfrm>
          <a:prstGeom prst="rect">
            <a:avLst/>
          </a:prstGeom>
        </p:spPr>
      </p:pic>
      <p:sp>
        <p:nvSpPr>
          <p:cNvPr id="8" name="Text 5"/>
          <p:cNvSpPr/>
          <p:nvPr/>
        </p:nvSpPr>
        <p:spPr>
          <a:xfrm>
            <a:off x="990600" y="2364011"/>
            <a:ext cx="30798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DC68E"/>
                </a:solidFill>
                <a:latin typeface="Be Vietnam Pro" pitchFamily="34" charset="0"/>
                <a:ea typeface="Be Vietnam Pro" pitchFamily="34" charset="-122"/>
                <a:cs typeface="Be Vietnam Pro" pitchFamily="34" charset="-120"/>
              </a:rPr>
              <a:t>1 · SENIOR</a:t>
            </a:r>
            <a:endParaRPr lang="en-US" sz="1200" dirty="0"/>
          </a:p>
        </p:txBody>
      </p:sp>
      <p:sp>
        <p:nvSpPr>
          <p:cNvPr id="9" name="Text 6"/>
          <p:cNvSpPr/>
          <p:nvPr/>
        </p:nvSpPr>
        <p:spPr>
          <a:xfrm>
            <a:off x="990600" y="2666243"/>
            <a:ext cx="3079808"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3EA"/>
                </a:solidFill>
                <a:latin typeface="Be Vietnam Pro" pitchFamily="34" charset="0"/>
                <a:ea typeface="Be Vietnam Pro" pitchFamily="34" charset="-122"/>
                <a:cs typeface="Be Vietnam Pro" pitchFamily="34" charset="-120"/>
              </a:rPr>
              <a:t>BA Lead</a:t>
            </a:r>
            <a:endParaRPr lang="en-US" sz="1600" dirty="0"/>
          </a:p>
        </p:txBody>
      </p:sp>
      <p:sp>
        <p:nvSpPr>
          <p:cNvPr id="10" name="Text 7"/>
          <p:cNvSpPr/>
          <p:nvPr/>
        </p:nvSpPr>
        <p:spPr>
          <a:xfrm>
            <a:off x="990600" y="2998874"/>
            <a:ext cx="3079808"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AE3"/>
                </a:solidFill>
                <a:latin typeface="Be Vietnam Pro" pitchFamily="34" charset="0"/>
                <a:ea typeface="Be Vietnam Pro" pitchFamily="34" charset="-122"/>
                <a:cs typeface="Be Vietnam Pro" pitchFamily="34" charset="-120"/>
              </a:rPr>
              <a:t>Người đề xuất trực tiếp làm: phân tích, thiết kế giải pháp, điều phối, nghiệm thu</a:t>
            </a:r>
            <a:endParaRPr lang="en-US" sz="1200" dirty="0"/>
          </a:p>
        </p:txBody>
      </p:sp>
      <p:sp>
        <p:nvSpPr>
          <p:cNvPr id="11" name="Shape 8"/>
          <p:cNvSpPr/>
          <p:nvPr/>
        </p:nvSpPr>
        <p:spPr>
          <a:xfrm>
            <a:off x="4364880" y="1744923"/>
            <a:ext cx="3451639" cy="1931946"/>
          </a:xfrm>
          <a:prstGeom prst="roundRect">
            <a:avLst>
              <a:gd name="adj" fmla="val 7067"/>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pic>
        <p:nvPicPr>
          <p:cNvPr id="12" name="Image 1" descr="Code">    </p:cNvPr>
          <p:cNvPicPr>
            <a:picLocks noChangeAspect="1"/>
          </p:cNvPicPr>
          <p:nvPr/>
        </p:nvPicPr>
        <p:blipFill>
          <a:blip r:embed="rId2"/>
          <a:srcRect l="0" r="0" t="0" b="0"/>
          <a:stretch/>
        </p:blipFill>
        <p:spPr>
          <a:xfrm>
            <a:off x="4595606" y="1975644"/>
            <a:ext cx="304800" cy="304800"/>
          </a:xfrm>
          <a:prstGeom prst="rect">
            <a:avLst/>
          </a:prstGeom>
        </p:spPr>
      </p:pic>
      <p:sp>
        <p:nvSpPr>
          <p:cNvPr id="13" name="Text 9"/>
          <p:cNvSpPr/>
          <p:nvPr/>
        </p:nvSpPr>
        <p:spPr>
          <a:xfrm>
            <a:off x="4595606" y="2369319"/>
            <a:ext cx="307989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66E96"/>
                </a:solidFill>
                <a:latin typeface="Be Vietnam Pro" pitchFamily="34" charset="0"/>
                <a:ea typeface="Be Vietnam Pro" pitchFamily="34" charset="-122"/>
                <a:cs typeface="Be Vietnam Pro" pitchFamily="34" charset="-120"/>
              </a:rPr>
              <a:t>2 · MIDDLE → SENIOR</a:t>
            </a:r>
            <a:endParaRPr lang="en-US" sz="1200" dirty="0"/>
          </a:p>
        </p:txBody>
      </p:sp>
      <p:sp>
        <p:nvSpPr>
          <p:cNvPr id="14" name="Text 10"/>
          <p:cNvSpPr/>
          <p:nvPr/>
        </p:nvSpPr>
        <p:spPr>
          <a:xfrm>
            <a:off x="4595606" y="2671552"/>
            <a:ext cx="3079893"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636"/>
                </a:solidFill>
                <a:latin typeface="Be Vietnam Pro" pitchFamily="34" charset="0"/>
                <a:ea typeface="Be Vietnam Pro" pitchFamily="34" charset="-122"/>
                <a:cs typeface="Be Vietnam Pro" pitchFamily="34" charset="-120"/>
              </a:rPr>
              <a:t>Developer</a:t>
            </a:r>
            <a:endParaRPr lang="en-US" sz="1600" dirty="0"/>
          </a:p>
        </p:txBody>
      </p:sp>
      <p:sp>
        <p:nvSpPr>
          <p:cNvPr id="15" name="Text 11"/>
          <p:cNvSpPr/>
          <p:nvPr/>
        </p:nvSpPr>
        <p:spPr>
          <a:xfrm>
            <a:off x="4595606" y="3004183"/>
            <a:ext cx="307989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Node.js, Next.js, tích hợp; làm bán thời gian, lịch quy đổi theo MD thực tế</a:t>
            </a:r>
            <a:endParaRPr lang="en-US" sz="1200" dirty="0"/>
          </a:p>
        </p:txBody>
      </p:sp>
      <p:sp>
        <p:nvSpPr>
          <p:cNvPr id="16" name="Shape 12"/>
          <p:cNvSpPr/>
          <p:nvPr/>
        </p:nvSpPr>
        <p:spPr>
          <a:xfrm>
            <a:off x="7975269" y="1744923"/>
            <a:ext cx="3451556" cy="1931946"/>
          </a:xfrm>
          <a:prstGeom prst="roundRect">
            <a:avLst>
              <a:gd name="adj" fmla="val 7067"/>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pic>
        <p:nvPicPr>
          <p:cNvPr id="17" name="Image 2" descr="Verified">    </p:cNvPr>
          <p:cNvPicPr>
            <a:picLocks noChangeAspect="1"/>
          </p:cNvPicPr>
          <p:nvPr/>
        </p:nvPicPr>
        <p:blipFill>
          <a:blip r:embed="rId3"/>
          <a:srcRect l="0" r="0" t="0" b="0"/>
          <a:stretch/>
        </p:blipFill>
        <p:spPr>
          <a:xfrm>
            <a:off x="8205995" y="1975644"/>
            <a:ext cx="304800" cy="304800"/>
          </a:xfrm>
          <a:prstGeom prst="rect">
            <a:avLst/>
          </a:prstGeom>
        </p:spPr>
      </p:pic>
      <p:sp>
        <p:nvSpPr>
          <p:cNvPr id="18" name="Text 13"/>
          <p:cNvSpPr/>
          <p:nvPr/>
        </p:nvSpPr>
        <p:spPr>
          <a:xfrm>
            <a:off x="8205995" y="2369319"/>
            <a:ext cx="307980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12"/>
                </a:solidFill>
                <a:latin typeface="Be Vietnam Pro" pitchFamily="34" charset="0"/>
                <a:ea typeface="Be Vietnam Pro" pitchFamily="34" charset="-122"/>
                <a:cs typeface="Be Vietnam Pro" pitchFamily="34" charset="-120"/>
              </a:rPr>
              <a:t>1 · JUNIOR → MIDDLE</a:t>
            </a:r>
            <a:endParaRPr lang="en-US" sz="1200" dirty="0"/>
          </a:p>
        </p:txBody>
      </p:sp>
      <p:sp>
        <p:nvSpPr>
          <p:cNvPr id="19" name="Text 14"/>
          <p:cNvSpPr/>
          <p:nvPr/>
        </p:nvSpPr>
        <p:spPr>
          <a:xfrm>
            <a:off x="8205995" y="2671552"/>
            <a:ext cx="3079808" cy="26915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D2636"/>
                </a:solidFill>
                <a:latin typeface="Be Vietnam Pro" pitchFamily="34" charset="0"/>
                <a:ea typeface="Be Vietnam Pro" pitchFamily="34" charset="-122"/>
                <a:cs typeface="Be Vietnam Pro" pitchFamily="34" charset="-120"/>
              </a:rPr>
              <a:t>Tester, hỗ trợ</a:t>
            </a:r>
            <a:endParaRPr lang="en-US" sz="1600" dirty="0"/>
          </a:p>
        </p:txBody>
      </p:sp>
      <p:sp>
        <p:nvSpPr>
          <p:cNvPr id="20" name="Text 15"/>
          <p:cNvSpPr/>
          <p:nvPr/>
        </p:nvSpPr>
        <p:spPr>
          <a:xfrm>
            <a:off x="8205995" y="3004183"/>
            <a:ext cx="3079808"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Kiểm thử liên tục từ ngày 4, kiểm thử tích hợp, hỗ trợ vận hành</a:t>
            </a:r>
            <a:endParaRPr lang="en-US" sz="1200" dirty="0"/>
          </a:p>
        </p:txBody>
      </p:sp>
      <p:sp>
        <p:nvSpPr>
          <p:cNvPr id="21" name="Shape 16"/>
          <p:cNvSpPr/>
          <p:nvPr/>
        </p:nvSpPr>
        <p:spPr>
          <a:xfrm>
            <a:off x="765175" y="3937161"/>
            <a:ext cx="3485432" cy="514626"/>
          </a:xfrm>
          <a:prstGeom prst="roundRect">
            <a:avLst>
              <a:gd name="adj" fmla="val 21593"/>
            </a:avLst>
          </a:prstGeom>
          <a:solidFill>
            <a:srgbClr val="FFFFFF"/>
          </a:solidFill>
          <a:ln w="6350">
            <a:solidFill>
              <a:srgbClr val="EFE4D2"/>
            </a:solidFill>
            <a:prstDash val="solid"/>
          </a:ln>
        </p:spPr>
      </p:sp>
      <p:sp>
        <p:nvSpPr>
          <p:cNvPr id="22" name="Text 17"/>
          <p:cNvSpPr/>
          <p:nvPr/>
        </p:nvSpPr>
        <p:spPr>
          <a:xfrm>
            <a:off x="957801" y="4078932"/>
            <a:ext cx="1082769" cy="25648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D2636"/>
                </a:solidFill>
                <a:latin typeface="Be Vietnam Pro" pitchFamily="34" charset="0"/>
                <a:ea typeface="Be Vietnam Pro" pitchFamily="34" charset="-122"/>
                <a:cs typeface="Be Vietnam Pro" pitchFamily="34" charset="-120"/>
              </a:rPr>
              <a:t>Giai đoạn 1</a:t>
            </a:r>
            <a:endParaRPr lang="en-US" sz="1300" dirty="0"/>
          </a:p>
        </p:txBody>
      </p:sp>
      <p:sp>
        <p:nvSpPr>
          <p:cNvPr id="23" name="Text 18"/>
          <p:cNvSpPr/>
          <p:nvPr/>
        </p:nvSpPr>
        <p:spPr>
          <a:xfrm>
            <a:off x="3315727" y="4078932"/>
            <a:ext cx="742254" cy="256485"/>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66E96"/>
                </a:solidFill>
                <a:latin typeface="Be Vietnam Pro" pitchFamily="34" charset="0"/>
                <a:ea typeface="Be Vietnam Pro" pitchFamily="34" charset="-122"/>
                <a:cs typeface="Be Vietnam Pro" pitchFamily="34" charset="-120"/>
              </a:rPr>
              <a:t>4 người</a:t>
            </a:r>
            <a:endParaRPr lang="en-US" sz="1300" dirty="0"/>
          </a:p>
        </p:txBody>
      </p:sp>
      <p:sp>
        <p:nvSpPr>
          <p:cNvPr id="24" name="Shape 19"/>
          <p:cNvSpPr/>
          <p:nvPr/>
        </p:nvSpPr>
        <p:spPr>
          <a:xfrm>
            <a:off x="4358502" y="3937161"/>
            <a:ext cx="3485515" cy="514626"/>
          </a:xfrm>
          <a:prstGeom prst="roundRect">
            <a:avLst>
              <a:gd name="adj" fmla="val 21593"/>
            </a:avLst>
          </a:prstGeom>
          <a:solidFill>
            <a:srgbClr val="FFFFFF"/>
          </a:solidFill>
          <a:ln w="6350">
            <a:solidFill>
              <a:srgbClr val="EFE4D2"/>
            </a:solidFill>
            <a:prstDash val="solid"/>
          </a:ln>
        </p:spPr>
      </p:sp>
      <p:sp>
        <p:nvSpPr>
          <p:cNvPr id="25" name="Text 20"/>
          <p:cNvSpPr/>
          <p:nvPr/>
        </p:nvSpPr>
        <p:spPr>
          <a:xfrm>
            <a:off x="4551128" y="4078932"/>
            <a:ext cx="1828204" cy="25648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D2636"/>
                </a:solidFill>
                <a:latin typeface="Be Vietnam Pro" pitchFamily="34" charset="0"/>
                <a:ea typeface="Be Vietnam Pro" pitchFamily="34" charset="-122"/>
                <a:cs typeface="Be Vietnam Pro" pitchFamily="34" charset="-120"/>
              </a:rPr>
              <a:t>Vận hành PA1, PA2</a:t>
            </a:r>
            <a:endParaRPr lang="en-US" sz="1300" dirty="0"/>
          </a:p>
        </p:txBody>
      </p:sp>
      <p:sp>
        <p:nvSpPr>
          <p:cNvPr id="26" name="Text 21"/>
          <p:cNvSpPr/>
          <p:nvPr/>
        </p:nvSpPr>
        <p:spPr>
          <a:xfrm>
            <a:off x="6512168" y="4078932"/>
            <a:ext cx="1139223" cy="256485"/>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066E96"/>
                </a:solidFill>
                <a:latin typeface="Be Vietnam Pro" pitchFamily="34" charset="0"/>
                <a:ea typeface="Be Vietnam Pro" pitchFamily="34" charset="-122"/>
                <a:cs typeface="Be Vietnam Pro" pitchFamily="34" charset="-120"/>
              </a:rPr>
              <a:t>1 dev + 1 BA</a:t>
            </a:r>
            <a:endParaRPr lang="en-US" sz="1300" dirty="0"/>
          </a:p>
        </p:txBody>
      </p:sp>
      <p:sp>
        <p:nvSpPr>
          <p:cNvPr id="27" name="Shape 22"/>
          <p:cNvSpPr/>
          <p:nvPr/>
        </p:nvSpPr>
        <p:spPr>
          <a:xfrm>
            <a:off x="7948737" y="3933986"/>
            <a:ext cx="3481263" cy="520976"/>
          </a:xfrm>
          <a:prstGeom prst="roundRect">
            <a:avLst>
              <a:gd name="adj" fmla="val 21940"/>
            </a:avLst>
          </a:prstGeom>
          <a:gradFill rotWithShape="1">
            <a:gsLst>
              <a:gs pos="0">
                <a:srgbClr val="FFF8D6"/>
              </a:gs>
              <a:gs pos="100000">
                <a:srgbClr val="F6E2BD"/>
              </a:gs>
            </a:gsLst>
            <a:lin ang="2700000" scaled="0"/>
          </a:gradFill>
          <a:ln/>
        </p:spPr>
      </p:sp>
      <p:sp>
        <p:nvSpPr>
          <p:cNvPr id="28" name="Text 23"/>
          <p:cNvSpPr/>
          <p:nvPr/>
        </p:nvSpPr>
        <p:spPr>
          <a:xfrm>
            <a:off x="8139237" y="4078932"/>
            <a:ext cx="1220028" cy="25648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D2636"/>
                </a:solidFill>
                <a:latin typeface="Be Vietnam Pro" pitchFamily="34" charset="0"/>
                <a:ea typeface="Be Vietnam Pro" pitchFamily="34" charset="-122"/>
                <a:cs typeface="Be Vietnam Pro" pitchFamily="34" charset="-120"/>
              </a:rPr>
              <a:t>Phương án 3</a:t>
            </a:r>
            <a:endParaRPr lang="en-US" sz="1300" dirty="0"/>
          </a:p>
        </p:txBody>
      </p:sp>
      <p:sp>
        <p:nvSpPr>
          <p:cNvPr id="29" name="Text 24"/>
          <p:cNvSpPr/>
          <p:nvPr/>
        </p:nvSpPr>
        <p:spPr>
          <a:xfrm>
            <a:off x="10177306" y="4078932"/>
            <a:ext cx="1062195" cy="256485"/>
          </a:xfrm>
          <a:prstGeom prst="rect">
            <a:avLst/>
          </a:prstGeom>
          <a:noFill/>
          <a:ln/>
        </p:spPr>
        <p:txBody>
          <a:bodyPr wrap="square" lIns="0" tIns="0" rIns="0" bIns="0" rtlCol="0" anchor="t">
            <a:normAutofit/>
          </a:bodyPr>
          <a:lstStyle/>
          <a:p>
            <a:pPr algn="r" indent="0" marL="0">
              <a:lnSpc>
                <a:spcPts val="1820"/>
              </a:lnSpc>
              <a:buNone/>
            </a:pPr>
            <a:r>
              <a:rPr lang="en-US" sz="1300" b="1" dirty="0">
                <a:solidFill>
                  <a:srgbClr val="8A5A12"/>
                </a:solidFill>
                <a:latin typeface="Be Vietnam Pro" pitchFamily="34" charset="0"/>
                <a:ea typeface="Be Vietnam Pro" pitchFamily="34" charset="-122"/>
                <a:cs typeface="Be Vietnam Pro" pitchFamily="34" charset="-120"/>
              </a:rPr>
              <a:t>Đủ 4 người</a:t>
            </a:r>
            <a:endParaRPr lang="en-US" sz="1300" dirty="0"/>
          </a:p>
        </p:txBody>
      </p:sp>
      <p:pic>
        <p:nvPicPr>
          <p:cNvPr id="30" name="Image 3" descr="AVI Group">    </p:cNvPr>
          <p:cNvPicPr>
            <a:picLocks noChangeAspect="1"/>
          </p:cNvPicPr>
          <p:nvPr/>
        </p:nvPicPr>
        <p:blipFill>
          <a:blip r:embed="rId4"/>
          <a:srcRect l="-5" r="-5" t="0" b="0"/>
          <a:stretch/>
        </p:blipFill>
        <p:spPr>
          <a:xfrm>
            <a:off x="762000" y="6324674"/>
            <a:ext cx="419100" cy="279372"/>
          </a:xfrm>
          <a:prstGeom prst="rect">
            <a:avLst/>
          </a:prstGeom>
        </p:spPr>
      </p:pic>
      <p:sp>
        <p:nvSpPr>
          <p:cNvPr id="31" name="Text 25"/>
          <p:cNvSpPr/>
          <p:nvPr/>
        </p:nvSpPr>
        <p:spPr>
          <a:xfrm>
            <a:off x="1269972" y="6339830"/>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Kế hoạch 6 tuần tính trên 60 MD dev; dev bán thời gian thì lịch kéo dài tương ứng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62000" y="660363"/>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HẠ TẦNG VÀ BÊN THỨ BA</a:t>
            </a:r>
            <a:endParaRPr lang="en-US" sz="1200" dirty="0"/>
          </a:p>
        </p:txBody>
      </p:sp>
      <p:sp>
        <p:nvSpPr>
          <p:cNvPr id="3" name="Text 1"/>
          <p:cNvSpPr/>
          <p:nvPr>
            <p:ph type="title"/>
          </p:nvPr>
        </p:nvSpPr>
        <p:spPr>
          <a:xfrm>
            <a:off x="762000" y="962596"/>
            <a:ext cx="10988041" cy="4236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0D2636"/>
                </a:solidFill>
                <a:latin typeface="Playfair Display" pitchFamily="18" charset="0"/>
                <a:ea typeface="Playfair Display" pitchFamily="18" charset="-122"/>
                <a:cs typeface="Playfair Display" pitchFamily="18" charset="-120"/>
              </a:rPr>
              <a:t>Máy chủ đã sẵn, Avi trả trực tiếp phí dịch vụ ngoài</a:t>
            </a:r>
            <a:endParaRPr lang="en-US" sz="2800" dirty="0"/>
          </a:p>
        </p:txBody>
      </p:sp>
      <p:sp>
        <p:nvSpPr>
          <p:cNvPr id="4" name="Shape 2"/>
          <p:cNvSpPr/>
          <p:nvPr/>
        </p:nvSpPr>
        <p:spPr>
          <a:xfrm>
            <a:off x="762000" y="1449698"/>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2000" y="1741748"/>
            <a:ext cx="3555972" cy="3253492"/>
          </a:xfrm>
          <a:prstGeom prst="roundRect">
            <a:avLst>
              <a:gd name="adj" fmla="val 4294"/>
            </a:avLst>
          </a:prstGeom>
          <a:gradFill rotWithShape="1">
            <a:gsLst>
              <a:gs pos="0">
                <a:srgbClr val="0D2636"/>
              </a:gs>
              <a:gs pos="100000">
                <a:srgbClr val="135A79"/>
              </a:gs>
            </a:gsLst>
            <a:lin ang="3600000" scaled="0"/>
          </a:gradFill>
          <a:ln/>
          <a:effectLst>
            <a:outerShdw sx="100000" sy="100000" kx="0" ky="0" algn="bl" rotWithShape="0" blurRad="279400" dist="127000" dir="5400000">
              <a:srgbClr val="0D2636">
                <a:alpha val="22000"/>
              </a:srgbClr>
            </a:outerShdw>
          </a:effectLst>
        </p:spPr>
      </p:sp>
      <p:sp>
        <p:nvSpPr>
          <p:cNvPr id="6" name="Text 4"/>
          <p:cNvSpPr/>
          <p:nvPr/>
        </p:nvSpPr>
        <p:spPr>
          <a:xfrm>
            <a:off x="1015945" y="1995686"/>
            <a:ext cx="313952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DC68E"/>
                </a:solidFill>
                <a:latin typeface="Be Vietnam Pro" pitchFamily="34" charset="0"/>
                <a:ea typeface="Be Vietnam Pro" pitchFamily="34" charset="-122"/>
                <a:cs typeface="Be Vietnam Pro" pitchFamily="34" charset="-120"/>
              </a:rPr>
              <a:t>MÁY CHỦ AVI ĐÃ THUÊ</a:t>
            </a:r>
            <a:endParaRPr lang="en-US" sz="1200" dirty="0"/>
          </a:p>
        </p:txBody>
      </p:sp>
      <p:sp>
        <p:nvSpPr>
          <p:cNvPr id="7" name="Text 5"/>
          <p:cNvSpPr/>
          <p:nvPr/>
        </p:nvSpPr>
        <p:spPr>
          <a:xfrm>
            <a:off x="1015945" y="2323343"/>
            <a:ext cx="313952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3EA"/>
                </a:solidFill>
                <a:latin typeface="Be Vietnam Pro" pitchFamily="34" charset="0"/>
                <a:ea typeface="Be Vietnam Pro" pitchFamily="34" charset="-122"/>
                <a:cs typeface="Be Vietnam Pro" pitchFamily="34" charset="-120"/>
              </a:rPr>
              <a:t>FPT Cloud</a:t>
            </a:r>
            <a:endParaRPr lang="en-US" sz="1700" dirty="0"/>
          </a:p>
        </p:txBody>
      </p:sp>
      <p:sp>
        <p:nvSpPr>
          <p:cNvPr id="8" name="Shape 6"/>
          <p:cNvSpPr/>
          <p:nvPr/>
        </p:nvSpPr>
        <p:spPr>
          <a:xfrm>
            <a:off x="1015945" y="2696728"/>
            <a:ext cx="1479605" cy="810205"/>
          </a:xfrm>
          <a:prstGeom prst="roundRect">
            <a:avLst>
              <a:gd name="adj" fmla="val 10973"/>
            </a:avLst>
          </a:prstGeom>
          <a:solidFill>
            <a:srgbClr val="FFFFFF">
              <a:alpha val="8000"/>
            </a:srgbClr>
          </a:solidFill>
          <a:ln/>
        </p:spPr>
      </p:sp>
      <p:sp>
        <p:nvSpPr>
          <p:cNvPr id="9" name="Text 7"/>
          <p:cNvSpPr/>
          <p:nvPr/>
        </p:nvSpPr>
        <p:spPr>
          <a:xfrm>
            <a:off x="1130245" y="2811028"/>
            <a:ext cx="1301805" cy="38097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EEF2E"/>
                </a:solidFill>
                <a:latin typeface="Be Vietnam Pro" pitchFamily="34" charset="0"/>
                <a:ea typeface="Be Vietnam Pro" pitchFamily="34" charset="-122"/>
                <a:cs typeface="Be Vietnam Pro" pitchFamily="34" charset="-120"/>
              </a:rPr>
              <a:t>8</a:t>
            </a:r>
            <a:endParaRPr lang="en-US" sz="2000" dirty="0"/>
          </a:p>
        </p:txBody>
      </p:sp>
      <p:sp>
        <p:nvSpPr>
          <p:cNvPr id="10" name="Text 8"/>
          <p:cNvSpPr/>
          <p:nvPr/>
        </p:nvSpPr>
        <p:spPr>
          <a:xfrm>
            <a:off x="1130245" y="3179279"/>
            <a:ext cx="13018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AE3"/>
                </a:solidFill>
                <a:latin typeface="Be Vietnam Pro" pitchFamily="34" charset="0"/>
                <a:ea typeface="Be Vietnam Pro" pitchFamily="34" charset="-122"/>
                <a:cs typeface="Be Vietnam Pro" pitchFamily="34" charset="-120"/>
              </a:rPr>
              <a:t>vCPU Xeon Gold</a:t>
            </a:r>
            <a:endParaRPr lang="en-US" sz="1200" dirty="0"/>
          </a:p>
        </p:txBody>
      </p:sp>
      <p:sp>
        <p:nvSpPr>
          <p:cNvPr id="11" name="Shape 9"/>
          <p:cNvSpPr/>
          <p:nvPr/>
        </p:nvSpPr>
        <p:spPr>
          <a:xfrm>
            <a:off x="2584422" y="2696728"/>
            <a:ext cx="1479605" cy="810205"/>
          </a:xfrm>
          <a:prstGeom prst="roundRect">
            <a:avLst>
              <a:gd name="adj" fmla="val 10973"/>
            </a:avLst>
          </a:prstGeom>
          <a:solidFill>
            <a:srgbClr val="FFFFFF">
              <a:alpha val="8000"/>
            </a:srgbClr>
          </a:solidFill>
          <a:ln/>
        </p:spPr>
      </p:sp>
      <p:sp>
        <p:nvSpPr>
          <p:cNvPr id="12" name="Text 10"/>
          <p:cNvSpPr/>
          <p:nvPr/>
        </p:nvSpPr>
        <p:spPr>
          <a:xfrm>
            <a:off x="2698722" y="2811028"/>
            <a:ext cx="1301805" cy="38097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EEF2E"/>
                </a:solidFill>
                <a:latin typeface="Be Vietnam Pro" pitchFamily="34" charset="0"/>
                <a:ea typeface="Be Vietnam Pro" pitchFamily="34" charset="-122"/>
                <a:cs typeface="Be Vietnam Pro" pitchFamily="34" charset="-120"/>
              </a:rPr>
              <a:t>16 GB</a:t>
            </a:r>
            <a:endParaRPr lang="en-US" sz="2000" dirty="0"/>
          </a:p>
        </p:txBody>
      </p:sp>
      <p:sp>
        <p:nvSpPr>
          <p:cNvPr id="13" name="Text 11"/>
          <p:cNvSpPr/>
          <p:nvPr/>
        </p:nvSpPr>
        <p:spPr>
          <a:xfrm>
            <a:off x="2698722" y="3179279"/>
            <a:ext cx="13018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AE3"/>
                </a:solidFill>
                <a:latin typeface="Be Vietnam Pro" pitchFamily="34" charset="0"/>
                <a:ea typeface="Be Vietnam Pro" pitchFamily="34" charset="-122"/>
                <a:cs typeface="Be Vietnam Pro" pitchFamily="34" charset="-120"/>
              </a:rPr>
              <a:t>RAM</a:t>
            </a:r>
            <a:endParaRPr lang="en-US" sz="1200" dirty="0"/>
          </a:p>
        </p:txBody>
      </p:sp>
      <p:sp>
        <p:nvSpPr>
          <p:cNvPr id="14" name="Shape 12"/>
          <p:cNvSpPr/>
          <p:nvPr/>
        </p:nvSpPr>
        <p:spPr>
          <a:xfrm>
            <a:off x="1015945" y="3595812"/>
            <a:ext cx="1479605" cy="810205"/>
          </a:xfrm>
          <a:prstGeom prst="roundRect">
            <a:avLst>
              <a:gd name="adj" fmla="val 10973"/>
            </a:avLst>
          </a:prstGeom>
          <a:solidFill>
            <a:srgbClr val="FFFFFF">
              <a:alpha val="8000"/>
            </a:srgbClr>
          </a:solidFill>
          <a:ln/>
        </p:spPr>
      </p:sp>
      <p:sp>
        <p:nvSpPr>
          <p:cNvPr id="15" name="Text 13"/>
          <p:cNvSpPr/>
          <p:nvPr/>
        </p:nvSpPr>
        <p:spPr>
          <a:xfrm>
            <a:off x="1130245" y="3710112"/>
            <a:ext cx="1301805" cy="380972"/>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EEF2E"/>
                </a:solidFill>
                <a:latin typeface="Be Vietnam Pro" pitchFamily="34" charset="0"/>
                <a:ea typeface="Be Vietnam Pro" pitchFamily="34" charset="-122"/>
                <a:cs typeface="Be Vietnam Pro" pitchFamily="34" charset="-120"/>
              </a:rPr>
              <a:t>220 GB</a:t>
            </a:r>
            <a:endParaRPr lang="en-US" sz="2000" dirty="0"/>
          </a:p>
        </p:txBody>
      </p:sp>
      <p:sp>
        <p:nvSpPr>
          <p:cNvPr id="16" name="Text 14"/>
          <p:cNvSpPr/>
          <p:nvPr/>
        </p:nvSpPr>
        <p:spPr>
          <a:xfrm>
            <a:off x="1130245" y="4078350"/>
            <a:ext cx="13018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AE3"/>
                </a:solidFill>
                <a:latin typeface="Be Vietnam Pro" pitchFamily="34" charset="0"/>
                <a:ea typeface="Be Vietnam Pro" pitchFamily="34" charset="-122"/>
                <a:cs typeface="Be Vietnam Pro" pitchFamily="34" charset="-120"/>
              </a:rPr>
              <a:t>NVMe</a:t>
            </a:r>
            <a:endParaRPr lang="en-US" sz="1200" dirty="0"/>
          </a:p>
        </p:txBody>
      </p:sp>
      <p:sp>
        <p:nvSpPr>
          <p:cNvPr id="17" name="Shape 15"/>
          <p:cNvSpPr/>
          <p:nvPr/>
        </p:nvSpPr>
        <p:spPr>
          <a:xfrm>
            <a:off x="2584422" y="3595812"/>
            <a:ext cx="1479605" cy="810205"/>
          </a:xfrm>
          <a:prstGeom prst="roundRect">
            <a:avLst>
              <a:gd name="adj" fmla="val 10973"/>
            </a:avLst>
          </a:prstGeom>
          <a:solidFill>
            <a:srgbClr val="FFFFFF">
              <a:alpha val="8000"/>
            </a:srgbClr>
          </a:solidFill>
          <a:ln/>
        </p:spPr>
      </p:sp>
      <p:sp>
        <p:nvSpPr>
          <p:cNvPr id="18" name="Text 16"/>
          <p:cNvSpPr/>
          <p:nvPr/>
        </p:nvSpPr>
        <p:spPr>
          <a:xfrm>
            <a:off x="2698722" y="3710112"/>
            <a:ext cx="130180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EEF2E"/>
                </a:solidFill>
                <a:latin typeface="Be Vietnam Pro" pitchFamily="34" charset="0"/>
                <a:ea typeface="Be Vietnam Pro" pitchFamily="34" charset="-122"/>
                <a:cs typeface="Be Vietnam Pro" pitchFamily="34" charset="-120"/>
              </a:rPr>
              <a:t>Windows</a:t>
            </a:r>
            <a:endParaRPr lang="en-US" sz="1500" dirty="0"/>
          </a:p>
        </p:txBody>
      </p:sp>
      <p:sp>
        <p:nvSpPr>
          <p:cNvPr id="19" name="Text 17"/>
          <p:cNvSpPr/>
          <p:nvPr/>
        </p:nvSpPr>
        <p:spPr>
          <a:xfrm>
            <a:off x="2698722" y="3989474"/>
            <a:ext cx="13018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AE3"/>
                </a:solidFill>
                <a:latin typeface="Be Vietnam Pro" pitchFamily="34" charset="0"/>
                <a:ea typeface="Be Vietnam Pro" pitchFamily="34" charset="-122"/>
                <a:cs typeface="Be Vietnam Pro" pitchFamily="34" charset="-120"/>
              </a:rPr>
              <a:t>Server 2022</a:t>
            </a:r>
            <a:endParaRPr lang="en-US" sz="1200" dirty="0"/>
          </a:p>
        </p:txBody>
      </p:sp>
      <p:sp>
        <p:nvSpPr>
          <p:cNvPr id="20" name="Text 18"/>
          <p:cNvSpPr/>
          <p:nvPr/>
        </p:nvSpPr>
        <p:spPr>
          <a:xfrm>
            <a:off x="1015945" y="4520307"/>
            <a:ext cx="313952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AE3"/>
                </a:solidFill>
                <a:latin typeface="Be Vietnam Pro" pitchFamily="34" charset="0"/>
                <a:ea typeface="Be Vietnam Pro" pitchFamily="34" charset="-122"/>
                <a:cs typeface="Be Vietnam Pro" pitchFamily="34" charset="-120"/>
              </a:rPr>
              <a:t>Đủ cho 200 shop kể cả ngày lễ</a:t>
            </a:r>
            <a:endParaRPr lang="en-US" sz="1200" dirty="0"/>
          </a:p>
        </p:txBody>
      </p:sp>
      <p:sp>
        <p:nvSpPr>
          <p:cNvPr id="21" name="Shape 19"/>
          <p:cNvSpPr/>
          <p:nvPr/>
        </p:nvSpPr>
        <p:spPr>
          <a:xfrm>
            <a:off x="4495717" y="1741748"/>
            <a:ext cx="3403655" cy="1563260"/>
          </a:xfrm>
          <a:prstGeom prst="roundRect">
            <a:avLst>
              <a:gd name="adj" fmla="val 8124"/>
            </a:avLst>
          </a:prstGeom>
          <a:solidFill>
            <a:srgbClr val="FFFFFF"/>
          </a:solidFill>
          <a:ln/>
          <a:effectLst>
            <a:outerShdw sx="100000" sy="100000" kx="0" ky="0" algn="bl" rotWithShape="0" blurRad="215900" dist="88900" dir="5400000">
              <a:srgbClr val="0D2636">
                <a:alpha val="7000"/>
              </a:srgbClr>
            </a:outerShdw>
          </a:effectLst>
        </p:spPr>
      </p:sp>
      <p:sp>
        <p:nvSpPr>
          <p:cNvPr id="22" name="Shape 20"/>
          <p:cNvSpPr/>
          <p:nvPr/>
        </p:nvSpPr>
        <p:spPr>
          <a:xfrm>
            <a:off x="4495717" y="1741748"/>
            <a:ext cx="3403655" cy="1563260"/>
          </a:xfrm>
          <a:custGeom>
            <a:avLst/>
            <a:gdLst/>
            <a:ahLst/>
            <a:cxnLst/>
            <a:rect l="l" t="t" r="r" b="b"/>
            <a:pathLst>
              <a:path w="3403655" h="1563260">
                <a:moveTo>
                  <a:pt x="0" y="127000"/>
                </a:moveTo>
                <a:lnTo>
                  <a:pt x="0" y="127000"/>
                </a:lnTo>
                <a:arcTo hR="127000" wR="127000" stAng="10800000" swAng="5400000"/>
                <a:lnTo>
                  <a:pt x="3276655" y="0"/>
                </a:lnTo>
                <a:arcTo hR="127000" wR="127000" stAng="16200000" swAng="5400000"/>
                <a:lnTo>
                  <a:pt x="3403655" y="127000"/>
                </a:lnTo>
                <a:arcTo hR="88900" wR="127000" stAng="0" swAng="-5400000"/>
                <a:lnTo>
                  <a:pt x="127000" y="38100"/>
                </a:lnTo>
                <a:arcTo hR="88900" wR="127000" stAng="16200000" swAng="-5400000"/>
                <a:close/>
              </a:path>
            </a:pathLst>
          </a:custGeom>
          <a:solidFill>
            <a:srgbClr val="03C2F3"/>
          </a:solidFill>
          <a:ln/>
        </p:spPr>
      </p:sp>
      <p:sp>
        <p:nvSpPr>
          <p:cNvPr id="23" name="Text 21"/>
          <p:cNvSpPr/>
          <p:nvPr/>
        </p:nvSpPr>
        <p:spPr>
          <a:xfrm>
            <a:off x="4686217" y="1969356"/>
            <a:ext cx="31133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D2636"/>
                </a:solidFill>
                <a:latin typeface="Be Vietnam Pro" pitchFamily="34" charset="0"/>
                <a:ea typeface="Be Vietnam Pro" pitchFamily="34" charset="-122"/>
                <a:cs typeface="Be Vietnam Pro" pitchFamily="34" charset="-120"/>
              </a:rPr>
              <a:t>SePay</a:t>
            </a:r>
            <a:endParaRPr lang="en-US" sz="1500" dirty="0"/>
          </a:p>
        </p:txBody>
      </p:sp>
      <p:sp>
        <p:nvSpPr>
          <p:cNvPr id="24" name="Text 22"/>
          <p:cNvSpPr/>
          <p:nvPr/>
        </p:nvSpPr>
        <p:spPr>
          <a:xfrm>
            <a:off x="4686217" y="2261394"/>
            <a:ext cx="311333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Mỗi shop tự đăng ký tài khoản riêng, phí theo gói SePay</a:t>
            </a:r>
            <a:endParaRPr lang="en-US" sz="1200" dirty="0"/>
          </a:p>
        </p:txBody>
      </p:sp>
      <p:sp>
        <p:nvSpPr>
          <p:cNvPr id="25" name="Shape 23"/>
          <p:cNvSpPr/>
          <p:nvPr/>
        </p:nvSpPr>
        <p:spPr>
          <a:xfrm>
            <a:off x="8026345" y="1741748"/>
            <a:ext cx="3403655" cy="1563260"/>
          </a:xfrm>
          <a:prstGeom prst="roundRect">
            <a:avLst>
              <a:gd name="adj" fmla="val 8124"/>
            </a:avLst>
          </a:prstGeom>
          <a:solidFill>
            <a:srgbClr val="FFFFFF"/>
          </a:solidFill>
          <a:ln/>
          <a:effectLst>
            <a:outerShdw sx="100000" sy="100000" kx="0" ky="0" algn="bl" rotWithShape="0" blurRad="215900" dist="88900" dir="5400000">
              <a:srgbClr val="0D2636">
                <a:alpha val="7000"/>
              </a:srgbClr>
            </a:outerShdw>
          </a:effectLst>
        </p:spPr>
      </p:sp>
      <p:sp>
        <p:nvSpPr>
          <p:cNvPr id="26" name="Shape 24"/>
          <p:cNvSpPr/>
          <p:nvPr/>
        </p:nvSpPr>
        <p:spPr>
          <a:xfrm>
            <a:off x="8026345" y="1741748"/>
            <a:ext cx="3403655" cy="1563260"/>
          </a:xfrm>
          <a:custGeom>
            <a:avLst/>
            <a:gdLst/>
            <a:ahLst/>
            <a:cxnLst/>
            <a:rect l="l" t="t" r="r" b="b"/>
            <a:pathLst>
              <a:path w="3403655" h="1563260">
                <a:moveTo>
                  <a:pt x="0" y="127000"/>
                </a:moveTo>
                <a:lnTo>
                  <a:pt x="0" y="127000"/>
                </a:lnTo>
                <a:arcTo hR="127000" wR="127000" stAng="10800000" swAng="5400000"/>
                <a:lnTo>
                  <a:pt x="3276655" y="0"/>
                </a:lnTo>
                <a:arcTo hR="127000" wR="127000" stAng="16200000" swAng="5400000"/>
                <a:lnTo>
                  <a:pt x="3403655" y="127000"/>
                </a:lnTo>
                <a:arcTo hR="88900" wR="127000" stAng="0" swAng="-5400000"/>
                <a:lnTo>
                  <a:pt x="127000" y="38100"/>
                </a:lnTo>
                <a:arcTo hR="88900" wR="127000" stAng="16200000" swAng="-5400000"/>
                <a:close/>
              </a:path>
            </a:pathLst>
          </a:custGeom>
          <a:solidFill>
            <a:srgbClr val="03C2F3"/>
          </a:solidFill>
          <a:ln/>
        </p:spPr>
      </p:sp>
      <p:sp>
        <p:nvSpPr>
          <p:cNvPr id="27" name="Text 25"/>
          <p:cNvSpPr/>
          <p:nvPr/>
        </p:nvSpPr>
        <p:spPr>
          <a:xfrm>
            <a:off x="8216845" y="1969356"/>
            <a:ext cx="31133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D2636"/>
                </a:solidFill>
                <a:latin typeface="Be Vietnam Pro" pitchFamily="34" charset="0"/>
                <a:ea typeface="Be Vietnam Pro" pitchFamily="34" charset="-122"/>
                <a:cs typeface="Be Vietnam Pro" pitchFamily="34" charset="-120"/>
              </a:rPr>
              <a:t>Gemini</a:t>
            </a:r>
            <a:endParaRPr lang="en-US" sz="1500" dirty="0"/>
          </a:p>
        </p:txBody>
      </p:sp>
      <p:sp>
        <p:nvSpPr>
          <p:cNvPr id="28" name="Text 26"/>
          <p:cNvSpPr/>
          <p:nvPr/>
        </p:nvSpPr>
        <p:spPr>
          <a:xfrm>
            <a:off x="8216845" y="2261394"/>
            <a:ext cx="311333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Tính theo lượt dùng; ước tính theo số shop</a:t>
            </a:r>
            <a:endParaRPr lang="en-US" sz="1200" dirty="0"/>
          </a:p>
        </p:txBody>
      </p:sp>
      <p:sp>
        <p:nvSpPr>
          <p:cNvPr id="29" name="Shape 27"/>
          <p:cNvSpPr/>
          <p:nvPr/>
        </p:nvSpPr>
        <p:spPr>
          <a:xfrm>
            <a:off x="4495717" y="3431977"/>
            <a:ext cx="3403655" cy="1563260"/>
          </a:xfrm>
          <a:prstGeom prst="roundRect">
            <a:avLst>
              <a:gd name="adj" fmla="val 8124"/>
            </a:avLst>
          </a:prstGeom>
          <a:gradFill rotWithShape="1">
            <a:gsLst>
              <a:gs pos="0">
                <a:srgbClr val="FFF8D6"/>
              </a:gs>
              <a:gs pos="100000">
                <a:srgbClr val="F6E2BD"/>
              </a:gs>
            </a:gsLst>
            <a:lin ang="2700000" scaled="0"/>
          </a:gradFill>
          <a:ln/>
        </p:spPr>
      </p:sp>
      <p:sp>
        <p:nvSpPr>
          <p:cNvPr id="30" name="Text 28"/>
          <p:cNvSpPr/>
          <p:nvPr/>
        </p:nvSpPr>
        <p:spPr>
          <a:xfrm>
            <a:off x="4686217" y="3622477"/>
            <a:ext cx="31133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D2636"/>
                </a:solidFill>
                <a:latin typeface="Be Vietnam Pro" pitchFamily="34" charset="0"/>
                <a:ea typeface="Be Vietnam Pro" pitchFamily="34" charset="-122"/>
                <a:cs typeface="Be Vietnam Pro" pitchFamily="34" charset="-120"/>
              </a:rPr>
              <a:t>Object Storage · khuyến nghị</a:t>
            </a:r>
            <a:endParaRPr lang="en-US" sz="1500" dirty="0"/>
          </a:p>
        </p:txBody>
      </p:sp>
      <p:sp>
        <p:nvSpPr>
          <p:cNvPr id="31" name="Text 29"/>
          <p:cNvSpPr/>
          <p:nvPr/>
        </p:nvSpPr>
        <p:spPr>
          <a:xfrm>
            <a:off x="4686217" y="3914527"/>
            <a:ext cx="311333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Lưu ảnh, CDN và bản backup ngoài máy chủ</a:t>
            </a:r>
            <a:endParaRPr lang="en-US" sz="1200" dirty="0"/>
          </a:p>
        </p:txBody>
      </p:sp>
      <p:sp>
        <p:nvSpPr>
          <p:cNvPr id="32" name="Shape 30"/>
          <p:cNvSpPr/>
          <p:nvPr/>
        </p:nvSpPr>
        <p:spPr>
          <a:xfrm>
            <a:off x="8026345" y="3431977"/>
            <a:ext cx="3403655" cy="1563260"/>
          </a:xfrm>
          <a:prstGeom prst="roundRect">
            <a:avLst>
              <a:gd name="adj" fmla="val 8124"/>
            </a:avLst>
          </a:prstGeom>
          <a:solidFill>
            <a:srgbClr val="FFFFFF"/>
          </a:solidFill>
          <a:ln/>
          <a:effectLst>
            <a:outerShdw sx="100000" sy="100000" kx="0" ky="0" algn="bl" rotWithShape="0" blurRad="215900" dist="88900" dir="5400000">
              <a:srgbClr val="0D2636">
                <a:alpha val="7000"/>
              </a:srgbClr>
            </a:outerShdw>
          </a:effectLst>
        </p:spPr>
      </p:sp>
      <p:sp>
        <p:nvSpPr>
          <p:cNvPr id="33" name="Shape 31"/>
          <p:cNvSpPr/>
          <p:nvPr/>
        </p:nvSpPr>
        <p:spPr>
          <a:xfrm>
            <a:off x="8026345" y="3431977"/>
            <a:ext cx="3403655" cy="1563260"/>
          </a:xfrm>
          <a:custGeom>
            <a:avLst/>
            <a:gdLst/>
            <a:ahLst/>
            <a:cxnLst/>
            <a:rect l="l" t="t" r="r" b="b"/>
            <a:pathLst>
              <a:path w="3403655" h="1563260">
                <a:moveTo>
                  <a:pt x="0" y="127000"/>
                </a:moveTo>
                <a:lnTo>
                  <a:pt x="0" y="127000"/>
                </a:lnTo>
                <a:arcTo hR="127000" wR="127000" stAng="10800000" swAng="5400000"/>
                <a:lnTo>
                  <a:pt x="3276655" y="0"/>
                </a:lnTo>
                <a:arcTo hR="127000" wR="127000" stAng="16200000" swAng="5400000"/>
                <a:lnTo>
                  <a:pt x="3403655" y="127000"/>
                </a:lnTo>
                <a:arcTo hR="88900" wR="127000" stAng="0" swAng="-5400000"/>
                <a:lnTo>
                  <a:pt x="127000" y="38100"/>
                </a:lnTo>
                <a:arcTo hR="88900" wR="127000" stAng="16200000" swAng="-5400000"/>
                <a:close/>
              </a:path>
            </a:pathLst>
          </a:custGeom>
          <a:solidFill>
            <a:srgbClr val="EDC68E"/>
          </a:solidFill>
          <a:ln/>
        </p:spPr>
      </p:sp>
      <p:sp>
        <p:nvSpPr>
          <p:cNvPr id="34" name="Text 32"/>
          <p:cNvSpPr/>
          <p:nvPr/>
        </p:nvSpPr>
        <p:spPr>
          <a:xfrm>
            <a:off x="8216845" y="3659584"/>
            <a:ext cx="31133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D2636"/>
                </a:solidFill>
                <a:latin typeface="Be Vietnam Pro" pitchFamily="34" charset="0"/>
                <a:ea typeface="Be Vietnam Pro" pitchFamily="34" charset="-122"/>
                <a:cs typeface="Be Vietnam Pro" pitchFamily="34" charset="-120"/>
              </a:rPr>
              <a:t>Khi cần</a:t>
            </a:r>
            <a:endParaRPr lang="en-US" sz="1500" dirty="0"/>
          </a:p>
        </p:txBody>
      </p:sp>
      <p:sp>
        <p:nvSpPr>
          <p:cNvPr id="35" name="Text 33"/>
          <p:cNvSpPr/>
          <p:nvPr/>
        </p:nvSpPr>
        <p:spPr>
          <a:xfrm>
            <a:off x="8216845" y="3951622"/>
            <a:ext cx="311333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Máy dự phòng nóng trước 14/2, tên miền, dịch vụ gửi email</a:t>
            </a:r>
            <a:endParaRPr lang="en-US" sz="1200" dirty="0"/>
          </a:p>
        </p:txBody>
      </p:sp>
      <p:pic>
        <p:nvPicPr>
          <p:cNvPr id="36" name="Image 0" descr="AVI Group">    </p:cNvPr>
          <p:cNvPicPr>
            <a:picLocks noChangeAspect="1"/>
          </p:cNvPicPr>
          <p:nvPr/>
        </p:nvPicPr>
        <p:blipFill>
          <a:blip r:embed="rId1"/>
          <a:srcRect l="-5" r="-5" t="0" b="0"/>
          <a:stretch/>
        </p:blipFill>
        <p:spPr>
          <a:xfrm>
            <a:off x="762000" y="6324674"/>
            <a:ext cx="419100" cy="279372"/>
          </a:xfrm>
          <a:prstGeom prst="rect">
            <a:avLst/>
          </a:prstGeom>
        </p:spPr>
      </p:pic>
      <p:sp>
        <p:nvSpPr>
          <p:cNvPr id="37" name="Text 34"/>
          <p:cNvSpPr/>
          <p:nvPr/>
        </p:nvSpPr>
        <p:spPr>
          <a:xfrm>
            <a:off x="1269972" y="6339830"/>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Các khoản trên tách khỏi phí hợp tác · giữ Windows hay chuyển Linux chốt khi gia hạn máy chủ</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EE3"/>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F4EEE3"/>
              </a:gs>
              <a:gs pos="100000">
                <a:srgbClr val="FBF8F2"/>
              </a:gs>
            </a:gsLst>
            <a:lin ang="5400000" scaled="0"/>
          </a:gradFill>
          <a:ln/>
        </p:spPr>
      </p:sp>
      <p:sp>
        <p:nvSpPr>
          <p:cNvPr id="3" name="Text 1"/>
          <p:cNvSpPr/>
          <p:nvPr/>
        </p:nvSpPr>
        <p:spPr>
          <a:xfrm>
            <a:off x="762000" y="558738"/>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RỦI RO</a:t>
            </a:r>
            <a:endParaRPr lang="en-US" sz="1200" dirty="0"/>
          </a:p>
        </p:txBody>
      </p:sp>
      <p:sp>
        <p:nvSpPr>
          <p:cNvPr id="4" name="Text 2"/>
          <p:cNvSpPr/>
          <p:nvPr>
            <p:ph type="title"/>
          </p:nvPr>
        </p:nvSpPr>
        <p:spPr>
          <a:xfrm>
            <a:off x="762000" y="860971"/>
            <a:ext cx="10988041" cy="395219"/>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0D2636"/>
                </a:solidFill>
                <a:latin typeface="Playfair Display" pitchFamily="18" charset="0"/>
                <a:ea typeface="Playfair Display" pitchFamily="18" charset="-122"/>
                <a:cs typeface="Playfair Display" pitchFamily="18" charset="-120"/>
              </a:rPr>
              <a:t>Rủi ro chính đã có phương án từ thiết kế</a:t>
            </a:r>
            <a:endParaRPr lang="en-US" sz="2600" dirty="0"/>
          </a:p>
        </p:txBody>
      </p:sp>
      <p:sp>
        <p:nvSpPr>
          <p:cNvPr id="5" name="Shape 3"/>
          <p:cNvSpPr/>
          <p:nvPr/>
        </p:nvSpPr>
        <p:spPr>
          <a:xfrm>
            <a:off x="762000" y="1319659"/>
            <a:ext cx="609600" cy="38100"/>
          </a:xfrm>
          <a:prstGeom prst="roundRect">
            <a:avLst>
              <a:gd name="adj" fmla="val 50000"/>
            </a:avLst>
          </a:prstGeom>
          <a:gradFill rotWithShape="1">
            <a:gsLst>
              <a:gs pos="0">
                <a:srgbClr val="FEEF2E"/>
              </a:gs>
              <a:gs pos="100000">
                <a:srgbClr val="EDC68E"/>
              </a:gs>
            </a:gsLst>
            <a:lin ang="0" scaled="0"/>
          </a:gradFill>
          <a:ln/>
        </p:spPr>
      </p:sp>
      <p:sp>
        <p:nvSpPr>
          <p:cNvPr id="6" name="Shape 4"/>
          <p:cNvSpPr/>
          <p:nvPr/>
        </p:nvSpPr>
        <p:spPr>
          <a:xfrm>
            <a:off x="765175" y="1538684"/>
            <a:ext cx="10661651" cy="3905858"/>
          </a:xfrm>
          <a:prstGeom prst="roundRect">
            <a:avLst>
              <a:gd name="adj" fmla="val 3495"/>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68403" y="1678382"/>
          <a:ext cx="10265797" cy="3637059"/>
        </p:xfrm>
        <a:graphic>
          <a:graphicData uri="http://schemas.openxmlformats.org/drawingml/2006/table">
            <a:tbl>
              <a:tblPr/>
              <a:tblGrid>
                <a:gridCol w="3079739"/>
                <a:gridCol w="7186058"/>
              </a:tblGrid>
              <a:tr h="330642">
                <a:tc>
                  <a:txBody>
                    <a:bodyPr/>
                    <a:lstStyle/>
                    <a:p>
                      <a:pPr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Rủi ro</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066E96"/>
                          </a:solidFill>
                          <a:latin typeface="Be Vietnam Pro" pitchFamily="34" charset="0"/>
                          <a:ea typeface="Be Vietnam Pro" pitchFamily="34" charset="-122"/>
                          <a:cs typeface="Be Vietnam Pro" pitchFamily="34" charset="-120"/>
                        </a:rPr>
                        <a:t>Cách xử lý</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Phần lớn là tích hợp</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8C5CA"/>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B8C5CA"/>
                      </a:solidFill>
                      <a:prstDash val="solid"/>
                      <a:round/>
                      <a:headEnd type="none" w="med" len="med"/>
                      <a:tailEnd type="none" w="med" len="med"/>
                    </a:lnB>
                    <a:solidFill>
                      <a:srgbClr val="E6F7FD"/>
                    </a:solidFill>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Tích hợp sớm trên môi trường thử, giả lập khi chưa có</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8C5CA"/>
                      </a:solidFill>
                      <a:prstDash val="solid"/>
                      <a:round/>
                      <a:headEnd type="none" w="med" len="med"/>
                      <a:tailEnd type="none" w="med" len="med"/>
                    </a:lnL>
                    <a:lnR w="12700" cap="flat" cmpd="sng" algn="ctr">
                      <a:solidFill>
                        <a:srgbClr val="B8C5CA"/>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B8C5CA"/>
                      </a:solidFill>
                      <a:prstDash val="solid"/>
                      <a:round/>
                      <a:headEnd type="none" w="med" len="med"/>
                      <a:tailEnd type="none" w="med" len="med"/>
                    </a:lnB>
                    <a:solidFill>
                      <a:srgbClr val="E6F7FD"/>
                    </a:solidFill>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Dev bán thời gian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C5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Quy đổi lịch theo MD thực tế; khóa phạm vi mốc 1</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C5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Zalo, Facebook</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Ngoài giai đoạn 1; phụ thuộc duyệt ứng dụng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Hóa đơn ĐT, thẻ tín dụng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Ngoài giai đoạn 1; cần hợp đồng và pháp lý</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Máy chủ Windows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Không Redis, Docker hạn chế; dùng pg-boss, PM2, IIS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Chưa có HA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8C5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C5CA"/>
                      </a:solidFill>
                      <a:prstDash val="solid"/>
                      <a:round/>
                      <a:headEnd type="none" w="med" len="med"/>
                      <a:tailEnd type="none" w="med" len="med"/>
                    </a:lnB>
                    <a:solidFill>
                      <a:srgbClr val="E6F7FD"/>
                    </a:solidFill>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Backup liên tục, diễn tập khôi phục; máy dự phòng trước 14/2</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8C5CA"/>
                      </a:solidFill>
                      <a:prstDash val="solid"/>
                      <a:round/>
                      <a:headEnd type="none" w="med" len="med"/>
                      <a:tailEnd type="none" w="med" len="med"/>
                    </a:lnL>
                    <a:lnR w="12700" cap="flat" cmpd="sng" algn="ctr">
                      <a:solidFill>
                        <a:srgbClr val="B8C5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C5CA"/>
                      </a:solidFill>
                      <a:prstDash val="solid"/>
                      <a:round/>
                      <a:headEnd type="none" w="med" len="med"/>
                      <a:tailEnd type="none" w="med" len="med"/>
                    </a:lnB>
                    <a:solidFill>
                      <a:srgbClr val="E6F7FD"/>
                    </a:solidFill>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Mất, trùng sự kiện tiền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8C5CA"/>
                      </a:solidFill>
                      <a:prstDash val="solid"/>
                      <a:round/>
                      <a:headEnd type="none" w="med" len="med"/>
                      <a:tailEnd type="none" w="med" len="med"/>
                    </a:lnR>
                    <a:lnT w="12700" cap="flat" cmpd="sng" algn="ctr">
                      <a:solidFill>
                        <a:srgbClr val="B8C5CA"/>
                      </a:solidFill>
                      <a:prstDash val="solid"/>
                      <a:round/>
                      <a:headEnd type="none" w="med" len="med"/>
                      <a:tailEnd type="none" w="med" len="med"/>
                    </a:lnT>
                    <a:lnB w="12700" cap="flat" cmpd="sng" algn="ctr">
                      <a:solidFill>
                        <a:srgbClr val="B8C5CA"/>
                      </a:solidFill>
                      <a:prstDash val="solid"/>
                      <a:round/>
                      <a:headEnd type="none" w="med" len="med"/>
                      <a:tailEnd type="none" w="med" len="med"/>
                    </a:lnB>
                    <a:solidFill>
                      <a:srgbClr val="E6F7FD"/>
                    </a:solidFill>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Inbox, outbox, chống trùng, replay, đối chiếu SePay</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8C5CA"/>
                      </a:solidFill>
                      <a:prstDash val="solid"/>
                      <a:round/>
                      <a:headEnd type="none" w="med" len="med"/>
                      <a:tailEnd type="none" w="med" len="med"/>
                    </a:lnL>
                    <a:lnR w="12700" cap="flat" cmpd="sng" algn="ctr">
                      <a:solidFill>
                        <a:srgbClr val="B8C5CA"/>
                      </a:solidFill>
                      <a:prstDash val="solid"/>
                      <a:round/>
                      <a:headEnd type="none" w="med" len="med"/>
                      <a:tailEnd type="none" w="med" len="med"/>
                    </a:lnR>
                    <a:lnT w="12700" cap="flat" cmpd="sng" algn="ctr">
                      <a:solidFill>
                        <a:srgbClr val="B8C5CA"/>
                      </a:solidFill>
                      <a:prstDash val="solid"/>
                      <a:round/>
                      <a:headEnd type="none" w="med" len="med"/>
                      <a:tailEnd type="none" w="med" len="med"/>
                    </a:lnT>
                    <a:lnB w="12700" cap="flat" cmpd="sng" algn="ctr">
                      <a:solidFill>
                        <a:srgbClr val="B8C5CA"/>
                      </a:solidFill>
                      <a:prstDash val="solid"/>
                      <a:round/>
                      <a:headEnd type="none" w="med" len="med"/>
                      <a:tailEnd type="none" w="med" len="med"/>
                    </a:lnB>
                    <a:solidFill>
                      <a:srgbClr val="E6F7FD"/>
                    </a:solidFill>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Onboarding 200 shop</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C5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Avi phụ trách đào tạo; nhập Excel, video hướng dẫn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C5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AI nhận diện hoa</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Ưu tiên mô tả của khách; lưu kết quả sửa để huấn luyện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2">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Avi chưa có hệ thống đẩy đơn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D2636"/>
                          </a:solidFill>
                          <a:latin typeface="Be Vietnam Pro" pitchFamily="34" charset="0"/>
                          <a:ea typeface="Be Vietnam Pro" pitchFamily="34" charset="-122"/>
                          <a:cs typeface="Be Vietnam Pro" pitchFamily="34" charset="-120"/>
                        </a:rPr>
                        <a:t>Adapter linh động API, webhook, WebSocket; giả lập</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762000" y="6314492"/>
            <a:ext cx="109879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Dòng tô xanh: ba rủi ro kỹ thuật lớn nhất — tích hợp, tính sẵn sàng, toàn vẹn dữ liệu tiền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62000" y="584163"/>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66E96"/>
                </a:solidFill>
                <a:latin typeface="Be Vietnam Pro" pitchFamily="34" charset="0"/>
                <a:ea typeface="Be Vietnam Pro" pitchFamily="34" charset="-122"/>
                <a:cs typeface="Be Vietnam Pro" pitchFamily="34" charset="-120"/>
              </a:rPr>
              <a:t>PHƯƠNG ÁN HỢP TÁC</a:t>
            </a:r>
            <a:endParaRPr lang="en-US" sz="1200" dirty="0"/>
          </a:p>
        </p:txBody>
      </p:sp>
      <p:sp>
        <p:nvSpPr>
          <p:cNvPr id="3" name="Text 1"/>
          <p:cNvSpPr/>
          <p:nvPr>
            <p:ph type="title"/>
          </p:nvPr>
        </p:nvSpPr>
        <p:spPr>
          <a:xfrm>
            <a:off x="762000" y="886396"/>
            <a:ext cx="10988041" cy="4236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0D2636"/>
                </a:solidFill>
                <a:latin typeface="Playfair Display" pitchFamily="18" charset="0"/>
                <a:ea typeface="Playfair Display" pitchFamily="18" charset="-122"/>
                <a:cs typeface="Playfair Display" pitchFamily="18" charset="-120"/>
              </a:rPr>
              <a:t>Ba cách đồng hành cùng Avi</a:t>
            </a:r>
            <a:endParaRPr lang="en-US" sz="2800" dirty="0"/>
          </a:p>
        </p:txBody>
      </p:sp>
      <p:sp>
        <p:nvSpPr>
          <p:cNvPr id="4" name="Shape 2"/>
          <p:cNvSpPr/>
          <p:nvPr/>
        </p:nvSpPr>
        <p:spPr>
          <a:xfrm>
            <a:off x="762000" y="1373498"/>
            <a:ext cx="609600" cy="38100"/>
          </a:xfrm>
          <a:prstGeom prst="roundRect">
            <a:avLst>
              <a:gd name="adj" fmla="val 50000"/>
            </a:avLst>
          </a:prstGeom>
          <a:gradFill rotWithShape="1">
            <a:gsLst>
              <a:gs pos="0">
                <a:srgbClr val="FEEF2E"/>
              </a:gs>
              <a:gs pos="100000">
                <a:srgbClr val="EDC68E"/>
              </a:gs>
            </a:gsLst>
            <a:lin ang="0" scaled="0"/>
          </a:gradFill>
          <a:ln/>
        </p:spPr>
      </p:sp>
      <p:sp>
        <p:nvSpPr>
          <p:cNvPr id="5" name="Shape 3"/>
          <p:cNvSpPr/>
          <p:nvPr/>
        </p:nvSpPr>
        <p:spPr>
          <a:xfrm>
            <a:off x="765175" y="1617948"/>
            <a:ext cx="3436068" cy="3230908"/>
          </a:xfrm>
          <a:prstGeom prst="roundRect">
            <a:avLst>
              <a:gd name="adj" fmla="val 4619"/>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6" name="Text 4"/>
          <p:cNvSpPr/>
          <p:nvPr/>
        </p:nvSpPr>
        <p:spPr>
          <a:xfrm>
            <a:off x="995901" y="1848669"/>
            <a:ext cx="306385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66E96"/>
                </a:solidFill>
                <a:latin typeface="Be Vietnam Pro" pitchFamily="34" charset="0"/>
                <a:ea typeface="Be Vietnam Pro" pitchFamily="34" charset="-122"/>
                <a:cs typeface="Be Vietnam Pro" pitchFamily="34" charset="-120"/>
              </a:rPr>
              <a:t>PHƯƠNG ÁN 1</a:t>
            </a:r>
            <a:endParaRPr lang="en-US" sz="1200" dirty="0"/>
          </a:p>
        </p:txBody>
      </p:sp>
      <p:sp>
        <p:nvSpPr>
          <p:cNvPr id="7" name="Text 5"/>
          <p:cNvSpPr/>
          <p:nvPr/>
        </p:nvSpPr>
        <p:spPr>
          <a:xfrm>
            <a:off x="995901" y="2150901"/>
            <a:ext cx="3063855" cy="31487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D2636"/>
                </a:solidFill>
                <a:latin typeface="Playfair Display" pitchFamily="18" charset="0"/>
                <a:ea typeface="Playfair Display" pitchFamily="18" charset="-122"/>
                <a:cs typeface="Playfair Display" pitchFamily="18" charset="-120"/>
              </a:rPr>
              <a:t>Trọn gói</a:t>
            </a:r>
            <a:endParaRPr lang="en-US" sz="1900" dirty="0"/>
          </a:p>
        </p:txBody>
      </p:sp>
      <p:sp>
        <p:nvSpPr>
          <p:cNvPr id="8" name="Text 6"/>
          <p:cNvSpPr/>
          <p:nvPr/>
        </p:nvSpPr>
        <p:spPr>
          <a:xfrm>
            <a:off x="995901" y="2529260"/>
            <a:ext cx="3063855" cy="416505"/>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D2636"/>
                </a:solidFill>
                <a:latin typeface="Be Vietnam Pro" pitchFamily="34" charset="0"/>
                <a:ea typeface="Be Vietnam Pro" pitchFamily="34" charset="-122"/>
                <a:cs typeface="Be Vietnam Pro" pitchFamily="34" charset="-120"/>
              </a:rPr>
              <a:t>200 triệu</a:t>
            </a:r>
            <a:endParaRPr lang="en-US" sz="2200" dirty="0"/>
          </a:p>
        </p:txBody>
      </p:sp>
      <p:sp>
        <p:nvSpPr>
          <p:cNvPr id="9" name="Text 7"/>
          <p:cNvSpPr/>
          <p:nvPr/>
        </p:nvSpPr>
        <p:spPr>
          <a:xfrm>
            <a:off x="995901" y="3009230"/>
            <a:ext cx="3063855"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+ 20 triệu hỗ trợ 3 tháng: sửa lỗi, hiệu chỉnh nhỏ (≤ 0,5 MD mỗi yêu cầu, tổng ≤ 8 MD)</a:t>
            </a:r>
            <a:endParaRPr lang="en-US" sz="1200" dirty="0"/>
          </a:p>
        </p:txBody>
      </p:sp>
      <p:sp>
        <p:nvSpPr>
          <p:cNvPr id="10" name="Text 8"/>
          <p:cNvSpPr/>
          <p:nvPr/>
        </p:nvSpPr>
        <p:spPr>
          <a:xfrm>
            <a:off x="995901" y="3761048"/>
            <a:ext cx="306385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Tính năng mới báo giá theo MD · vận hành 1 dev + 1 BA</a:t>
            </a:r>
            <a:endParaRPr lang="en-US" sz="1200" dirty="0"/>
          </a:p>
        </p:txBody>
      </p:sp>
      <p:sp>
        <p:nvSpPr>
          <p:cNvPr id="11" name="Shape 9"/>
          <p:cNvSpPr/>
          <p:nvPr/>
        </p:nvSpPr>
        <p:spPr>
          <a:xfrm>
            <a:off x="995901" y="4291881"/>
            <a:ext cx="2974616" cy="6350"/>
          </a:xfrm>
          <a:prstGeom prst="rect">
            <a:avLst/>
          </a:prstGeom>
          <a:solidFill>
            <a:srgbClr val="EFE4D2"/>
          </a:solidFill>
          <a:ln/>
        </p:spPr>
      </p:sp>
      <p:sp>
        <p:nvSpPr>
          <p:cNvPr id="12" name="Text 10"/>
          <p:cNvSpPr/>
          <p:nvPr/>
        </p:nvSpPr>
        <p:spPr>
          <a:xfrm>
            <a:off x="995901" y="4387044"/>
            <a:ext cx="3063855" cy="25648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D2636"/>
                </a:solidFill>
                <a:latin typeface="Be Vietnam Pro" pitchFamily="34" charset="0"/>
                <a:ea typeface="Be Vietnam Pro" pitchFamily="34" charset="-122"/>
                <a:cs typeface="Be Vietnam Pro" pitchFamily="34" charset="-120"/>
              </a:rPr>
              <a:t>12 tháng: 220 triệu</a:t>
            </a:r>
            <a:endParaRPr lang="en-US" sz="1300" dirty="0"/>
          </a:p>
        </p:txBody>
      </p:sp>
      <p:sp>
        <p:nvSpPr>
          <p:cNvPr id="13" name="Shape 11"/>
          <p:cNvSpPr/>
          <p:nvPr/>
        </p:nvSpPr>
        <p:spPr>
          <a:xfrm>
            <a:off x="4375841" y="1621123"/>
            <a:ext cx="3440320" cy="3224558"/>
          </a:xfrm>
          <a:prstGeom prst="roundRect">
            <a:avLst>
              <a:gd name="adj" fmla="val 4529"/>
            </a:avLst>
          </a:prstGeom>
          <a:gradFill rotWithShape="1">
            <a:gsLst>
              <a:gs pos="0">
                <a:srgbClr val="0B1F2C"/>
              </a:gs>
              <a:gs pos="55000">
                <a:srgbClr val="10344A"/>
              </a:gs>
              <a:gs pos="100000">
                <a:srgbClr val="0F5470"/>
              </a:gs>
            </a:gsLst>
            <a:lin ang="3900000" scaled="0"/>
          </a:gradFill>
          <a:ln w="12700">
            <a:solidFill>
              <a:srgbClr val="EDC68E"/>
            </a:solidFill>
            <a:prstDash val="solid"/>
          </a:ln>
          <a:effectLst>
            <a:outerShdw sx="100000" sy="100000" kx="0" ky="0" algn="bl" rotWithShape="0" blurRad="330200" dist="152400" dir="5400000">
              <a:srgbClr val="0D2636">
                <a:alpha val="28000"/>
              </a:srgbClr>
            </a:outerShdw>
          </a:effectLst>
        </p:spPr>
      </p:sp>
      <p:sp>
        <p:nvSpPr>
          <p:cNvPr id="14" name="Text 12"/>
          <p:cNvSpPr/>
          <p:nvPr/>
        </p:nvSpPr>
        <p:spPr>
          <a:xfrm>
            <a:off x="4608692" y="1853977"/>
            <a:ext cx="2308612" cy="289560"/>
          </a:xfrm>
          <a:prstGeom prst="roundRect">
            <a:avLst>
              <a:gd name="adj" fmla="val 43860"/>
            </a:avLst>
          </a:prstGeom>
          <a:gradFill rotWithShape="1">
            <a:gsLst>
              <a:gs pos="0">
                <a:srgbClr val="FEEF2E"/>
              </a:gs>
              <a:gs pos="100000">
                <a:srgbClr val="EDC68E"/>
              </a:gs>
            </a:gsLst>
            <a:lin ang="0" scaled="0"/>
          </a:gradFill>
          <a:ln/>
        </p:spPr>
        <p:txBody>
          <a:bodyPr wrap="none" lIns="0" tIns="0" rIns="0" bIns="0" rtlCol="0" anchor="ctr">
            <a:normAutofit/>
          </a:bodyPr>
          <a:lstStyle/>
          <a:p>
            <a:pPr algn="ctr" indent="0" marL="0">
              <a:lnSpc>
                <a:spcPts val="1680"/>
              </a:lnSpc>
              <a:buNone/>
            </a:pPr>
            <a:r>
              <a:rPr lang="en-US" sz="1200" b="1" dirty="0">
                <a:solidFill>
                  <a:srgbClr val="0D2636"/>
                </a:solidFill>
                <a:latin typeface="Be Vietnam Pro" pitchFamily="34" charset="0"/>
                <a:ea typeface="Be Vietnam Pro" pitchFamily="34" charset="-122"/>
                <a:cs typeface="Be Vietnam Pro" pitchFamily="34" charset="-120"/>
              </a:rPr>
              <a:t>Phù hợp nhất để đồng hành</a:t>
            </a:r>
            <a:endParaRPr lang="en-US" sz="1200" dirty="0"/>
          </a:p>
        </p:txBody>
      </p:sp>
      <p:sp>
        <p:nvSpPr>
          <p:cNvPr id="15" name="Text 13"/>
          <p:cNvSpPr/>
          <p:nvPr/>
        </p:nvSpPr>
        <p:spPr>
          <a:xfrm>
            <a:off x="4608692" y="2232409"/>
            <a:ext cx="3063855" cy="31487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7F3EA"/>
                </a:solidFill>
                <a:latin typeface="Playfair Display" pitchFamily="18" charset="0"/>
                <a:ea typeface="Playfair Display" pitchFamily="18" charset="-122"/>
                <a:cs typeface="Playfair Display" pitchFamily="18" charset="-120"/>
              </a:rPr>
              <a:t>Phương án 2 · Đồng hành</a:t>
            </a:r>
            <a:endParaRPr lang="en-US" sz="1900" dirty="0"/>
          </a:p>
        </p:txBody>
      </p:sp>
      <p:sp>
        <p:nvSpPr>
          <p:cNvPr id="16" name="Text 14"/>
          <p:cNvSpPr/>
          <p:nvPr/>
        </p:nvSpPr>
        <p:spPr>
          <a:xfrm>
            <a:off x="4608692" y="2610755"/>
            <a:ext cx="3063855" cy="416505"/>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EEF2E"/>
                </a:solidFill>
                <a:latin typeface="Be Vietnam Pro" pitchFamily="34" charset="0"/>
                <a:ea typeface="Be Vietnam Pro" pitchFamily="34" charset="-122"/>
                <a:cs typeface="Be Vietnam Pro" pitchFamily="34" charset="-120"/>
              </a:rPr>
              <a:t>175 triệu</a:t>
            </a:r>
            <a:endParaRPr lang="en-US" sz="2200" dirty="0"/>
          </a:p>
        </p:txBody>
      </p:sp>
      <p:sp>
        <p:nvSpPr>
          <p:cNvPr id="17" name="Text 15"/>
          <p:cNvSpPr/>
          <p:nvPr/>
        </p:nvSpPr>
        <p:spPr>
          <a:xfrm>
            <a:off x="4608692" y="3090738"/>
            <a:ext cx="306385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AE3"/>
                </a:solidFill>
                <a:latin typeface="Be Vietnam Pro" pitchFamily="34" charset="0"/>
                <a:ea typeface="Be Vietnam Pro" pitchFamily="34" charset="-122"/>
                <a:cs typeface="Be Vietnam Pro" pitchFamily="34" charset="-120"/>
              </a:rPr>
              <a:t>+ 25 triệu/tháng: tối đa 10 MD phát triển, kể cả tính năng lớn</a:t>
            </a:r>
            <a:endParaRPr lang="en-US" sz="1200" dirty="0"/>
          </a:p>
        </p:txBody>
      </p:sp>
      <p:sp>
        <p:nvSpPr>
          <p:cNvPr id="18" name="Text 16"/>
          <p:cNvSpPr/>
          <p:nvPr/>
        </p:nvSpPr>
        <p:spPr>
          <a:xfrm>
            <a:off x="4608692" y="3621571"/>
            <a:ext cx="306385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DAE3"/>
                </a:solidFill>
                <a:latin typeface="Be Vietnam Pro" pitchFamily="34" charset="0"/>
                <a:ea typeface="Be Vietnam Pro" pitchFamily="34" charset="-122"/>
                <a:cs typeface="Be Vietnam Pro" pitchFamily="34" charset="-120"/>
              </a:rPr>
              <a:t>Hỗ trợ vận hành online không trừ MD · 1 dev + 1 BA</a:t>
            </a:r>
            <a:endParaRPr lang="en-US" sz="1200" dirty="0"/>
          </a:p>
        </p:txBody>
      </p:sp>
      <p:sp>
        <p:nvSpPr>
          <p:cNvPr id="19" name="Shape 17"/>
          <p:cNvSpPr/>
          <p:nvPr/>
        </p:nvSpPr>
        <p:spPr>
          <a:xfrm>
            <a:off x="4608692" y="4152404"/>
            <a:ext cx="2974616" cy="6350"/>
          </a:xfrm>
          <a:prstGeom prst="rect">
            <a:avLst/>
          </a:prstGeom>
          <a:solidFill>
            <a:srgbClr val="FFFFFF">
              <a:alpha val="20000"/>
            </a:srgbClr>
          </a:solidFill>
          <a:ln/>
        </p:spPr>
      </p:sp>
      <p:sp>
        <p:nvSpPr>
          <p:cNvPr id="20" name="Text 18"/>
          <p:cNvSpPr/>
          <p:nvPr/>
        </p:nvSpPr>
        <p:spPr>
          <a:xfrm>
            <a:off x="4608692" y="4247567"/>
            <a:ext cx="3063855" cy="25648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3EA"/>
                </a:solidFill>
                <a:latin typeface="Be Vietnam Pro" pitchFamily="34" charset="0"/>
                <a:ea typeface="Be Vietnam Pro" pitchFamily="34" charset="-122"/>
                <a:cs typeface="Be Vietnam Pro" pitchFamily="34" charset="-120"/>
              </a:rPr>
              <a:t>12 tháng: 475 triệu</a:t>
            </a:r>
            <a:endParaRPr lang="en-US" sz="1300" dirty="0"/>
          </a:p>
        </p:txBody>
      </p:sp>
      <p:sp>
        <p:nvSpPr>
          <p:cNvPr id="21" name="Shape 19"/>
          <p:cNvSpPr/>
          <p:nvPr/>
        </p:nvSpPr>
        <p:spPr>
          <a:xfrm>
            <a:off x="7990758" y="1617948"/>
            <a:ext cx="3436068" cy="3230908"/>
          </a:xfrm>
          <a:prstGeom prst="roundRect">
            <a:avLst>
              <a:gd name="adj" fmla="val 4619"/>
            </a:avLst>
          </a:prstGeom>
          <a:solidFill>
            <a:srgbClr val="FFFFFF"/>
          </a:solidFill>
          <a:ln w="6350">
            <a:solidFill>
              <a:srgbClr val="EFE4D2"/>
            </a:solidFill>
            <a:prstDash val="solid"/>
          </a:ln>
          <a:effectLst>
            <a:outerShdw sx="100000" sy="100000" kx="0" ky="0" algn="bl" rotWithShape="0" blurRad="254000" dist="101600" dir="5400000">
              <a:srgbClr val="0D2636">
                <a:alpha val="8000"/>
              </a:srgbClr>
            </a:outerShdw>
          </a:effectLst>
        </p:spPr>
      </p:sp>
      <p:sp>
        <p:nvSpPr>
          <p:cNvPr id="22" name="Text 20"/>
          <p:cNvSpPr/>
          <p:nvPr/>
        </p:nvSpPr>
        <p:spPr>
          <a:xfrm>
            <a:off x="8221483" y="1848669"/>
            <a:ext cx="306385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5A12"/>
                </a:solidFill>
                <a:latin typeface="Be Vietnam Pro" pitchFamily="34" charset="0"/>
                <a:ea typeface="Be Vietnam Pro" pitchFamily="34" charset="-122"/>
                <a:cs typeface="Be Vietnam Pro" pitchFamily="34" charset="-120"/>
              </a:rPr>
              <a:t>PHƯƠNG ÁN 3</a:t>
            </a:r>
            <a:endParaRPr lang="en-US" sz="1200" dirty="0"/>
          </a:p>
        </p:txBody>
      </p:sp>
      <p:sp>
        <p:nvSpPr>
          <p:cNvPr id="23" name="Text 21"/>
          <p:cNvSpPr/>
          <p:nvPr/>
        </p:nvSpPr>
        <p:spPr>
          <a:xfrm>
            <a:off x="8221483" y="2150901"/>
            <a:ext cx="3063855" cy="314877"/>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0D2636"/>
                </a:solidFill>
                <a:latin typeface="Playfair Display" pitchFamily="18" charset="0"/>
                <a:ea typeface="Playfair Display" pitchFamily="18" charset="-122"/>
                <a:cs typeface="Playfair Display" pitchFamily="18" charset="-120"/>
              </a:rPr>
              <a:t>Đội phát triển riêng</a:t>
            </a:r>
            <a:endParaRPr lang="en-US" sz="1900" dirty="0"/>
          </a:p>
        </p:txBody>
      </p:sp>
      <p:sp>
        <p:nvSpPr>
          <p:cNvPr id="24" name="Text 22"/>
          <p:cNvSpPr/>
          <p:nvPr/>
        </p:nvSpPr>
        <p:spPr>
          <a:xfrm>
            <a:off x="8221483" y="2529260"/>
            <a:ext cx="3063855" cy="416505"/>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0D2636"/>
                </a:solidFill>
                <a:latin typeface="Be Vietnam Pro" pitchFamily="34" charset="0"/>
                <a:ea typeface="Be Vietnam Pro" pitchFamily="34" charset="-122"/>
                <a:cs typeface="Be Vietnam Pro" pitchFamily="34" charset="-120"/>
              </a:rPr>
              <a:t>175 triệu</a:t>
            </a:r>
            <a:endParaRPr lang="en-US" sz="2200" dirty="0"/>
          </a:p>
        </p:txBody>
      </p:sp>
      <p:sp>
        <p:nvSpPr>
          <p:cNvPr id="25" name="Text 23"/>
          <p:cNvSpPr/>
          <p:nvPr/>
        </p:nvSpPr>
        <p:spPr>
          <a:xfrm>
            <a:off x="8221483" y="3009230"/>
            <a:ext cx="3063855"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+ 50 triệu/tháng, trả trước 6 tháng: ~20 MD/tháng, nâng cấp và làm hệ thống mới như điện hoa</a:t>
            </a:r>
            <a:endParaRPr lang="en-US" sz="1200" dirty="0"/>
          </a:p>
        </p:txBody>
      </p:sp>
      <p:sp>
        <p:nvSpPr>
          <p:cNvPr id="26" name="Text 24"/>
          <p:cNvSpPr/>
          <p:nvPr/>
        </p:nvSpPr>
        <p:spPr>
          <a:xfrm>
            <a:off x="8221483" y="3761048"/>
            <a:ext cx="306385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B66"/>
                </a:solidFill>
                <a:latin typeface="Be Vietnam Pro" pitchFamily="34" charset="0"/>
                <a:ea typeface="Be Vietnam Pro" pitchFamily="34" charset="-122"/>
                <a:cs typeface="Be Vietnam Pro" pitchFamily="34" charset="-120"/>
              </a:rPr>
              <a:t>Mỗi thời điểm một dự án · đủ 4 người</a:t>
            </a:r>
            <a:endParaRPr lang="en-US" sz="1200" dirty="0"/>
          </a:p>
        </p:txBody>
      </p:sp>
      <p:sp>
        <p:nvSpPr>
          <p:cNvPr id="27" name="Shape 25"/>
          <p:cNvSpPr/>
          <p:nvPr/>
        </p:nvSpPr>
        <p:spPr>
          <a:xfrm>
            <a:off x="8221483" y="4070896"/>
            <a:ext cx="2974616" cy="6350"/>
          </a:xfrm>
          <a:prstGeom prst="rect">
            <a:avLst/>
          </a:prstGeom>
          <a:solidFill>
            <a:srgbClr val="EFE4D2"/>
          </a:solidFill>
          <a:ln/>
        </p:spPr>
      </p:sp>
      <p:sp>
        <p:nvSpPr>
          <p:cNvPr id="28" name="Text 26"/>
          <p:cNvSpPr/>
          <p:nvPr/>
        </p:nvSpPr>
        <p:spPr>
          <a:xfrm>
            <a:off x="8221483" y="4166071"/>
            <a:ext cx="3063855" cy="25648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D2636"/>
                </a:solidFill>
                <a:latin typeface="Be Vietnam Pro" pitchFamily="34" charset="0"/>
                <a:ea typeface="Be Vietnam Pro" pitchFamily="34" charset="-122"/>
                <a:cs typeface="Be Vietnam Pro" pitchFamily="34" charset="-120"/>
              </a:rPr>
              <a:t>12 tháng: 775 triệu</a:t>
            </a:r>
            <a:endParaRPr lang="en-US" sz="1300" dirty="0"/>
          </a:p>
        </p:txBody>
      </p:sp>
      <p:pic>
        <p:nvPicPr>
          <p:cNvPr id="29" name="Image 0" descr="AVI Group">    </p:cNvPr>
          <p:cNvPicPr>
            <a:picLocks noChangeAspect="1"/>
          </p:cNvPicPr>
          <p:nvPr/>
        </p:nvPicPr>
        <p:blipFill>
          <a:blip r:embed="rId1"/>
          <a:srcRect l="-5" r="-5" t="0" b="0"/>
          <a:stretch/>
        </p:blipFill>
        <p:spPr>
          <a:xfrm>
            <a:off x="762000" y="6324674"/>
            <a:ext cx="419100" cy="279372"/>
          </a:xfrm>
          <a:prstGeom prst="rect">
            <a:avLst/>
          </a:prstGeom>
        </p:spPr>
      </p:pic>
      <p:sp>
        <p:nvSpPr>
          <p:cNvPr id="30" name="Text 27"/>
          <p:cNvSpPr/>
          <p:nvPr/>
        </p:nvSpPr>
        <p:spPr>
          <a:xfrm>
            <a:off x="1269972" y="6339830"/>
            <a:ext cx="104647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6A0"/>
                </a:solidFill>
                <a:latin typeface="Be Vietnam Pro" pitchFamily="34" charset="0"/>
                <a:ea typeface="Be Vietnam Pro" pitchFamily="34" charset="-122"/>
                <a:cs typeface="Be Vietnam Pro" pitchFamily="34" charset="-120"/>
              </a:rPr>
              <a:t>Giá giai đoạn 1 · đơn giá quy đổi 2,5 triệu/MD · tổng 12 tháng tính sau giai đoạn 1 · đào tạo shop do Avi phụ trách</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2C"/>
        </a:solidFill>
      </p:bgPr>
    </p:bg>
    <p:spTree>
      <p:nvGrpSpPr>
        <p:cNvPr id="1" name=""/>
        <p:cNvGrpSpPr/>
        <p:nvPr/>
      </p:nvGrpSpPr>
      <p:grpSpPr>
        <a:xfrm>
          <a:off x="0" y="0"/>
          <a:ext cx="0" cy="0"/>
          <a:chOff x="0" y="0"/>
          <a:chExt cx="0" cy="0"/>
        </a:xfrm>
      </p:grpSpPr>
      <p:sp>
        <p:nvSpPr>
          <p:cNvPr id="2" name="Shape 0"/>
          <p:cNvSpPr/>
          <p:nvPr/>
        </p:nvSpPr>
        <p:spPr>
          <a:xfrm>
            <a:off x="0" y="0"/>
            <a:ext cx="12192001" cy="6858001"/>
          </a:xfrm>
          <a:prstGeom prst="rect">
            <a:avLst/>
          </a:prstGeom>
          <a:gradFill rotWithShape="1">
            <a:gsLst>
              <a:gs pos="0">
                <a:srgbClr val="0B1F2C"/>
              </a:gs>
              <a:gs pos="55000">
                <a:srgbClr val="10344A"/>
              </a:gs>
              <a:gs pos="100000">
                <a:srgbClr val="0F5470"/>
              </a:gs>
            </a:gsLst>
            <a:lin ang="2700000" scaled="0"/>
          </a:gradFill>
          <a:ln/>
        </p:spPr>
      </p:sp>
      <p:sp>
        <p:nvSpPr>
          <p:cNvPr id="3" name="Shape 1"/>
          <p:cNvSpPr/>
          <p:nvPr/>
        </p:nvSpPr>
        <p:spPr>
          <a:xfrm rot="2700000">
            <a:off x="10413960" y="380981"/>
            <a:ext cx="698500" cy="698500"/>
          </a:xfrm>
          <a:prstGeom prst="roundRect">
            <a:avLst>
              <a:gd name="adj" fmla="val 16364"/>
            </a:avLst>
          </a:prstGeom>
          <a:gradFill rotWithShape="1">
            <a:gsLst>
              <a:gs pos="0">
                <a:srgbClr val="5ED6F8">
                  <a:alpha val="85000"/>
                </a:srgbClr>
              </a:gs>
              <a:gs pos="100000">
                <a:srgbClr val="0394C9">
                  <a:alpha val="85000"/>
                </a:srgbClr>
              </a:gs>
            </a:gsLst>
            <a:lin ang="2700000" scaled="0"/>
          </a:gradFill>
          <a:ln/>
        </p:spPr>
      </p:sp>
      <p:sp>
        <p:nvSpPr>
          <p:cNvPr id="4" name="Shape 2"/>
          <p:cNvSpPr/>
          <p:nvPr/>
        </p:nvSpPr>
        <p:spPr>
          <a:xfrm rot="2700000">
            <a:off x="9905904" y="888952"/>
            <a:ext cx="508000" cy="508000"/>
          </a:xfrm>
          <a:prstGeom prst="roundRect">
            <a:avLst>
              <a:gd name="adj" fmla="val 17500"/>
            </a:avLst>
          </a:prstGeom>
          <a:gradFill rotWithShape="1">
            <a:gsLst>
              <a:gs pos="0">
                <a:srgbClr val="FFF6A0">
                  <a:alpha val="85000"/>
                </a:srgbClr>
              </a:gs>
              <a:gs pos="100000">
                <a:srgbClr val="F5D93A">
                  <a:alpha val="85000"/>
                </a:srgbClr>
              </a:gs>
            </a:gsLst>
            <a:lin ang="2700000" scaled="0"/>
          </a:gradFill>
          <a:ln/>
        </p:spPr>
      </p:sp>
      <p:sp>
        <p:nvSpPr>
          <p:cNvPr id="5" name="Shape 3"/>
          <p:cNvSpPr/>
          <p:nvPr/>
        </p:nvSpPr>
        <p:spPr>
          <a:xfrm rot="2700000">
            <a:off x="10921918" y="952473"/>
            <a:ext cx="444500" cy="444500"/>
          </a:xfrm>
          <a:prstGeom prst="roundRect">
            <a:avLst>
              <a:gd name="adj" fmla="val 17143"/>
            </a:avLst>
          </a:prstGeom>
          <a:gradFill rotWithShape="1">
            <a:gsLst>
              <a:gs pos="0">
                <a:srgbClr val="F6E0BE">
                  <a:alpha val="85000"/>
                </a:srgbClr>
              </a:gs>
              <a:gs pos="100000">
                <a:srgbClr val="DDB277">
                  <a:alpha val="85000"/>
                </a:srgbClr>
              </a:gs>
            </a:gsLst>
            <a:lin ang="2700000" scaled="0"/>
          </a:gradFill>
          <a:ln/>
        </p:spPr>
      </p:sp>
      <p:sp>
        <p:nvSpPr>
          <p:cNvPr id="6" name="Text 4"/>
          <p:cNvSpPr/>
          <p:nvPr/>
        </p:nvSpPr>
        <p:spPr>
          <a:xfrm>
            <a:off x="762000" y="660363"/>
            <a:ext cx="10988041"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DC68E"/>
                </a:solidFill>
                <a:latin typeface="Be Vietnam Pro" pitchFamily="34" charset="0"/>
                <a:ea typeface="Be Vietnam Pro" pitchFamily="34" charset="-122"/>
                <a:cs typeface="Be Vietnam Pro" pitchFamily="34" charset="-120"/>
              </a:rPr>
              <a:t>NGUYÊN TẮC HỢP TÁC</a:t>
            </a:r>
            <a:endParaRPr lang="en-US" sz="1200" dirty="0"/>
          </a:p>
        </p:txBody>
      </p:sp>
      <p:sp>
        <p:nvSpPr>
          <p:cNvPr id="7" name="Text 5"/>
          <p:cNvSpPr/>
          <p:nvPr>
            <p:ph type="title"/>
          </p:nvPr>
        </p:nvSpPr>
        <p:spPr>
          <a:xfrm>
            <a:off x="762000" y="975271"/>
            <a:ext cx="10988041" cy="452120"/>
          </a:xfrm>
          <a:prstGeom prst="rect">
            <a:avLst/>
          </a:prstGeom>
          <a:noFill/>
          <a:ln/>
        </p:spPr>
        <p:txBody>
          <a:bodyPr wrap="square" lIns="0" tIns="0" rIns="0" bIns="0" rtlCol="0" anchor="t">
            <a:normAutofit/>
          </a:bodyPr>
          <a:lstStyle/>
          <a:p>
            <a:pPr algn="l" indent="0" marL="0">
              <a:lnSpc>
                <a:spcPts val="3360"/>
              </a:lnSpc>
              <a:buNone/>
            </a:pPr>
            <a:r>
              <a:rPr lang="en-US" sz="3000" b="1" i="0" dirty="0">
                <a:solidFill>
                  <a:srgbClr val="F7F3EA"/>
                </a:solidFill>
                <a:latin typeface="Playfair Display" pitchFamily="18" charset="0"/>
                <a:ea typeface="Playfair Display" pitchFamily="18" charset="-122"/>
                <a:cs typeface="Playfair Display" pitchFamily="18" charset="-120"/>
              </a:rPr>
              <a:t>Rõ phạm vi, rõ tiền, rõ trách nhiệm</a:t>
            </a:r>
            <a:endParaRPr lang="en-US" sz="3000" dirty="0"/>
          </a:p>
        </p:txBody>
      </p:sp>
      <p:sp>
        <p:nvSpPr>
          <p:cNvPr id="8" name="Shape 6"/>
          <p:cNvSpPr/>
          <p:nvPr/>
        </p:nvSpPr>
        <p:spPr>
          <a:xfrm>
            <a:off x="762000" y="1503536"/>
            <a:ext cx="609600" cy="38100"/>
          </a:xfrm>
          <a:prstGeom prst="roundRect">
            <a:avLst>
              <a:gd name="adj" fmla="val 50000"/>
            </a:avLst>
          </a:prstGeom>
          <a:gradFill rotWithShape="1">
            <a:gsLst>
              <a:gs pos="0">
                <a:srgbClr val="FEEF2E"/>
              </a:gs>
              <a:gs pos="100000">
                <a:srgbClr val="EDC68E"/>
              </a:gs>
            </a:gsLst>
            <a:lin ang="0" scaled="0"/>
          </a:gradFill>
          <a:ln/>
        </p:spPr>
      </p:sp>
      <p:sp>
        <p:nvSpPr>
          <p:cNvPr id="9" name="Shape 7"/>
          <p:cNvSpPr/>
          <p:nvPr/>
        </p:nvSpPr>
        <p:spPr>
          <a:xfrm>
            <a:off x="765175" y="1798762"/>
            <a:ext cx="3464974" cy="1078506"/>
          </a:xfrm>
          <a:prstGeom prst="roundRect">
            <a:avLst>
              <a:gd name="adj" fmla="val 10304"/>
            </a:avLst>
          </a:prstGeom>
          <a:solidFill>
            <a:srgbClr val="FFFFFF">
              <a:alpha val="7000"/>
            </a:srgbClr>
          </a:solidFill>
          <a:ln w="6350">
            <a:solidFill>
              <a:srgbClr val="FFFFFF">
                <a:alpha val="16000"/>
              </a:srgbClr>
            </a:solidFill>
            <a:prstDash val="solid"/>
          </a:ln>
        </p:spPr>
      </p:sp>
      <p:sp>
        <p:nvSpPr>
          <p:cNvPr id="10" name="Text 8"/>
          <p:cNvSpPr/>
          <p:nvPr/>
        </p:nvSpPr>
        <p:spPr>
          <a:xfrm>
            <a:off x="945046" y="1978633"/>
            <a:ext cx="3198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Phạm vi</a:t>
            </a:r>
            <a:endParaRPr lang="en-US" sz="1400" dirty="0"/>
          </a:p>
        </p:txBody>
      </p:sp>
      <p:sp>
        <p:nvSpPr>
          <p:cNvPr id="11" name="Text 9"/>
          <p:cNvSpPr/>
          <p:nvPr/>
        </p:nvSpPr>
        <p:spPr>
          <a:xfrm>
            <a:off x="945046" y="2255428"/>
            <a:ext cx="319839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2ECF1"/>
                </a:solidFill>
                <a:latin typeface="Be Vietnam Pro" pitchFamily="34" charset="0"/>
                <a:ea typeface="Be Vietnam Pro" pitchFamily="34" charset="-122"/>
                <a:cs typeface="Be Vietnam Pro" pitchFamily="34" charset="-120"/>
              </a:rPr>
              <a:t>Ngoài phạm vi đã chốt là yêu cầu thay đổi, tính theo MD</a:t>
            </a:r>
            <a:endParaRPr lang="en-US" sz="1200" dirty="0"/>
          </a:p>
        </p:txBody>
      </p:sp>
      <p:sp>
        <p:nvSpPr>
          <p:cNvPr id="12" name="Shape 10"/>
          <p:cNvSpPr/>
          <p:nvPr/>
        </p:nvSpPr>
        <p:spPr>
          <a:xfrm>
            <a:off x="4363472" y="1798762"/>
            <a:ext cx="3464974" cy="1078506"/>
          </a:xfrm>
          <a:prstGeom prst="roundRect">
            <a:avLst>
              <a:gd name="adj" fmla="val 10304"/>
            </a:avLst>
          </a:prstGeom>
          <a:solidFill>
            <a:srgbClr val="FFFFFF">
              <a:alpha val="7000"/>
            </a:srgbClr>
          </a:solidFill>
          <a:ln w="6350">
            <a:solidFill>
              <a:srgbClr val="FFFFFF">
                <a:alpha val="16000"/>
              </a:srgbClr>
            </a:solidFill>
            <a:prstDash val="solid"/>
          </a:ln>
        </p:spPr>
      </p:sp>
      <p:sp>
        <p:nvSpPr>
          <p:cNvPr id="13" name="Text 11"/>
          <p:cNvSpPr/>
          <p:nvPr/>
        </p:nvSpPr>
        <p:spPr>
          <a:xfrm>
            <a:off x="4543342" y="1978633"/>
            <a:ext cx="3198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Quỹ MD</a:t>
            </a:r>
            <a:endParaRPr lang="en-US" sz="1400" dirty="0"/>
          </a:p>
        </p:txBody>
      </p:sp>
      <p:sp>
        <p:nvSpPr>
          <p:cNvPr id="14" name="Text 12"/>
          <p:cNvSpPr/>
          <p:nvPr/>
        </p:nvSpPr>
        <p:spPr>
          <a:xfrm>
            <a:off x="4543342" y="2255428"/>
            <a:ext cx="319839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2ECF1"/>
                </a:solidFill>
                <a:latin typeface="Be Vietnam Pro" pitchFamily="34" charset="0"/>
                <a:ea typeface="Be Vietnam Pro" pitchFamily="34" charset="-122"/>
                <a:cs typeface="Be Vietnam Pro" pitchFamily="34" charset="-120"/>
              </a:rPr>
              <a:t>Tính năng lớn chia qua nhiều tháng; MD dư cộng dồn tối đa 1 tháng</a:t>
            </a:r>
            <a:endParaRPr lang="en-US" sz="1200" dirty="0"/>
          </a:p>
        </p:txBody>
      </p:sp>
      <p:sp>
        <p:nvSpPr>
          <p:cNvPr id="15" name="Shape 13"/>
          <p:cNvSpPr/>
          <p:nvPr/>
        </p:nvSpPr>
        <p:spPr>
          <a:xfrm>
            <a:off x="7961768" y="1798762"/>
            <a:ext cx="3464974" cy="1078506"/>
          </a:xfrm>
          <a:prstGeom prst="roundRect">
            <a:avLst>
              <a:gd name="adj" fmla="val 10304"/>
            </a:avLst>
          </a:prstGeom>
          <a:solidFill>
            <a:srgbClr val="FFFFFF">
              <a:alpha val="7000"/>
            </a:srgbClr>
          </a:solidFill>
          <a:ln w="6350">
            <a:solidFill>
              <a:srgbClr val="FFFFFF">
                <a:alpha val="16000"/>
              </a:srgbClr>
            </a:solidFill>
            <a:prstDash val="solid"/>
          </a:ln>
        </p:spPr>
      </p:sp>
      <p:sp>
        <p:nvSpPr>
          <p:cNvPr id="16" name="Text 14"/>
          <p:cNvSpPr/>
          <p:nvPr/>
        </p:nvSpPr>
        <p:spPr>
          <a:xfrm>
            <a:off x="8141639" y="1978633"/>
            <a:ext cx="3198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Thanh toán giai đoạn 1</a:t>
            </a:r>
            <a:endParaRPr lang="en-US" sz="1400" dirty="0"/>
          </a:p>
        </p:txBody>
      </p:sp>
      <p:sp>
        <p:nvSpPr>
          <p:cNvPr id="17" name="Text 15"/>
          <p:cNvSpPr/>
          <p:nvPr/>
        </p:nvSpPr>
        <p:spPr>
          <a:xfrm>
            <a:off x="8141639" y="2255428"/>
            <a:ext cx="319839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2ECF1"/>
                </a:solidFill>
                <a:latin typeface="Be Vietnam Pro" pitchFamily="34" charset="0"/>
                <a:ea typeface="Be Vietnam Pro" pitchFamily="34" charset="-122"/>
                <a:cs typeface="Be Vietnam Pro" pitchFamily="34" charset="-120"/>
              </a:rPr>
              <a:t>50% khi ký · 40% ở mốc 1 · 10% khi nghiệm thu mốc 2</a:t>
            </a:r>
            <a:endParaRPr lang="en-US" sz="1200" dirty="0"/>
          </a:p>
        </p:txBody>
      </p:sp>
      <p:sp>
        <p:nvSpPr>
          <p:cNvPr id="18" name="Shape 16"/>
          <p:cNvSpPr/>
          <p:nvPr/>
        </p:nvSpPr>
        <p:spPr>
          <a:xfrm>
            <a:off x="765175" y="3010582"/>
            <a:ext cx="3464974" cy="1078506"/>
          </a:xfrm>
          <a:prstGeom prst="roundRect">
            <a:avLst>
              <a:gd name="adj" fmla="val 10304"/>
            </a:avLst>
          </a:prstGeom>
          <a:solidFill>
            <a:srgbClr val="FFFFFF">
              <a:alpha val="7000"/>
            </a:srgbClr>
          </a:solidFill>
          <a:ln w="6350">
            <a:solidFill>
              <a:srgbClr val="FFFFFF">
                <a:alpha val="16000"/>
              </a:srgbClr>
            </a:solidFill>
            <a:prstDash val="solid"/>
          </a:ln>
        </p:spPr>
      </p:sp>
      <p:sp>
        <p:nvSpPr>
          <p:cNvPr id="19" name="Text 17"/>
          <p:cNvSpPr/>
          <p:nvPr/>
        </p:nvSpPr>
        <p:spPr>
          <a:xfrm>
            <a:off x="945046" y="3190453"/>
            <a:ext cx="3198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Bên thứ ba</a:t>
            </a:r>
            <a:endParaRPr lang="en-US" sz="1400" dirty="0"/>
          </a:p>
        </p:txBody>
      </p:sp>
      <p:sp>
        <p:nvSpPr>
          <p:cNvPr id="20" name="Text 18"/>
          <p:cNvSpPr/>
          <p:nvPr/>
        </p:nvSpPr>
        <p:spPr>
          <a:xfrm>
            <a:off x="945046" y="3467261"/>
            <a:ext cx="319839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2ECF1"/>
                </a:solidFill>
                <a:latin typeface="Be Vietnam Pro" pitchFamily="34" charset="0"/>
                <a:ea typeface="Be Vietnam Pro" pitchFamily="34" charset="-122"/>
                <a:cs typeface="Be Vietnam Pro" pitchFamily="34" charset="-120"/>
              </a:rPr>
              <a:t>SePay, Gemini, Object Storage, tên miền do Avi hoặc shop trả trực tiếp</a:t>
            </a:r>
            <a:endParaRPr lang="en-US" sz="1200" dirty="0"/>
          </a:p>
        </p:txBody>
      </p:sp>
      <p:sp>
        <p:nvSpPr>
          <p:cNvPr id="21" name="Shape 19"/>
          <p:cNvSpPr/>
          <p:nvPr/>
        </p:nvSpPr>
        <p:spPr>
          <a:xfrm>
            <a:off x="4363472" y="3010582"/>
            <a:ext cx="3464974" cy="1078506"/>
          </a:xfrm>
          <a:prstGeom prst="roundRect">
            <a:avLst>
              <a:gd name="adj" fmla="val 10304"/>
            </a:avLst>
          </a:prstGeom>
          <a:solidFill>
            <a:srgbClr val="FFFFFF">
              <a:alpha val="7000"/>
            </a:srgbClr>
          </a:solidFill>
          <a:ln w="6350">
            <a:solidFill>
              <a:srgbClr val="FFFFFF">
                <a:alpha val="16000"/>
              </a:srgbClr>
            </a:solidFill>
            <a:prstDash val="solid"/>
          </a:ln>
        </p:spPr>
      </p:sp>
      <p:sp>
        <p:nvSpPr>
          <p:cNvPr id="22" name="Text 20"/>
          <p:cNvSpPr/>
          <p:nvPr/>
        </p:nvSpPr>
        <p:spPr>
          <a:xfrm>
            <a:off x="4543342" y="3190453"/>
            <a:ext cx="3198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Đào tạo shop</a:t>
            </a:r>
            <a:endParaRPr lang="en-US" sz="1400" dirty="0"/>
          </a:p>
        </p:txBody>
      </p:sp>
      <p:sp>
        <p:nvSpPr>
          <p:cNvPr id="23" name="Text 21"/>
          <p:cNvSpPr/>
          <p:nvPr/>
        </p:nvSpPr>
        <p:spPr>
          <a:xfrm>
            <a:off x="4543342" y="3467261"/>
            <a:ext cx="319839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2ECF1"/>
                </a:solidFill>
                <a:latin typeface="Be Vietnam Pro" pitchFamily="34" charset="0"/>
                <a:ea typeface="Be Vietnam Pro" pitchFamily="34" charset="-122"/>
                <a:cs typeface="Be Vietnam Pro" pitchFamily="34" charset="-120"/>
              </a:rPr>
              <a:t>Avi phụ trách; bên phát triển sửa lỗi và hỗ trợ kỹ thuật</a:t>
            </a:r>
            <a:endParaRPr lang="en-US" sz="1200" dirty="0"/>
          </a:p>
        </p:txBody>
      </p:sp>
      <p:sp>
        <p:nvSpPr>
          <p:cNvPr id="24" name="Shape 22"/>
          <p:cNvSpPr/>
          <p:nvPr/>
        </p:nvSpPr>
        <p:spPr>
          <a:xfrm>
            <a:off x="7961768" y="3010582"/>
            <a:ext cx="3464974" cy="1078506"/>
          </a:xfrm>
          <a:prstGeom prst="roundRect">
            <a:avLst>
              <a:gd name="adj" fmla="val 10304"/>
            </a:avLst>
          </a:prstGeom>
          <a:solidFill>
            <a:srgbClr val="FFFFFF">
              <a:alpha val="7000"/>
            </a:srgbClr>
          </a:solidFill>
          <a:ln w="6350">
            <a:solidFill>
              <a:srgbClr val="FFFFFF">
                <a:alpha val="16000"/>
              </a:srgbClr>
            </a:solidFill>
            <a:prstDash val="solid"/>
          </a:ln>
        </p:spPr>
      </p:sp>
      <p:sp>
        <p:nvSpPr>
          <p:cNvPr id="25" name="Text 23"/>
          <p:cNvSpPr/>
          <p:nvPr/>
        </p:nvSpPr>
        <p:spPr>
          <a:xfrm>
            <a:off x="8141639" y="3190453"/>
            <a:ext cx="319839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EEF2E"/>
                </a:solidFill>
                <a:latin typeface="Be Vietnam Pro" pitchFamily="34" charset="0"/>
                <a:ea typeface="Be Vietnam Pro" pitchFamily="34" charset="-122"/>
                <a:cs typeface="Be Vietnam Pro" pitchFamily="34" charset="-120"/>
              </a:rPr>
              <a:t>Mã nguồn, chấm dứt</a:t>
            </a:r>
            <a:endParaRPr lang="en-US" sz="1400" dirty="0"/>
          </a:p>
        </p:txBody>
      </p:sp>
      <p:sp>
        <p:nvSpPr>
          <p:cNvPr id="26" name="Text 24"/>
          <p:cNvSpPr/>
          <p:nvPr/>
        </p:nvSpPr>
        <p:spPr>
          <a:xfrm>
            <a:off x="8141639" y="3467261"/>
            <a:ext cx="319839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2ECF1"/>
                </a:solidFill>
                <a:latin typeface="Be Vietnam Pro" pitchFamily="34" charset="0"/>
                <a:ea typeface="Be Vietnam Pro" pitchFamily="34" charset="-122"/>
                <a:cs typeface="Be Vietnam Pro" pitchFamily="34" charset="-120"/>
              </a:rPr>
              <a:t>Avi sở hữu mã nguồn · báo trước 30 ngày khi chấm dứt phương án 2, 3</a:t>
            </a:r>
            <a:endParaRPr lang="en-US" sz="1200" dirty="0"/>
          </a:p>
        </p:txBody>
      </p:sp>
      <p:sp>
        <p:nvSpPr>
          <p:cNvPr id="27" name="Text 25"/>
          <p:cNvSpPr/>
          <p:nvPr/>
        </p:nvSpPr>
        <p:spPr>
          <a:xfrm>
            <a:off x="762000" y="4346215"/>
            <a:ext cx="10668001" cy="553692"/>
          </a:xfrm>
          <a:prstGeom prst="roundRect">
            <a:avLst>
              <a:gd name="adj" fmla="val 16056"/>
            </a:avLst>
          </a:prstGeom>
          <a:gradFill rotWithShape="1">
            <a:gsLst>
              <a:gs pos="0">
                <a:srgbClr val="FEEF2E">
                  <a:alpha val="18000"/>
                </a:srgbClr>
              </a:gs>
              <a:gs pos="100000">
                <a:srgbClr val="EDC68E">
                  <a:alpha val="10000"/>
                </a:srgbClr>
              </a:gs>
            </a:gsLst>
            <a:lin ang="0" scaled="0"/>
          </a:gradFill>
          <a:ln/>
        </p:spPr>
        <p:txBody>
          <a:bodyPr wrap="square" lIns="214268" tIns="113662" rIns="177162" bIns="113662" rtlCol="0" anchor="ctr">
            <a:normAutofit/>
          </a:bodyPr>
          <a:lstStyle/>
          <a:p>
            <a:pPr algn="l" indent="0" marL="0">
              <a:lnSpc>
                <a:spcPts val="1960"/>
              </a:lnSpc>
              <a:buNone/>
            </a:pPr>
            <a:r>
              <a:rPr lang="en-US" sz="1400" b="1" dirty="0">
                <a:solidFill>
                  <a:srgbClr val="F7F3EA"/>
                </a:solidFill>
                <a:latin typeface="Be Vietnam Pro" pitchFamily="34" charset="0"/>
                <a:ea typeface="Be Vietnam Pro" pitchFamily="34" charset="-122"/>
                <a:cs typeface="Be Vietnam Pro" pitchFamily="34" charset="-120"/>
              </a:rPr>
              <a:t>Bước tiếp theo: chọn phương án · chốt phạm vi giai đoạn 1 · ký hợp đồng, lịch theo hợp đồng</a:t>
            </a:r>
            <a:endParaRPr lang="en-US" sz="1400" dirty="0"/>
          </a:p>
        </p:txBody>
      </p:sp>
      <p:sp>
        <p:nvSpPr>
          <p:cNvPr id="28" name="Shape 26"/>
          <p:cNvSpPr/>
          <p:nvPr/>
        </p:nvSpPr>
        <p:spPr>
          <a:xfrm>
            <a:off x="762000" y="4346215"/>
            <a:ext cx="10668001" cy="553692"/>
          </a:xfrm>
          <a:custGeom>
            <a:avLst/>
            <a:gdLst/>
            <a:ahLst/>
            <a:cxnLst/>
            <a:rect l="l" t="t" r="r" b="b"/>
            <a:pathLst>
              <a:path w="10668001" h="553692">
                <a:moveTo>
                  <a:pt x="88900" y="553692"/>
                </a:moveTo>
                <a:lnTo>
                  <a:pt x="88900" y="553692"/>
                </a:lnTo>
                <a:arcTo hR="88900" wR="88900" stAng="5400000" swAng="5400000"/>
                <a:lnTo>
                  <a:pt x="0" y="88900"/>
                </a:lnTo>
                <a:arcTo hR="88900" wR="88900" stAng="10800000" swAng="5400000"/>
                <a:lnTo>
                  <a:pt x="88900" y="0"/>
                </a:lnTo>
                <a:arcTo hR="88900" wR="50800" stAng="16200000" swAng="-5400000"/>
                <a:lnTo>
                  <a:pt x="38100" y="464792"/>
                </a:lnTo>
                <a:arcTo hR="88900" wR="50800" stAng="10800000" swAng="-5400000"/>
                <a:close/>
              </a:path>
            </a:pathLst>
          </a:custGeom>
          <a:solidFill>
            <a:srgbClr val="FEEF2E"/>
          </a:solidFill>
          <a:ln/>
        </p:spPr>
      </p:sp>
    </p:spTree>
  </p:cSld>
  <p:clrMapOvr>
    <a:masterClrMapping/>
  </p:clrMapOvr>
</p:sld>
</file>

<file path=ppt/theme/theme1.xml><?xml version="1.0" encoding="utf-8"?>
<a:theme xmlns:a="http://schemas.openxmlformats.org/drawingml/2006/main" name="Avi Florist SaaS – Đề xuất hợp tác">
  <a:themeElements>
    <a:clrScheme name="Avi Florist SaaS – Đề xuất hợp tác">
      <a:dk1>
        <a:srgbClr val="0D2636"/>
      </a:dk1>
      <a:lt1>
        <a:srgbClr val="E3F6FD"/>
      </a:lt1>
      <a:dk2>
        <a:srgbClr val="435A68"/>
      </a:dk2>
      <a:lt2>
        <a:srgbClr val="CEE1E9"/>
      </a:lt2>
      <a:accent1>
        <a:srgbClr val="FEEF2E"/>
      </a:accent1>
      <a:accent2>
        <a:srgbClr val="EDC68E"/>
      </a:accent2>
      <a:accent3>
        <a:srgbClr val="066E96"/>
      </a:accent3>
      <a:accent4>
        <a:srgbClr val="5ED6F8"/>
      </a:accent4>
      <a:accent5>
        <a:srgbClr val="0394C9"/>
      </a:accent5>
      <a:accent6>
        <a:srgbClr val="F6E2BD"/>
      </a:accent6>
      <a:hlink>
        <a:srgbClr val="0563C1"/>
      </a:hlink>
      <a:folHlink>
        <a:srgbClr val="954F72"/>
      </a:folHlink>
    </a:clrScheme>
    <a:fontScheme name="Avi Florist SaaS – Đề xuất hợp tác">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 Florist SaaS – Đề xuất hợp tác</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2026-10-27T01:50:57Z</dcterms:created>
  <dcterms:modified xsi:type="dcterms:W3CDTF">2026-10-27T01:50:57Z</dcterms:modified>
</cp:coreProperties>
</file>